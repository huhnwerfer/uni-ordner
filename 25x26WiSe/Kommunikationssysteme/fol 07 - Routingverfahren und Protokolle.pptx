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  <p:sldMasterId id="2147483687" r:id="rId3"/>
    <p:sldMasterId id="2147483700" r:id="rId4"/>
    <p:sldMasterId id="2147483713" r:id="rId5"/>
  </p:sldMasterIdLst>
  <p:notesMasterIdLst>
    <p:notesMasterId r:id="rId48"/>
  </p:notesMasterIdLst>
  <p:sldIdLst>
    <p:sldId id="655" r:id="rId6"/>
    <p:sldId id="728" r:id="rId7"/>
    <p:sldId id="258" r:id="rId8"/>
    <p:sldId id="658" r:id="rId9"/>
    <p:sldId id="260" r:id="rId10"/>
    <p:sldId id="261" r:id="rId11"/>
    <p:sldId id="262" r:id="rId12"/>
    <p:sldId id="263" r:id="rId13"/>
    <p:sldId id="755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756" r:id="rId24"/>
    <p:sldId id="730" r:id="rId25"/>
    <p:sldId id="731" r:id="rId26"/>
    <p:sldId id="732" r:id="rId27"/>
    <p:sldId id="733" r:id="rId28"/>
    <p:sldId id="758" r:id="rId29"/>
    <p:sldId id="735" r:id="rId30"/>
    <p:sldId id="736" r:id="rId31"/>
    <p:sldId id="737" r:id="rId32"/>
    <p:sldId id="738" r:id="rId33"/>
    <p:sldId id="757" r:id="rId34"/>
    <p:sldId id="741" r:id="rId35"/>
    <p:sldId id="740" r:id="rId36"/>
    <p:sldId id="742" r:id="rId37"/>
    <p:sldId id="743" r:id="rId38"/>
    <p:sldId id="744" r:id="rId39"/>
    <p:sldId id="746" r:id="rId40"/>
    <p:sldId id="747" r:id="rId41"/>
    <p:sldId id="295" r:id="rId42"/>
    <p:sldId id="748" r:id="rId43"/>
    <p:sldId id="749" r:id="rId44"/>
    <p:sldId id="750" r:id="rId45"/>
    <p:sldId id="759" r:id="rId46"/>
    <p:sldId id="834" r:id="rId47"/>
  </p:sldIdLst>
  <p:sldSz cx="9144000" cy="6858000" type="screen4x3"/>
  <p:notesSz cx="6797675" cy="9929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9B5DD-140C-4E18-AE39-4D177544089C}" v="41" dt="2024-04-18T08:47:44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56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25" cy="498334"/>
          </a:xfrm>
          <a:prstGeom prst="rect">
            <a:avLst/>
          </a:prstGeom>
        </p:spPr>
        <p:txBody>
          <a:bodyPr vert="horz" lIns="83796" tIns="41898" rIns="83796" bIns="41898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923" y="0"/>
            <a:ext cx="2946325" cy="498334"/>
          </a:xfrm>
          <a:prstGeom prst="rect">
            <a:avLst/>
          </a:prstGeom>
        </p:spPr>
        <p:txBody>
          <a:bodyPr vert="horz" lIns="83796" tIns="41898" rIns="83796" bIns="41898" rtlCol="0"/>
          <a:lstStyle>
            <a:lvl1pPr algn="r">
              <a:defRPr sz="1100"/>
            </a:lvl1pPr>
          </a:lstStyle>
          <a:p>
            <a:fld id="{44EC9D79-3076-44EC-BAD1-3501C5831FBA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3796" tIns="41898" rIns="83796" bIns="4189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82" y="4778400"/>
            <a:ext cx="5438711" cy="3910002"/>
          </a:xfrm>
          <a:prstGeom prst="rect">
            <a:avLst/>
          </a:prstGeom>
        </p:spPr>
        <p:txBody>
          <a:bodyPr vert="horz" lIns="83796" tIns="41898" rIns="83796" bIns="41898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1480"/>
            <a:ext cx="2946325" cy="498334"/>
          </a:xfrm>
          <a:prstGeom prst="rect">
            <a:avLst/>
          </a:prstGeom>
        </p:spPr>
        <p:txBody>
          <a:bodyPr vert="horz" lIns="83796" tIns="41898" rIns="83796" bIns="41898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923" y="9431480"/>
            <a:ext cx="2946325" cy="498334"/>
          </a:xfrm>
          <a:prstGeom prst="rect">
            <a:avLst/>
          </a:prstGeom>
        </p:spPr>
        <p:txBody>
          <a:bodyPr vert="horz" lIns="83796" tIns="41898" rIns="83796" bIns="41898" rtlCol="0" anchor="b"/>
          <a:lstStyle>
            <a:lvl1pPr algn="r">
              <a:defRPr sz="1100"/>
            </a:lvl1pPr>
          </a:lstStyle>
          <a:p>
            <a:fld id="{A06B96F5-35C4-41E5-8124-CE1581388F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86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3B22C6-9A13-4112-A39B-CEA431107B1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948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4063" y="692150"/>
            <a:ext cx="4605337" cy="3455988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816403" y="4379559"/>
            <a:ext cx="4479537" cy="4147859"/>
          </a:xfrm>
          <a:prstGeom prst="rect">
            <a:avLst/>
          </a:prstGeom>
          <a:noFill/>
          <a:ln w="9360">
            <a:noFill/>
          </a:ln>
        </p:spPr>
        <p:txBody>
          <a:bodyPr lIns="84126" tIns="41898" rIns="84126" bIns="41898" numCol="1" spcCol="0" anchor="t">
            <a:noAutofit/>
          </a:bodyPr>
          <a:lstStyle/>
          <a:p>
            <a:pPr marL="197942" indent="-197942"/>
            <a:endParaRPr lang="de-DE" sz="160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81"/>
          </p:nvPr>
        </p:nvSpPr>
        <p:spPr>
          <a:xfrm>
            <a:off x="3464374" y="8759117"/>
            <a:ext cx="2647646" cy="459722"/>
          </a:xfrm>
          <a:prstGeom prst="rect">
            <a:avLst/>
          </a:prstGeom>
          <a:noFill/>
          <a:ln w="9360">
            <a:noFill/>
          </a:ln>
        </p:spPr>
        <p:txBody>
          <a:bodyPr lIns="84126" tIns="41898" rIns="84126" bIns="41898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1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fld id="{F077339C-24AD-42F0-A79B-594A38291DBB}" type="slidenum">
              <a:rPr lang="en-US"/>
              <a:pPr/>
              <a:t>2</a:t>
            </a:fld>
            <a:endParaRPr lang="de-D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e-DE" dirty="0"/>
                  <a:t>#Vergleiche: </a:t>
                </a:r>
                <a14:m>
                  <m:oMath xmlns:m="http://schemas.openxmlformats.org/officeDocument/2006/math">
                    <m:r>
                      <a:rPr lang="de-DE" sz="11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+1)/2</m:t>
                    </m:r>
                  </m:oMath>
                </a14:m>
                <a:r>
                  <a:rPr lang="en-US" sz="1100" dirty="0"/>
                  <a:t>   das </a:t>
                </a:r>
                <a:r>
                  <a:rPr lang="en-US" sz="1100" dirty="0" err="1"/>
                  <a:t>ist</a:t>
                </a:r>
                <a:r>
                  <a:rPr lang="en-US" sz="1100" dirty="0"/>
                  <a:t>  O(n^2)</a:t>
                </a:r>
                <a:endParaRPr lang="de-DE" dirty="0"/>
              </a:p>
            </p:txBody>
          </p:sp>
        </mc:Choice>
        <mc:Fallback xmlns="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e-DE" dirty="0"/>
                  <a:t>#Vergleiche: </a:t>
                </a:r>
                <a:r>
                  <a:rPr lang="de-DE" sz="1200" b="0" i="0">
                    <a:latin typeface="Cambria Math" panose="02040503050406030204" pitchFamily="18" charset="0"/>
                  </a:rPr>
                  <a:t>𝑛</a:t>
                </a:r>
                <a:r>
                  <a:rPr lang="de-DE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(𝑛+1)/2</a:t>
                </a:r>
                <a:r>
                  <a:rPr lang="en-US" sz="1200" dirty="0"/>
                  <a:t> </a:t>
                </a:r>
                <a:r>
                  <a:rPr lang="en-US" sz="1200" baseline="0" dirty="0"/>
                  <a:t>  das </a:t>
                </a:r>
                <a:r>
                  <a:rPr lang="en-US" sz="1200" baseline="0" dirty="0" err="1"/>
                  <a:t>ist</a:t>
                </a:r>
                <a:r>
                  <a:rPr lang="en-US" sz="1200" baseline="0" dirty="0"/>
                  <a:t>  O(n^2)</a:t>
                </a:r>
                <a:endParaRPr lang="de-DE" dirty="0"/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2FE67-4E46-4334-9999-CB671D6F75A1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5050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PlaceHolder 1"/>
          <p:cNvSpPr>
            <a:spLocks noGrp="1"/>
          </p:cNvSpPr>
          <p:nvPr>
            <p:ph type="sldNum" idx="101"/>
          </p:nvPr>
        </p:nvSpPr>
        <p:spPr>
          <a:xfrm>
            <a:off x="3852360" y="9432360"/>
            <a:ext cx="2944800" cy="49500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B8913A-3978-486A-B339-33CC7D1029F1}" type="slidenum">
              <a:rPr lang="en-US" sz="1200" b="0" strike="noStrike" spc="-1">
                <a:latin typeface="Times New Roman"/>
              </a:rPr>
              <a:t>41</a:t>
            </a:fld>
            <a:endParaRPr lang="de-DE" sz="1200" b="0" strike="noStrike" spc="-1">
              <a:latin typeface="Times New Roman"/>
            </a:endParaRPr>
          </a:p>
        </p:txBody>
      </p:sp>
      <p:sp>
        <p:nvSpPr>
          <p:cNvPr id="178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ln w="0">
            <a:noFill/>
          </a:ln>
        </p:spPr>
      </p:sp>
      <p:sp>
        <p:nvSpPr>
          <p:cNvPr id="1788" name="PlaceHolder 3"/>
          <p:cNvSpPr>
            <a:spLocks noGrp="1"/>
          </p:cNvSpPr>
          <p:nvPr>
            <p:ph type="body"/>
          </p:nvPr>
        </p:nvSpPr>
        <p:spPr>
          <a:xfrm>
            <a:off x="906840" y="4716360"/>
            <a:ext cx="4983120" cy="44661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endParaRPr lang="de-DE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533520" y="228600"/>
            <a:ext cx="77720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161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578916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533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161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578916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2DAD3EB-7314-47EF-B835-8CD444B40C0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68BE019-577F-4470-93AA-8A9D0347CD2C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0D5C523-44CC-423C-9012-F4DF78873841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85312C1-CC53-4E6C-A813-17AF47E04A4F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2AD9E67-D2E8-4443-B122-FC64E839F5DA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533520" y="228600"/>
            <a:ext cx="77720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2ED172F-4062-4FDF-8A33-E2EA23A29699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C05EEA5-2547-42F4-A745-5C839DB0165C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4AF62CD-FD08-41AF-BBAC-6E0FF094CAB8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E6200F9-620D-4434-9A59-6D345F0C69F3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6541D43-4F29-48FE-A1BC-013A6A2B4478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0EC7B2D-C0F3-4E6D-9158-5B1558715A09}" type="slidenum">
              <a:t>‹Nr.›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3161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578916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533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3161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578916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0F4CDB4-3007-4E03-B4DD-5854CD85BC23}" type="slidenum">
              <a:t>‹Nr.›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60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Comic Sans MS" pitchFamily="66" charset="0"/>
              </a:defRPr>
            </a:lvl1pPr>
          </a:lstStyle>
          <a:p>
            <a:pPr>
              <a:defRPr/>
            </a:pPr>
            <a:fld id="{93D1CB73-8EF2-4836-937A-D37A4C1BB743}" type="slidenum">
              <a:rPr lang="en-US" smtClean="0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8731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69D1623-19F8-4DBB-9000-4E357231E1DE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E8BDB02-6688-407E-9CE3-D1E12FD3EFFB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FE49AC6-C86B-4EA7-8840-9FE925C5EE39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03F44C52-C036-4F52-BA74-611318FF50AF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CAB6C02-9AE4-42BE-AFF2-D5A0F4440159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ubTitle"/>
          </p:nvPr>
        </p:nvSpPr>
        <p:spPr>
          <a:xfrm>
            <a:off x="533520" y="228600"/>
            <a:ext cx="77720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F22DE95C-F70E-46E7-9527-43BD872C9D1B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D2F7AA4-6D86-4E3B-9CA4-D431666C55CF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0C1877B-2BFB-40A5-BB96-75A498E57D72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C3C627F-A7E0-421C-9B7D-74E84CCD47CE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9A4880E-2ADB-4538-820F-B508FE5400A6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0489DB6-43CB-4A75-B6F3-676D7F582CCB}" type="slidenum">
              <a:t>‹Nr.›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161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578916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533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/>
          </p:nvPr>
        </p:nvSpPr>
        <p:spPr>
          <a:xfrm>
            <a:off x="3161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/>
          </p:nvPr>
        </p:nvSpPr>
        <p:spPr>
          <a:xfrm>
            <a:off x="578916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</p:spPr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7DBCB47-50D9-4857-A033-79E31F0E2849}" type="slidenum">
              <a:t>‹Nr.›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F1B1CE7-2312-49CE-941D-DEA528C7F644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152B1EE-B3D7-4383-BFD0-4F4D1C0A3B47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42CDCD9-0E8C-4422-9D7B-90B51CF3B920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DA63EA66-694E-4EDC-BAAB-4730AD963015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A02EE65-441E-4F56-B839-CE27BD37ADFD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533520" y="228600"/>
            <a:ext cx="77720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F39CEC5-EEEC-4248-9E06-273B4CA4E3D3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188842DE-0B44-4D5D-A179-21C0A8E7106D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34ECE08-13CA-445C-ABB7-4CAA69011A7E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BABD1B3-CD5F-4313-84B6-AA0EE55BB3DC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10298F2-C589-40DD-A44A-2C81ECB195D7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F23CD46-2748-45CD-9D16-9BC058324F7C}" type="slidenum">
              <a:t>‹Nr.›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3161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578916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533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/>
          </p:nvPr>
        </p:nvSpPr>
        <p:spPr>
          <a:xfrm>
            <a:off x="3161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/>
          </p:nvPr>
        </p:nvSpPr>
        <p:spPr>
          <a:xfrm>
            <a:off x="578916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4466275-3E4A-4F56-B7DB-42EBD8C21970}" type="slidenum">
              <a:t>‹Nr.›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ubTitle"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ubTitle"/>
          </p:nvPr>
        </p:nvSpPr>
        <p:spPr>
          <a:xfrm>
            <a:off x="533520" y="228600"/>
            <a:ext cx="77720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de-DE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533520" y="4028040"/>
            <a:ext cx="77720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4516200" y="160020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/>
          </p:nvPr>
        </p:nvSpPr>
        <p:spPr>
          <a:xfrm>
            <a:off x="53352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/>
          </p:nvPr>
        </p:nvSpPr>
        <p:spPr>
          <a:xfrm>
            <a:off x="4516200" y="4028040"/>
            <a:ext cx="37926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316152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5789160" y="160020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533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39" name="PlaceHolder 6"/>
          <p:cNvSpPr>
            <a:spLocks noGrp="1"/>
          </p:cNvSpPr>
          <p:nvPr>
            <p:ph/>
          </p:nvPr>
        </p:nvSpPr>
        <p:spPr>
          <a:xfrm>
            <a:off x="316152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40" name="PlaceHolder 7"/>
          <p:cNvSpPr>
            <a:spLocks noGrp="1"/>
          </p:cNvSpPr>
          <p:nvPr>
            <p:ph/>
          </p:nvPr>
        </p:nvSpPr>
        <p:spPr>
          <a:xfrm>
            <a:off x="5789160" y="4028040"/>
            <a:ext cx="250236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95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1_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DD0A257-50F5-47B4-896A-13ADFF211098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468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Titelmasterformat durch Klicken bearbeiten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de-DE" sz="2800" b="0" strike="noStrike" spc="-1">
                <a:solidFill>
                  <a:srgbClr val="000000"/>
                </a:solidFill>
                <a:latin typeface="Comic Sans MS"/>
              </a:rPr>
              <a:t>Textmasterformate durch Klicken bearbeiten</a:t>
            </a:r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75000"/>
              <a:buFont typeface="Wingdings" charset="2"/>
              <a:buChar char=""/>
            </a:pPr>
            <a:r>
              <a:rPr lang="de-DE" sz="2400" b="0" strike="noStrike" spc="-1">
                <a:solidFill>
                  <a:srgbClr val="000000"/>
                </a:solidFill>
                <a:latin typeface="Comic Sans MS"/>
              </a:rPr>
              <a:t>Zweite Ebene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de-DE" sz="2000" b="0" strike="noStrike" spc="-1">
                <a:solidFill>
                  <a:srgbClr val="000000"/>
                </a:solidFill>
                <a:latin typeface="Comic Sans MS"/>
              </a:rPr>
              <a:t>Dritte Ebene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de-DE" sz="2000" b="0" strike="noStrike" spc="-1">
                <a:solidFill>
                  <a:srgbClr val="000000"/>
                </a:solidFill>
                <a:latin typeface="Times New Roman"/>
              </a:rPr>
              <a:t>Vierte Ebene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tarSymbol"/>
              <a:buChar char="»"/>
            </a:pPr>
            <a:r>
              <a:rPr lang="de-DE" sz="2000" b="0" strike="noStrike" spc="-1">
                <a:solidFill>
                  <a:srgbClr val="000000"/>
                </a:solidFill>
                <a:latin typeface="Times New Roman"/>
              </a:rPr>
              <a:t>Fünfte Ebene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>
              <a:defRPr lang="de-DE" sz="1400" b="0" strike="noStrike" spc="-1">
                <a:latin typeface="Times New Roman"/>
              </a:defRPr>
            </a:lvl1pPr>
          </a:lstStyle>
          <a:p>
            <a:r>
              <a:rPr lang="de-DE" sz="1400" b="0" strike="noStrike" spc="-1">
                <a:latin typeface="Times New Roman"/>
              </a:rPr>
              <a:t>&lt;Datum/Uhrzeit&gt;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Titelmasterformat durch Klicken bearbeiten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33520" y="1600200"/>
            <a:ext cx="38095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de-DE" sz="2800" b="0" strike="noStrike" spc="-1">
                <a:solidFill>
                  <a:srgbClr val="000000"/>
                </a:solidFill>
                <a:latin typeface="Comic Sans MS"/>
              </a:rPr>
              <a:t>Textmasterformate durch Klicken bearbeiten</a:t>
            </a:r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75000"/>
              <a:buFont typeface="Wingdings" charset="2"/>
              <a:buChar char=""/>
            </a:pPr>
            <a:r>
              <a:rPr lang="de-DE" sz="2400" b="0" strike="noStrike" spc="-1">
                <a:solidFill>
                  <a:srgbClr val="000000"/>
                </a:solidFill>
                <a:latin typeface="Comic Sans MS"/>
              </a:rPr>
              <a:t>Zweite Ebene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de-DE" sz="2000" b="0" strike="noStrike" spc="-1">
                <a:solidFill>
                  <a:srgbClr val="000000"/>
                </a:solidFill>
                <a:latin typeface="Comic Sans MS"/>
              </a:rPr>
              <a:t>Dritte Ebene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latin typeface="Times New Roman"/>
              </a:rPr>
              <a:t>Vierte Ebene</a:t>
            </a:r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tarSymbol"/>
              <a:buChar char="»"/>
            </a:pPr>
            <a:r>
              <a:rPr lang="de-DE" sz="1800" b="0" strike="noStrike" spc="-1">
                <a:solidFill>
                  <a:srgbClr val="000000"/>
                </a:solidFill>
                <a:latin typeface="Times New Roman"/>
              </a:rPr>
              <a:t>Fünfte Ebene</a:t>
            </a:r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495680" y="1600200"/>
            <a:ext cx="38095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de-DE" sz="2800" b="0" strike="noStrike" spc="-1">
                <a:solidFill>
                  <a:srgbClr val="000000"/>
                </a:solidFill>
                <a:latin typeface="Comic Sans MS"/>
              </a:rPr>
              <a:t>Textmasterformate durch Klicken bearbeiten</a:t>
            </a:r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75000"/>
              <a:buFont typeface="Wingdings" charset="2"/>
              <a:buChar char=""/>
            </a:pPr>
            <a:r>
              <a:rPr lang="de-DE" sz="2400" b="0" strike="noStrike" spc="-1">
                <a:solidFill>
                  <a:srgbClr val="000000"/>
                </a:solidFill>
                <a:latin typeface="Comic Sans MS"/>
              </a:rPr>
              <a:t>Zweite Ebene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de-DE" sz="2000" b="0" strike="noStrike" spc="-1">
                <a:solidFill>
                  <a:srgbClr val="000000"/>
                </a:solidFill>
                <a:latin typeface="Comic Sans MS"/>
              </a:rPr>
              <a:t>Dritte Ebene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latin typeface="Times New Roman"/>
              </a:rPr>
              <a:t>Vierte Ebene</a:t>
            </a:r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tarSymbol"/>
              <a:buChar char="»"/>
            </a:pPr>
            <a:r>
              <a:rPr lang="de-DE" sz="1800" b="0" strike="noStrike" spc="-1">
                <a:solidFill>
                  <a:srgbClr val="000000"/>
                </a:solidFill>
                <a:latin typeface="Times New Roman"/>
              </a:rPr>
              <a:t>Fünfte Ebene</a:t>
            </a:r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3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>
              <a:defRPr lang="de-DE" sz="1400" b="0" strike="noStrike" spc="-1">
                <a:latin typeface="Times New Roman"/>
              </a:defRPr>
            </a:lvl1pPr>
          </a:lstStyle>
          <a:p>
            <a:r>
              <a:rPr lang="de-DE" sz="1400" b="0" strike="noStrike" spc="-1">
                <a:latin typeface="Times New Roman"/>
              </a:rPr>
              <a:t>&lt;Datum/Uhrzeit&gt;</a:t>
            </a:r>
          </a:p>
        </p:txBody>
      </p:sp>
      <p:sp>
        <p:nvSpPr>
          <p:cNvPr id="82" name="PlaceHolder 5"/>
          <p:cNvSpPr>
            <a:spLocks noGrp="1"/>
          </p:cNvSpPr>
          <p:nvPr>
            <p:ph type="ftr" idx="4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omic Sans MS"/>
              </a:rPr>
              <a:t>&lt;Fußzeile&gt;</a:t>
            </a:r>
            <a:endParaRPr lang="de-DE" sz="1400" b="0" strike="noStrike" spc="-1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5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omic Sans MS"/>
              </a:rPr>
              <a:t>4-</a:t>
            </a:r>
            <a:fld id="{4495A96A-5F5D-45F7-81B3-8616851AD391}" type="slidenum">
              <a:rPr lang="en-US" sz="1400" b="0" strike="noStrike" spc="-1">
                <a:solidFill>
                  <a:srgbClr val="000000"/>
                </a:solidFill>
                <a:latin typeface="Comic Sans MS"/>
              </a:rPr>
              <a:t>‹Nr.›</a:t>
            </a:fld>
            <a:endParaRPr lang="de-DE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28" r:id="rId13"/>
    <p:sldLayoutId id="214748372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Titelmasterformat durch Klicken bearbeiten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de-DE" sz="2800" b="0" strike="noStrike" spc="-1">
                <a:solidFill>
                  <a:srgbClr val="000000"/>
                </a:solidFill>
                <a:latin typeface="Comic Sans MS"/>
              </a:rPr>
              <a:t>Textmasterformate durch Klicken bearbeiten</a:t>
            </a:r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75000"/>
              <a:buFont typeface="Wingdings" charset="2"/>
              <a:buChar char=""/>
            </a:pPr>
            <a:r>
              <a:rPr lang="de-DE" sz="2400" b="0" strike="noStrike" spc="-1">
                <a:solidFill>
                  <a:srgbClr val="000000"/>
                </a:solidFill>
                <a:latin typeface="Comic Sans MS"/>
              </a:rPr>
              <a:t>Zweite Ebene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1143000" lvl="2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de-DE" sz="2000" b="0" strike="noStrike" spc="-1">
                <a:solidFill>
                  <a:srgbClr val="000000"/>
                </a:solidFill>
                <a:latin typeface="Comic Sans MS"/>
              </a:rPr>
              <a:t>Dritte Ebene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de-DE" sz="2000" b="0" strike="noStrike" spc="-1">
                <a:solidFill>
                  <a:srgbClr val="000000"/>
                </a:solidFill>
                <a:latin typeface="Times New Roman"/>
              </a:rPr>
              <a:t>Vierte Ebene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tarSymbol"/>
              <a:buChar char="»"/>
            </a:pPr>
            <a:r>
              <a:rPr lang="de-DE" sz="2000" b="0" strike="noStrike" spc="-1">
                <a:solidFill>
                  <a:srgbClr val="000000"/>
                </a:solidFill>
                <a:latin typeface="Times New Roman"/>
              </a:rPr>
              <a:t>Fünfte Ebene</a:t>
            </a:r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6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>
              <a:defRPr lang="de-DE" sz="1400" b="0" strike="noStrike" spc="-1">
                <a:latin typeface="Times New Roman"/>
              </a:defRPr>
            </a:lvl1pPr>
          </a:lstStyle>
          <a:p>
            <a:r>
              <a:rPr lang="de-DE" sz="1400" b="0" strike="noStrike" spc="-1">
                <a:latin typeface="Times New Roman"/>
              </a:rPr>
              <a:t>&lt;Datum/Uhrzeit&gt;</a:t>
            </a:r>
          </a:p>
        </p:txBody>
      </p:sp>
      <p:sp>
        <p:nvSpPr>
          <p:cNvPr id="124" name="PlaceHolder 5"/>
          <p:cNvSpPr>
            <a:spLocks noGrp="1"/>
          </p:cNvSpPr>
          <p:nvPr>
            <p:ph type="sldNum" idx="8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D2A859-CFE7-4EBD-8FB4-90CB3504C559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‹Nr.›</a:t>
            </a:fld>
            <a:endParaRPr lang="de-DE" sz="14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Titelmasterformat durch Klicken bearbeiten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dt" idx="9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>
              <a:defRPr lang="de-DE" sz="1400" b="0" strike="noStrike" spc="-1">
                <a:latin typeface="Times New Roman"/>
              </a:defRPr>
            </a:lvl1pPr>
          </a:lstStyle>
          <a:p>
            <a:r>
              <a:rPr lang="de-DE" sz="1400" b="0" strike="noStrike" spc="-1">
                <a:latin typeface="Times New Roman"/>
              </a:rPr>
              <a:t>&lt;Datum/Uhrzeit&gt;</a:t>
            </a:r>
          </a:p>
        </p:txBody>
      </p:sp>
      <p:sp>
        <p:nvSpPr>
          <p:cNvPr id="163" name="PlaceHolder 3"/>
          <p:cNvSpPr>
            <a:spLocks noGrp="1"/>
          </p:cNvSpPr>
          <p:nvPr>
            <p:ph type="ftr" idx="10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omic Sans MS"/>
              </a:rPr>
              <a:t>&lt;Fußzeile&gt;</a:t>
            </a:r>
            <a:endParaRPr lang="de-DE" sz="1400" b="0" strike="noStrike" spc="-1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11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omic Sans MS"/>
              </a:rPr>
              <a:t>4-</a:t>
            </a:r>
            <a:fld id="{8BC4BE58-1E08-4313-A141-193BBF58AE19}" type="slidenum">
              <a:rPr lang="en-US" sz="1400" b="0" strike="noStrike" spc="-1">
                <a:solidFill>
                  <a:srgbClr val="000000"/>
                </a:solidFill>
                <a:latin typeface="Comic Sans MS"/>
              </a:rPr>
              <a:t>‹Nr.›</a:t>
            </a:fld>
            <a:endParaRPr lang="de-DE" sz="1400" b="0" strike="noStrike" spc="-1"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omic Sans MS"/>
              </a:rPr>
              <a:t>Format des Gliederungstextes durch Klicken bearbeiten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Zweite Gliederungsebene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Dritte Gliederungsebene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Vierte Gliederungsebene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Fünfte Gliederungsebene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Sechste Gliederungsebene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Siebte Gliederungsebene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dt" idx="12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>
              <a:defRPr lang="de-DE" sz="1400" b="0" strike="noStrike" spc="-1">
                <a:latin typeface="Times New Roman"/>
              </a:defRPr>
            </a:lvl1pPr>
          </a:lstStyle>
          <a:p>
            <a:r>
              <a:rPr lang="de-DE" sz="1400" b="0" strike="noStrike" spc="-1">
                <a:latin typeface="Times New Roman"/>
              </a:rPr>
              <a:t>&lt;Datum/Uhrzeit&gt;</a:t>
            </a:r>
          </a:p>
        </p:txBody>
      </p:sp>
      <p:sp>
        <p:nvSpPr>
          <p:cNvPr id="203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Comic Sans MS"/>
              </a:rPr>
              <a:t>Format des Titeltextes durch Klicken bearbeiten</a:t>
            </a: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omic Sans MS"/>
              </a:rPr>
              <a:t>Format des Gliederungstextes durch Klicken bearbeiten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Zweite Gliederungsebene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Dritte Gliederungsebene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Vierte Gliederungsebene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Fünfte Gliederungsebene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Sechste Gliederungsebene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Siebte Gliederungsebene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0" y="2409825"/>
            <a:ext cx="9073662" cy="1216025"/>
          </a:xfrm>
        </p:spPr>
        <p:txBody>
          <a:bodyPr/>
          <a:lstStyle/>
          <a:p>
            <a:pPr lvl="0" indent="-347345" algn="ct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kern="1200" dirty="0" err="1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Routingverfahren</a:t>
            </a:r>
            <a:r>
              <a:rPr lang="en-US" sz="3600" kern="1200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kern="1200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kern="1200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 </a:t>
            </a:r>
            <a:r>
              <a:rPr lang="en-US" sz="3600" kern="1200" dirty="0" err="1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Protokolle</a:t>
            </a:r>
            <a:endParaRPr lang="de-DE" sz="3600" dirty="0">
              <a:solidFill>
                <a:srgbClr val="FF0000"/>
              </a:solidFill>
              <a:latin typeface="Comic Sans MS" panose="030F0702030302020204" pitchFamily="66" charset="0"/>
              <a:ea typeface="Times New Roman" panose="02020603050405020304" pitchFamily="18" charset="0"/>
            </a:endParaRPr>
          </a:p>
        </p:txBody>
      </p:sp>
      <p:sp>
        <p:nvSpPr>
          <p:cNvPr id="98307" name="Rectangle 1027"/>
          <p:cNvSpPr>
            <a:spLocks noChangeArrowheads="1"/>
          </p:cNvSpPr>
          <p:nvPr/>
        </p:nvSpPr>
        <p:spPr bwMode="auto">
          <a:xfrm>
            <a:off x="152400" y="666750"/>
            <a:ext cx="8839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de-DE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Vorlesung Kommunikationssysteme</a:t>
            </a:r>
          </a:p>
          <a:p>
            <a:pPr algn="ctr">
              <a:defRPr/>
            </a:pPr>
            <a:r>
              <a:rPr lang="de-DE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Wintersemester 2025/26</a:t>
            </a:r>
            <a:endParaRPr lang="de-DE" sz="2800" dirty="0">
              <a:solidFill>
                <a:schemeClr val="accent2"/>
              </a:solidFill>
            </a:endParaRPr>
          </a:p>
        </p:txBody>
      </p:sp>
      <p:sp>
        <p:nvSpPr>
          <p:cNvPr id="98309" name="Rectangle 1029"/>
          <p:cNvSpPr>
            <a:spLocks noGrp="1" noChangeArrowheads="1"/>
          </p:cNvSpPr>
          <p:nvPr>
            <p:ph type="subTitle" idx="1"/>
          </p:nvPr>
        </p:nvSpPr>
        <p:spPr>
          <a:xfrm>
            <a:off x="152400" y="4468447"/>
            <a:ext cx="8839200" cy="549894"/>
          </a:xfrm>
        </p:spPr>
        <p:txBody>
          <a:bodyPr lIns="63500" tIns="25400" rIns="63500" bIns="25400">
            <a:spAutoFit/>
          </a:bodyPr>
          <a:lstStyle/>
          <a:p>
            <a:pPr eaLnBrk="1" hangingPunct="1">
              <a:defRPr/>
            </a:pPr>
            <a:r>
              <a:rPr lang="de-DE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Christoph Lindemann</a:t>
            </a:r>
          </a:p>
        </p:txBody>
      </p:sp>
    </p:spTree>
    <p:extLst>
      <p:ext uri="{BB962C8B-B14F-4D97-AF65-F5344CB8AC3E}">
        <p14:creationId xmlns:p14="http://schemas.microsoft.com/office/powerpoint/2010/main" val="146610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33520" y="131760"/>
            <a:ext cx="7772040" cy="5929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4000" b="0" u="sng" strike="noStrike" spc="-1">
                <a:solidFill>
                  <a:schemeClr val="accent2"/>
                </a:solidFill>
                <a:uFillTx/>
                <a:latin typeface="Comic Sans MS"/>
              </a:rPr>
              <a:t>Zeitplan</a:t>
            </a:r>
            <a:endParaRPr lang="en-US" sz="4000" b="0" strike="noStrike" spc="-1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07" name="Rectangle 6"/>
          <p:cNvSpPr/>
          <p:nvPr/>
        </p:nvSpPr>
        <p:spPr>
          <a:xfrm>
            <a:off x="8305920" y="6400800"/>
            <a:ext cx="624960" cy="456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</a:pPr>
            <a:fld id="{67CEBFBF-1C8F-40DC-B143-B12472C89705}" type="slidenum"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2</a:t>
            </a:fld>
            <a:endParaRPr lang="de-DE" sz="1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8" name="Tabelle 5"/>
          <p:cNvGraphicFramePr/>
          <p:nvPr>
            <p:extLst>
              <p:ext uri="{D42A27DB-BD31-4B8C-83A1-F6EECF244321}">
                <p14:modId xmlns:p14="http://schemas.microsoft.com/office/powerpoint/2010/main" val="1744076572"/>
              </p:ext>
            </p:extLst>
          </p:nvPr>
        </p:nvGraphicFramePr>
        <p:xfrm>
          <a:off x="287280" y="864720"/>
          <a:ext cx="8568720" cy="5976720"/>
        </p:xfrm>
        <a:graphic>
          <a:graphicData uri="http://schemas.openxmlformats.org/drawingml/2006/table">
            <a:tbl>
              <a:tblPr/>
              <a:tblGrid>
                <a:gridCol w="74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6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50000"/>
                        </a:lnSpc>
                      </a:pPr>
                      <a:r>
                        <a:rPr lang="de-DE" sz="1600" b="1" strike="noStrike" spc="-1">
                          <a:solidFill>
                            <a:schemeClr val="accent2"/>
                          </a:solidFill>
                          <a:latin typeface="Arial"/>
                          <a:ea typeface="Times New Roman"/>
                        </a:rPr>
                        <a:t>Nr.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lang="de-DE" sz="1600" b="1" strike="noStrike" spc="-1">
                          <a:solidFill>
                            <a:schemeClr val="accent2"/>
                          </a:solidFill>
                          <a:latin typeface="Arial"/>
                          <a:ea typeface="Times New Roman"/>
                        </a:rPr>
                        <a:t>Datum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50000"/>
                        </a:lnSpc>
                        <a:tabLst>
                          <a:tab pos="4752360" algn="r"/>
                        </a:tabLst>
                      </a:pPr>
                      <a:r>
                        <a:rPr lang="de-DE" sz="1600" b="1" strike="noStrike" spc="-1">
                          <a:solidFill>
                            <a:schemeClr val="accent2"/>
                          </a:solidFill>
                          <a:latin typeface="Arial"/>
                          <a:ea typeface="Times New Roman"/>
                        </a:rPr>
                        <a:t>Thema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+mn-cs"/>
                        </a:rPr>
                        <a:t>01</a:t>
                      </a:r>
                      <a:endParaRPr lang="de-DE" sz="1600" b="0" strike="noStrike" kern="1200" spc="-1" dirty="0">
                        <a:solidFill>
                          <a:srgbClr val="0000FF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+mn-cs"/>
                        </a:rPr>
                        <a:t>17.10.25</a:t>
                      </a:r>
                      <a:endParaRPr lang="de-DE" sz="1600" b="0" strike="noStrike" kern="1200" spc="-1" dirty="0">
                        <a:solidFill>
                          <a:srgbClr val="0000FF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+mn-cs"/>
                        </a:rPr>
                        <a:t>Organisation, Internet Trends und Grundlagen von Android</a:t>
                      </a:r>
                      <a:endParaRPr lang="de-DE" sz="1600" b="0" strike="noStrike" kern="1200" spc="-1" dirty="0">
                        <a:solidFill>
                          <a:srgbClr val="0000FF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2808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+mn-cs"/>
                        </a:rPr>
                        <a:t>02</a:t>
                      </a:r>
                      <a:endParaRPr lang="de-DE" sz="1600" b="0" strike="noStrike" kern="1200" spc="-1" dirty="0">
                        <a:solidFill>
                          <a:srgbClr val="0000FF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+mn-cs"/>
                        </a:rPr>
                        <a:t>24.10.25</a:t>
                      </a:r>
                      <a:endParaRPr lang="de-DE" sz="1600" b="0" strike="noStrike" kern="1200" spc="-1" dirty="0">
                        <a:solidFill>
                          <a:srgbClr val="0000FF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strike="noStrike" kern="1200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+mn-cs"/>
                        </a:rPr>
                        <a:t>Protokolldesign und das Internet</a:t>
                      </a:r>
                      <a:endParaRPr lang="de-DE" sz="1600" b="0" strike="noStrike" kern="1200" spc="-1" dirty="0">
                        <a:solidFill>
                          <a:srgbClr val="0000FF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i="0" u="none" strike="noStrike" kern="1200" cap="none" spc="-1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"/>
                          <a:ea typeface="Times New Roman"/>
                          <a:cs typeface="+mn-cs"/>
                        </a:rPr>
                        <a:t>-</a:t>
                      </a:r>
                      <a:endParaRPr kumimoji="0" lang="de-DE" sz="1600" b="0" i="0" u="none" strike="noStrike" kern="1200" cap="none" spc="-1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31.10.25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Keine Vorlesung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03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07.11.25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Anwendungen und Netzwerkprogrammierung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04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14.11.25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LAN und Medienzugriff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05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21.11.25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Ethernet und drahtlose Netze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+mn-cs"/>
                        </a:rPr>
                        <a:t>06</a:t>
                      </a:r>
                      <a:endParaRPr lang="de-DE" sz="1600" b="0" strike="noStrike" kern="1200" spc="-1" dirty="0">
                        <a:solidFill>
                          <a:srgbClr val="0000FF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+mn-cs"/>
                        </a:rPr>
                        <a:t>28.11.25</a:t>
                      </a:r>
                      <a:endParaRPr lang="de-DE" sz="1600" b="0" strike="noStrike" kern="1200" spc="-1" dirty="0">
                        <a:solidFill>
                          <a:srgbClr val="0000FF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+mn-cs"/>
                        </a:rPr>
                        <a:t>LAN Komponenten und WAN Technologien</a:t>
                      </a:r>
                      <a:endParaRPr lang="de-DE" sz="1600" b="0" strike="noStrike" kern="1200" spc="-1" dirty="0">
                        <a:solidFill>
                          <a:srgbClr val="0000FF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FF0000"/>
                          </a:solidFill>
                          <a:latin typeface="Arial"/>
                          <a:ea typeface="Times New Roman"/>
                          <a:cs typeface="+mn-cs"/>
                        </a:rPr>
                        <a:t>07</a:t>
                      </a:r>
                      <a:endParaRPr lang="de-DE" sz="1600" b="0" strike="noStrike" kern="1200" spc="-1" dirty="0">
                        <a:solidFill>
                          <a:srgbClr val="FF0000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kern="1200" spc="-1" dirty="0">
                          <a:solidFill>
                            <a:srgbClr val="FF0000"/>
                          </a:solidFill>
                          <a:latin typeface="Arial"/>
                          <a:ea typeface="Times New Roman"/>
                          <a:cs typeface="+mn-cs"/>
                        </a:rPr>
                        <a:t>05.12.25</a:t>
                      </a:r>
                      <a:endParaRPr lang="de-DE" sz="1600" b="0" strike="noStrike" kern="1200" spc="-1" dirty="0">
                        <a:solidFill>
                          <a:srgbClr val="FF0000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strike="noStrike" kern="1200" spc="-1" dirty="0">
                          <a:solidFill>
                            <a:srgbClr val="FF0000"/>
                          </a:solidFill>
                          <a:latin typeface="Arial"/>
                          <a:ea typeface="Times New Roman"/>
                          <a:cs typeface="+mn-cs"/>
                        </a:rPr>
                        <a:t>Routingverfahren und Protokolle</a:t>
                      </a:r>
                      <a:endParaRPr lang="de-DE" sz="1600" b="0" strike="noStrike" kern="1200" spc="-1" dirty="0">
                        <a:solidFill>
                          <a:srgbClr val="FF0000"/>
                        </a:solidFill>
                        <a:latin typeface="Arial"/>
                        <a:cs typeface="+mn-cs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08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12.12.25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Internetworking und Adressierung mit IP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09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19.12.25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IP Datagramme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10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09.01.26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Zusätzliche Protokolle und Technologien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6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11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16.01.26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User Datagram Protocol und Transmission Control Protocol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12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23.01.26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TCP Überlastkontrolle / Internet Routing und Routingprotokolle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13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30.01.26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TCP für Hochgeschwindigkeitsnetze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6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14</a:t>
                      </a:r>
                      <a:endParaRPr lang="de-DE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872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06.02.26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1600" b="0" strike="noStrike" spc="-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</a:rPr>
                        <a:t>Review der Vorlesung</a:t>
                      </a:r>
                      <a:endParaRPr lang="de-DE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8400" marR="684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9" name="PlaceHolder 2"/>
          <p:cNvSpPr>
            <a:spLocks noGrp="1"/>
          </p:cNvSpPr>
          <p:nvPr>
            <p:ph type="sldNum" idx="46"/>
          </p:nvPr>
        </p:nvSpPr>
        <p:spPr>
          <a:xfrm>
            <a:off x="8305920" y="6400800"/>
            <a:ext cx="624960" cy="4568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4798FB-8B78-4D44-A5BE-F3CDAAE45735}" type="slidenum">
              <a:rPr lang="en-US" sz="1400" b="0" strike="noStrike" spc="-1">
                <a:solidFill>
                  <a:schemeClr val="dk1"/>
                </a:solidFill>
                <a:latin typeface="Times New Roman"/>
              </a:rPr>
              <a:t>2</a:t>
            </a:fld>
            <a:endParaRPr lang="de-DE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2"/>
          <p:cNvSpPr>
            <a:spLocks noGrp="1"/>
          </p:cNvSpPr>
          <p:nvPr>
            <p:ph type="sldNum" idx="14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B9D833-C31C-4BAF-8A54-0C68E9295733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u="sng" spc="-1" dirty="0" err="1">
                <a:solidFill>
                  <a:srgbClr val="3333CC"/>
                </a:solidFill>
                <a:latin typeface="Comic Sans MS"/>
              </a:rPr>
              <a:t>Überblick</a:t>
            </a:r>
            <a:endParaRPr lang="en-US" sz="40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533520" y="1371600"/>
            <a:ext cx="35809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sng" strike="noStrike" spc="-1" dirty="0" err="1">
                <a:solidFill>
                  <a:srgbClr val="FF0000"/>
                </a:solidFill>
                <a:uFillTx/>
                <a:latin typeface="Comic Sans MS"/>
              </a:rPr>
              <a:t>Ziele</a:t>
            </a:r>
            <a:r>
              <a:rPr lang="en-US" sz="2400" b="0" u="sng" strike="noStrike" spc="-1" dirty="0">
                <a:solidFill>
                  <a:srgbClr val="FF0000"/>
                </a:solidFill>
                <a:uFillTx/>
                <a:latin typeface="Comic Sans MS"/>
              </a:rPr>
              <a:t>:</a:t>
            </a:r>
            <a:endParaRPr lang="en-US" sz="2400" b="0" strike="noStrike" spc="-1" dirty="0">
              <a:solidFill>
                <a:srgbClr val="000000"/>
              </a:solidFill>
              <a:latin typeface="Comic Sans MS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tabLst>
                <a:tab pos="0" algn="l"/>
              </a:tabLst>
            </a:pPr>
            <a:r>
              <a:rPr lang="en-US" sz="2800" b="0" strike="noStrike" spc="-1" dirty="0" err="1">
                <a:solidFill>
                  <a:srgbClr val="000000"/>
                </a:solidFill>
                <a:latin typeface="Comic Sans MS"/>
              </a:rPr>
              <a:t>Vertiefen</a:t>
            </a:r>
            <a:r>
              <a:rPr lang="en-US" sz="2800" b="0" strike="noStrike" spc="-1" dirty="0">
                <a:solidFill>
                  <a:srgbClr val="000000"/>
                </a:solidFill>
                <a:latin typeface="Comic Sans MS"/>
              </a:rPr>
              <a:t> des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omic Sans MS"/>
              </a:rPr>
              <a:t>Verständnisses</a:t>
            </a:r>
            <a:r>
              <a:rPr lang="en-US" sz="28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omic Sans MS"/>
              </a:rPr>
              <a:t>für</a:t>
            </a:r>
            <a:r>
              <a:rPr lang="en-US" sz="28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omic Sans MS"/>
              </a:rPr>
              <a:t>Routingverfahren</a:t>
            </a:r>
            <a:r>
              <a:rPr lang="en-US" sz="2800" b="0" strike="noStrike" spc="-1" dirty="0">
                <a:solidFill>
                  <a:srgbClr val="000000"/>
                </a:solidFill>
                <a:latin typeface="Comic Sans MS"/>
              </a:rPr>
              <a:t> und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omic Sans MS"/>
              </a:rPr>
              <a:t>Protokolle</a:t>
            </a:r>
            <a:endParaRPr lang="en-US" sz="28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/>
          </p:nvPr>
        </p:nvSpPr>
        <p:spPr>
          <a:xfrm>
            <a:off x="4114800" y="1371600"/>
            <a:ext cx="42667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sng" strike="noStrike" spc="-1" dirty="0" err="1">
                <a:solidFill>
                  <a:srgbClr val="FF0000"/>
                </a:solidFill>
                <a:uFillTx/>
                <a:latin typeface="Comic Sans MS"/>
              </a:rPr>
              <a:t>Themen</a:t>
            </a:r>
            <a:r>
              <a:rPr lang="en-US" sz="2400" b="0" u="sng" strike="noStrike" spc="-1" dirty="0">
                <a:solidFill>
                  <a:srgbClr val="FF0000"/>
                </a:solidFill>
                <a:uFillTx/>
                <a:latin typeface="Comic Sans MS"/>
              </a:rPr>
              <a:t>:</a:t>
            </a:r>
            <a:endParaRPr lang="en-US" sz="24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800" spc="-1" dirty="0" err="1">
                <a:solidFill>
                  <a:srgbClr val="000000"/>
                </a:solidFill>
                <a:latin typeface="Comic Sans MS"/>
              </a:rPr>
              <a:t>Dienste</a:t>
            </a:r>
            <a:r>
              <a:rPr lang="en-US" sz="2800" spc="-1" dirty="0">
                <a:solidFill>
                  <a:srgbClr val="000000"/>
                </a:solidFill>
                <a:latin typeface="Comic Sans MS"/>
              </a:rPr>
              <a:t> der </a:t>
            </a:r>
            <a:r>
              <a:rPr lang="en-US" sz="2800" spc="-1" dirty="0" err="1">
                <a:solidFill>
                  <a:srgbClr val="000000"/>
                </a:solidFill>
                <a:latin typeface="Comic Sans MS"/>
              </a:rPr>
              <a:t>Internetschicht</a:t>
            </a:r>
            <a:endParaRPr lang="en-US" sz="2800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800" spc="-1" dirty="0" err="1">
                <a:solidFill>
                  <a:srgbClr val="000000"/>
                </a:solidFill>
                <a:latin typeface="Comic Sans MS"/>
              </a:rPr>
              <a:t>Virtuelle</a:t>
            </a:r>
            <a:r>
              <a:rPr lang="en-US" sz="2800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latin typeface="Comic Sans MS"/>
              </a:rPr>
              <a:t>Leitungen</a:t>
            </a:r>
            <a:endParaRPr lang="en-US" sz="28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latin typeface="Comic Sans MS"/>
              </a:rPr>
              <a:t>Routing und </a:t>
            </a:r>
            <a:r>
              <a:rPr lang="en-US" sz="2800" spc="-1" dirty="0" err="1">
                <a:solidFill>
                  <a:srgbClr val="000000"/>
                </a:solidFill>
                <a:latin typeface="Comic Sans MS"/>
              </a:rPr>
              <a:t>Weiterleitung</a:t>
            </a:r>
            <a:endParaRPr lang="en-US" sz="2800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de-DE" sz="2800" spc="-1" dirty="0">
                <a:solidFill>
                  <a:srgbClr val="000000"/>
                </a:solidFill>
                <a:latin typeface="Comic Sans MS"/>
              </a:rPr>
              <a:t>Link State Verfahren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de-DE" sz="2800" spc="-1" dirty="0">
                <a:solidFill>
                  <a:srgbClr val="000000"/>
                </a:solidFill>
                <a:latin typeface="Comic Sans MS"/>
              </a:rPr>
              <a:t>Distanzvektor Verfahren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tabLst>
                <a:tab pos="0" algn="l"/>
              </a:tabLst>
            </a:pPr>
            <a:r>
              <a:rPr lang="en-US" sz="4000" u="sng" spc="-1" dirty="0" err="1">
                <a:solidFill>
                  <a:srgbClr val="3333CC"/>
                </a:solidFill>
                <a:latin typeface="Comic Sans MS"/>
              </a:rPr>
              <a:t>Dienste</a:t>
            </a:r>
            <a:r>
              <a:rPr lang="en-US" sz="4000" u="sng" spc="-1" dirty="0">
                <a:solidFill>
                  <a:srgbClr val="3333CC"/>
                </a:solidFill>
                <a:latin typeface="Comic Sans MS"/>
              </a:rPr>
              <a:t> der </a:t>
            </a:r>
            <a:r>
              <a:rPr lang="en-US" sz="4000" u="sng" spc="-1" dirty="0" err="1">
                <a:solidFill>
                  <a:srgbClr val="3333CC"/>
                </a:solidFill>
                <a:latin typeface="Comic Sans MS"/>
              </a:rPr>
              <a:t>Internetschicht</a:t>
            </a:r>
            <a:endParaRPr lang="en-US" sz="4000" u="sng" spc="-1" dirty="0">
              <a:solidFill>
                <a:srgbClr val="3333CC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0421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2"/>
          <p:cNvSpPr>
            <a:spLocks noGrp="1"/>
          </p:cNvSpPr>
          <p:nvPr>
            <p:ph type="sldNum" idx="18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95C9FC-DB0C-434C-847F-F7B0156529A9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5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title"/>
          </p:nvPr>
        </p:nvSpPr>
        <p:spPr>
          <a:xfrm>
            <a:off x="304920" y="228600"/>
            <a:ext cx="838152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u="sng" strike="noStrike" spc="-1">
                <a:solidFill>
                  <a:srgbClr val="3333CC"/>
                </a:solidFill>
                <a:uFillTx/>
                <a:latin typeface="Comic Sans MS"/>
              </a:rPr>
              <a:t>Aufgaben der Internetschicht</a:t>
            </a:r>
            <a:endParaRPr lang="en-US" sz="28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438120" y="1400040"/>
            <a:ext cx="4308120" cy="51145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Pakettransport vom sendenden Host zum empfangenden Host 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Protokolle der Internetschicht sind auf allen Routern und Hosts vorhanden</a:t>
            </a:r>
          </a:p>
          <a:p>
            <a:pPr marL="343080" indent="-343080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FF0000"/>
                </a:solidFill>
                <a:latin typeface="Comic Sans MS"/>
              </a:rPr>
              <a:t>3 wichtige Aufgaben:</a:t>
            </a:r>
            <a:endParaRPr lang="en-US" sz="20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3333CC"/>
                </a:solidFill>
                <a:latin typeface="Comic Sans MS"/>
              </a:rPr>
              <a:t>Pfadbestimmung: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 Bestimmung des Pfades von der Quelle zum Ziel: </a:t>
            </a:r>
            <a:r>
              <a:rPr lang="en-US" sz="2000" b="0" i="1" strike="noStrike" spc="-1">
                <a:solidFill>
                  <a:srgbClr val="000000"/>
                </a:solidFill>
                <a:latin typeface="Comic Sans MS"/>
              </a:rPr>
              <a:t>Routing Algorithmen</a:t>
            </a:r>
            <a:endParaRPr lang="en-US" sz="20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3333CC"/>
                </a:solidFill>
                <a:latin typeface="Comic Sans MS"/>
              </a:rPr>
              <a:t>Forwarding: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 Pakete innerhalb des Routers vom Eingang zum Ausgang bewegen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3333CC"/>
                </a:solidFill>
                <a:latin typeface="Comic Sans MS"/>
              </a:rPr>
              <a:t>Pfadaufbau: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 Manche Netz-architekturen erfordern einen expliziten Verbindungsaufbau vor der Datenübertragung</a:t>
            </a:r>
          </a:p>
          <a:p>
            <a:endParaRPr lang="en-US" sz="1800" b="0" strike="noStrike" spc="-1">
              <a:solidFill>
                <a:srgbClr val="000000"/>
              </a:solidFill>
              <a:latin typeface="Comic Sans MS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261" name="Freeform 1285"/>
          <p:cNvSpPr/>
          <p:nvPr/>
        </p:nvSpPr>
        <p:spPr>
          <a:xfrm>
            <a:off x="6748560" y="3516480"/>
            <a:ext cx="1314000" cy="674280"/>
          </a:xfrm>
          <a:custGeom>
            <a:avLst/>
            <a:gdLst/>
            <a:ahLst/>
            <a:cxnLst/>
            <a:rect l="l" t="t" r="r" b="b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62" name="Freeform 1286"/>
          <p:cNvSpPr/>
          <p:nvPr/>
        </p:nvSpPr>
        <p:spPr>
          <a:xfrm>
            <a:off x="6767640" y="1990800"/>
            <a:ext cx="1730160" cy="1125000"/>
          </a:xfrm>
          <a:custGeom>
            <a:avLst/>
            <a:gdLst/>
            <a:ahLst/>
            <a:cxnLst/>
            <a:rect l="l" t="t" r="r" b="b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0">
            <a:gsLst>
              <a:gs pos="0">
                <a:srgbClr val="00CC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63" name="Freeform 1287"/>
          <p:cNvSpPr/>
          <p:nvPr/>
        </p:nvSpPr>
        <p:spPr>
          <a:xfrm>
            <a:off x="4946760" y="1698480"/>
            <a:ext cx="1736280" cy="1071360"/>
          </a:xfrm>
          <a:custGeom>
            <a:avLst/>
            <a:gdLst/>
            <a:ahLst/>
            <a:cxnLst/>
            <a:rect l="l" t="t" r="r" b="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grpSp>
        <p:nvGrpSpPr>
          <p:cNvPr id="264" name="Group 1288"/>
          <p:cNvGrpSpPr/>
          <p:nvPr/>
        </p:nvGrpSpPr>
        <p:grpSpPr>
          <a:xfrm>
            <a:off x="5022720" y="2963880"/>
            <a:ext cx="1458720" cy="933120"/>
            <a:chOff x="5022720" y="2963880"/>
            <a:chExt cx="1458720" cy="933120"/>
          </a:xfrm>
        </p:grpSpPr>
        <p:sp>
          <p:nvSpPr>
            <p:cNvPr id="265" name="Rectangle 1289"/>
            <p:cNvSpPr/>
            <p:nvPr/>
          </p:nvSpPr>
          <p:spPr>
            <a:xfrm>
              <a:off x="5256720" y="3227760"/>
              <a:ext cx="986760" cy="669240"/>
            </a:xfrm>
            <a:prstGeom prst="rect">
              <a:avLst/>
            </a:prstGeom>
            <a:solidFill>
              <a:srgbClr val="00CC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266" name="AutoShape 1290"/>
            <p:cNvSpPr/>
            <p:nvPr/>
          </p:nvSpPr>
          <p:spPr>
            <a:xfrm>
              <a:off x="5022720" y="2963880"/>
              <a:ext cx="1458720" cy="317520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67" name="Line 1291"/>
          <p:cNvSpPr/>
          <p:nvPr/>
        </p:nvSpPr>
        <p:spPr>
          <a:xfrm>
            <a:off x="7140240" y="3801960"/>
            <a:ext cx="163800" cy="1206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68" name="Line 1292"/>
          <p:cNvSpPr/>
          <p:nvPr/>
        </p:nvSpPr>
        <p:spPr>
          <a:xfrm>
            <a:off x="7237080" y="3722400"/>
            <a:ext cx="27972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69" name="Line 1293"/>
          <p:cNvSpPr/>
          <p:nvPr/>
        </p:nvSpPr>
        <p:spPr>
          <a:xfrm flipV="1">
            <a:off x="7473600" y="3808080"/>
            <a:ext cx="135000" cy="1047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0" name="Line 1294"/>
          <p:cNvSpPr/>
          <p:nvPr/>
        </p:nvSpPr>
        <p:spPr>
          <a:xfrm>
            <a:off x="6172200" y="3728880"/>
            <a:ext cx="67932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1" name="Line 1295"/>
          <p:cNvSpPr/>
          <p:nvPr/>
        </p:nvSpPr>
        <p:spPr>
          <a:xfrm>
            <a:off x="6467400" y="2576160"/>
            <a:ext cx="509400" cy="32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2" name="Line 1296"/>
          <p:cNvSpPr/>
          <p:nvPr/>
        </p:nvSpPr>
        <p:spPr>
          <a:xfrm>
            <a:off x="6033960" y="2392200"/>
            <a:ext cx="152280" cy="954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3" name="Freeform 1297"/>
          <p:cNvSpPr/>
          <p:nvPr/>
        </p:nvSpPr>
        <p:spPr>
          <a:xfrm>
            <a:off x="5241960" y="4367160"/>
            <a:ext cx="3079440" cy="1665000"/>
          </a:xfrm>
          <a:custGeom>
            <a:avLst/>
            <a:gdLst/>
            <a:ahLst/>
            <a:cxnLst/>
            <a:rect l="l" t="t" r="r" b="b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4" name="Line 1298"/>
          <p:cNvSpPr/>
          <p:nvPr/>
        </p:nvSpPr>
        <p:spPr>
          <a:xfrm flipH="1" flipV="1">
            <a:off x="7775280" y="5005080"/>
            <a:ext cx="6480" cy="47484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5" name="Line 1299"/>
          <p:cNvSpPr/>
          <p:nvPr/>
        </p:nvSpPr>
        <p:spPr>
          <a:xfrm>
            <a:off x="7694280" y="5470200"/>
            <a:ext cx="86040" cy="3240"/>
          </a:xfrm>
          <a:prstGeom prst="line">
            <a:avLst/>
          </a:prstGeom>
          <a:ln w="1270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6" name="Line 1300"/>
          <p:cNvSpPr/>
          <p:nvPr/>
        </p:nvSpPr>
        <p:spPr>
          <a:xfrm>
            <a:off x="7902360" y="4968720"/>
            <a:ext cx="76320" cy="19368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7" name="Line 1301"/>
          <p:cNvSpPr/>
          <p:nvPr/>
        </p:nvSpPr>
        <p:spPr>
          <a:xfrm>
            <a:off x="7102440" y="4686120"/>
            <a:ext cx="390240" cy="1843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8" name="Line 1302"/>
          <p:cNvSpPr/>
          <p:nvPr/>
        </p:nvSpPr>
        <p:spPr>
          <a:xfrm flipV="1">
            <a:off x="6481440" y="4673520"/>
            <a:ext cx="322560" cy="198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79" name="Line 1303"/>
          <p:cNvSpPr/>
          <p:nvPr/>
        </p:nvSpPr>
        <p:spPr>
          <a:xfrm>
            <a:off x="6524280" y="4965480"/>
            <a:ext cx="97164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0" name="Line 1305"/>
          <p:cNvSpPr/>
          <p:nvPr/>
        </p:nvSpPr>
        <p:spPr>
          <a:xfrm>
            <a:off x="5844960" y="4762440"/>
            <a:ext cx="233280" cy="950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1" name="Line 1306"/>
          <p:cNvSpPr/>
          <p:nvPr/>
        </p:nvSpPr>
        <p:spPr>
          <a:xfrm flipV="1">
            <a:off x="5586120" y="4998960"/>
            <a:ext cx="403200" cy="1000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2" name="Line 1309"/>
          <p:cNvSpPr/>
          <p:nvPr/>
        </p:nvSpPr>
        <p:spPr>
          <a:xfrm flipH="1">
            <a:off x="6011640" y="5054400"/>
            <a:ext cx="177840" cy="20340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3" name="Line 1310"/>
          <p:cNvSpPr/>
          <p:nvPr/>
        </p:nvSpPr>
        <p:spPr>
          <a:xfrm flipH="1" flipV="1">
            <a:off x="6405480" y="5038560"/>
            <a:ext cx="1440" cy="2206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4" name="Line 1311"/>
          <p:cNvSpPr/>
          <p:nvPr/>
        </p:nvSpPr>
        <p:spPr>
          <a:xfrm>
            <a:off x="6487920" y="5041800"/>
            <a:ext cx="503280" cy="2696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5" name="Line 1313"/>
          <p:cNvSpPr/>
          <p:nvPr/>
        </p:nvSpPr>
        <p:spPr>
          <a:xfrm>
            <a:off x="6026040" y="3511440"/>
            <a:ext cx="360" cy="1317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6" name="Line 1314"/>
          <p:cNvSpPr/>
          <p:nvPr/>
        </p:nvSpPr>
        <p:spPr>
          <a:xfrm flipV="1">
            <a:off x="7321320" y="2481120"/>
            <a:ext cx="123840" cy="871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7" name="Line 1315"/>
          <p:cNvSpPr/>
          <p:nvPr/>
        </p:nvSpPr>
        <p:spPr>
          <a:xfrm>
            <a:off x="7149960" y="2654280"/>
            <a:ext cx="360" cy="824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8" name="Line 1316"/>
          <p:cNvSpPr/>
          <p:nvPr/>
        </p:nvSpPr>
        <p:spPr>
          <a:xfrm flipV="1">
            <a:off x="7321320" y="2550960"/>
            <a:ext cx="263520" cy="28872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89" name="Line 1317"/>
          <p:cNvSpPr/>
          <p:nvPr/>
        </p:nvSpPr>
        <p:spPr>
          <a:xfrm>
            <a:off x="7686360" y="2549520"/>
            <a:ext cx="360" cy="1965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90" name="Line 1318"/>
          <p:cNvSpPr/>
          <p:nvPr/>
        </p:nvSpPr>
        <p:spPr>
          <a:xfrm>
            <a:off x="7340400" y="2855880"/>
            <a:ext cx="189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91" name="Line 1319"/>
          <p:cNvSpPr/>
          <p:nvPr/>
        </p:nvSpPr>
        <p:spPr>
          <a:xfrm flipV="1">
            <a:off x="5635440" y="3722400"/>
            <a:ext cx="168120" cy="32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92" name="Line 1320"/>
          <p:cNvSpPr/>
          <p:nvPr/>
        </p:nvSpPr>
        <p:spPr>
          <a:xfrm>
            <a:off x="7894440" y="2846160"/>
            <a:ext cx="17784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93" name="Line 1321"/>
          <p:cNvSpPr/>
          <p:nvPr/>
        </p:nvSpPr>
        <p:spPr>
          <a:xfrm flipH="1">
            <a:off x="7040520" y="2922480"/>
            <a:ext cx="98280" cy="7048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94" name="Line 1322"/>
          <p:cNvSpPr/>
          <p:nvPr/>
        </p:nvSpPr>
        <p:spPr>
          <a:xfrm flipH="1">
            <a:off x="7632360" y="2922480"/>
            <a:ext cx="111240" cy="72684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295" name="Line 1323"/>
          <p:cNvSpPr/>
          <p:nvPr/>
        </p:nvSpPr>
        <p:spPr>
          <a:xfrm flipV="1">
            <a:off x="7016400" y="4063680"/>
            <a:ext cx="227160" cy="43668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grpSp>
        <p:nvGrpSpPr>
          <p:cNvPr id="296" name="Group 1324"/>
          <p:cNvGrpSpPr/>
          <p:nvPr/>
        </p:nvGrpSpPr>
        <p:grpSpPr>
          <a:xfrm>
            <a:off x="5520240" y="4522680"/>
            <a:ext cx="414000" cy="372600"/>
            <a:chOff x="5520240" y="4522680"/>
            <a:chExt cx="414000" cy="372600"/>
          </a:xfrm>
        </p:grpSpPr>
        <p:pic>
          <p:nvPicPr>
            <p:cNvPr id="297" name="Picture 1325" descr="desktop_computer_stylized_medium"/>
            <p:cNvPicPr/>
            <p:nvPr/>
          </p:nvPicPr>
          <p:blipFill>
            <a:blip r:embed="rId2"/>
            <a:stretch/>
          </p:blipFill>
          <p:spPr>
            <a:xfrm flipH="1">
              <a:off x="5520240" y="4522680"/>
              <a:ext cx="414000" cy="372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98" name="Freeform 1326"/>
            <p:cNvSpPr/>
            <p:nvPr/>
          </p:nvSpPr>
          <p:spPr>
            <a:xfrm flipH="1">
              <a:off x="5696280" y="4558680"/>
              <a:ext cx="195120" cy="17064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299" name="Group 1327"/>
          <p:cNvGrpSpPr/>
          <p:nvPr/>
        </p:nvGrpSpPr>
        <p:grpSpPr>
          <a:xfrm>
            <a:off x="5202360" y="4943520"/>
            <a:ext cx="482400" cy="406080"/>
            <a:chOff x="5202360" y="4943520"/>
            <a:chExt cx="482400" cy="406080"/>
          </a:xfrm>
        </p:grpSpPr>
        <p:pic>
          <p:nvPicPr>
            <p:cNvPr id="300" name="Picture 1328" descr="desktop_computer_stylized_medium"/>
            <p:cNvPicPr/>
            <p:nvPr/>
          </p:nvPicPr>
          <p:blipFill>
            <a:blip r:embed="rId3"/>
            <a:stretch/>
          </p:blipFill>
          <p:spPr>
            <a:xfrm flipH="1">
              <a:off x="5202360" y="4943520"/>
              <a:ext cx="482400" cy="406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01" name="Freeform 1329"/>
            <p:cNvSpPr/>
            <p:nvPr/>
          </p:nvSpPr>
          <p:spPr>
            <a:xfrm flipH="1">
              <a:off x="5407200" y="4982400"/>
              <a:ext cx="227160" cy="18576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02" name="Group 1330"/>
          <p:cNvGrpSpPr/>
          <p:nvPr/>
        </p:nvGrpSpPr>
        <p:grpSpPr>
          <a:xfrm>
            <a:off x="5680440" y="5245200"/>
            <a:ext cx="426600" cy="348840"/>
            <a:chOff x="5680440" y="5245200"/>
            <a:chExt cx="426600" cy="348840"/>
          </a:xfrm>
        </p:grpSpPr>
        <p:pic>
          <p:nvPicPr>
            <p:cNvPr id="303" name="Picture 1331" descr="desktop_computer_stylized_medium"/>
            <p:cNvPicPr/>
            <p:nvPr/>
          </p:nvPicPr>
          <p:blipFill>
            <a:blip r:embed="rId4"/>
            <a:stretch/>
          </p:blipFill>
          <p:spPr>
            <a:xfrm flipH="1">
              <a:off x="5680440" y="5245200"/>
              <a:ext cx="426600" cy="348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04" name="Freeform 1332"/>
            <p:cNvSpPr/>
            <p:nvPr/>
          </p:nvSpPr>
          <p:spPr>
            <a:xfrm flipH="1">
              <a:off x="5862240" y="5278680"/>
              <a:ext cx="200880" cy="15984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05" name="Group 1333"/>
          <p:cNvGrpSpPr/>
          <p:nvPr/>
        </p:nvGrpSpPr>
        <p:grpSpPr>
          <a:xfrm>
            <a:off x="6294600" y="5227560"/>
            <a:ext cx="426600" cy="350640"/>
            <a:chOff x="6294600" y="5227560"/>
            <a:chExt cx="426600" cy="350640"/>
          </a:xfrm>
        </p:grpSpPr>
        <p:pic>
          <p:nvPicPr>
            <p:cNvPr id="306" name="Picture 1334" descr="desktop_computer_stylized_medium"/>
            <p:cNvPicPr/>
            <p:nvPr/>
          </p:nvPicPr>
          <p:blipFill>
            <a:blip r:embed="rId4"/>
            <a:stretch/>
          </p:blipFill>
          <p:spPr>
            <a:xfrm>
              <a:off x="6294600" y="5227560"/>
              <a:ext cx="426600" cy="350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07" name="Freeform 1335"/>
            <p:cNvSpPr/>
            <p:nvPr/>
          </p:nvSpPr>
          <p:spPr>
            <a:xfrm>
              <a:off x="6338160" y="5261400"/>
              <a:ext cx="200880" cy="16056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pic>
        <p:nvPicPr>
          <p:cNvPr id="308" name="Picture 1336" descr="car_icon_small"/>
          <p:cNvPicPr/>
          <p:nvPr/>
        </p:nvPicPr>
        <p:blipFill>
          <a:blip r:embed="rId5"/>
          <a:stretch/>
        </p:blipFill>
        <p:spPr>
          <a:xfrm>
            <a:off x="6086520" y="1709640"/>
            <a:ext cx="848880" cy="167760"/>
          </a:xfrm>
          <a:prstGeom prst="rect">
            <a:avLst/>
          </a:prstGeom>
          <a:ln w="0">
            <a:noFill/>
          </a:ln>
        </p:spPr>
      </p:pic>
      <p:grpSp>
        <p:nvGrpSpPr>
          <p:cNvPr id="309" name="Group 1337"/>
          <p:cNvGrpSpPr/>
          <p:nvPr/>
        </p:nvGrpSpPr>
        <p:grpSpPr>
          <a:xfrm>
            <a:off x="5357880" y="1535040"/>
            <a:ext cx="415440" cy="385200"/>
            <a:chOff x="5357880" y="1535040"/>
            <a:chExt cx="415440" cy="385200"/>
          </a:xfrm>
        </p:grpSpPr>
        <p:pic>
          <p:nvPicPr>
            <p:cNvPr id="310" name="Picture 1338" descr="iphone_stylized_small"/>
            <p:cNvPicPr/>
            <p:nvPr/>
          </p:nvPicPr>
          <p:blipFill>
            <a:blip r:embed="rId6"/>
            <a:stretch/>
          </p:blipFill>
          <p:spPr>
            <a:xfrm>
              <a:off x="5517000" y="1592280"/>
              <a:ext cx="136440" cy="327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11" name="Picture 1339" descr="antenna_radiation_stylized"/>
            <p:cNvPicPr/>
            <p:nvPr/>
          </p:nvPicPr>
          <p:blipFill>
            <a:blip r:embed="rId7"/>
            <a:stretch/>
          </p:blipFill>
          <p:spPr>
            <a:xfrm>
              <a:off x="5357880" y="1535040"/>
              <a:ext cx="415440" cy="885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12" name="Group 1340"/>
          <p:cNvGrpSpPr/>
          <p:nvPr/>
        </p:nvGrpSpPr>
        <p:grpSpPr>
          <a:xfrm>
            <a:off x="7434360" y="2384280"/>
            <a:ext cx="389880" cy="169560"/>
            <a:chOff x="7434360" y="2384280"/>
            <a:chExt cx="389880" cy="169560"/>
          </a:xfrm>
        </p:grpSpPr>
        <p:sp>
          <p:nvSpPr>
            <p:cNvPr id="313" name="Oval 407"/>
            <p:cNvSpPr/>
            <p:nvPr/>
          </p:nvSpPr>
          <p:spPr>
            <a:xfrm>
              <a:off x="7435800" y="2459520"/>
              <a:ext cx="387000" cy="943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14" name="Rectangle 410"/>
            <p:cNvSpPr/>
            <p:nvPr/>
          </p:nvSpPr>
          <p:spPr>
            <a:xfrm>
              <a:off x="7435800" y="2448720"/>
              <a:ext cx="388440" cy="5868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15" name="Oval 411"/>
            <p:cNvSpPr/>
            <p:nvPr/>
          </p:nvSpPr>
          <p:spPr>
            <a:xfrm>
              <a:off x="7434360" y="2384280"/>
              <a:ext cx="387000" cy="1105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16" name="Group 1344"/>
            <p:cNvGrpSpPr/>
            <p:nvPr/>
          </p:nvGrpSpPr>
          <p:grpSpPr>
            <a:xfrm>
              <a:off x="7512120" y="2413080"/>
              <a:ext cx="218880" cy="51480"/>
              <a:chOff x="7512120" y="2413080"/>
              <a:chExt cx="218880" cy="51480"/>
            </a:xfrm>
          </p:grpSpPr>
          <p:sp>
            <p:nvSpPr>
              <p:cNvPr id="317" name="Freeform 1345"/>
              <p:cNvSpPr/>
              <p:nvPr/>
            </p:nvSpPr>
            <p:spPr>
              <a:xfrm>
                <a:off x="7512120" y="2413080"/>
                <a:ext cx="2188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18" name="Freeform 1346"/>
              <p:cNvSpPr/>
              <p:nvPr/>
            </p:nvSpPr>
            <p:spPr>
              <a:xfrm>
                <a:off x="7521840" y="2413080"/>
                <a:ext cx="1990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19" name="Line 1347"/>
            <p:cNvSpPr/>
            <p:nvPr/>
          </p:nvSpPr>
          <p:spPr>
            <a:xfrm>
              <a:off x="7435800" y="2436120"/>
              <a:ext cx="360" cy="75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20" name="Line 1348"/>
            <p:cNvSpPr/>
            <p:nvPr/>
          </p:nvSpPr>
          <p:spPr>
            <a:xfrm>
              <a:off x="7821360" y="2439720"/>
              <a:ext cx="360" cy="734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21" name="Group 1349"/>
          <p:cNvGrpSpPr/>
          <p:nvPr/>
        </p:nvGrpSpPr>
        <p:grpSpPr>
          <a:xfrm>
            <a:off x="7507440" y="2746440"/>
            <a:ext cx="389880" cy="175680"/>
            <a:chOff x="7507440" y="2746440"/>
            <a:chExt cx="389880" cy="175680"/>
          </a:xfrm>
        </p:grpSpPr>
        <p:sp>
          <p:nvSpPr>
            <p:cNvPr id="322" name="Oval 407"/>
            <p:cNvSpPr/>
            <p:nvPr/>
          </p:nvSpPr>
          <p:spPr>
            <a:xfrm>
              <a:off x="7508880" y="2824200"/>
              <a:ext cx="387000" cy="979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23" name="Rectangle 410"/>
            <p:cNvSpPr/>
            <p:nvPr/>
          </p:nvSpPr>
          <p:spPr>
            <a:xfrm>
              <a:off x="7508880" y="2813040"/>
              <a:ext cx="388440" cy="6084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24" name="Oval 411"/>
            <p:cNvSpPr/>
            <p:nvPr/>
          </p:nvSpPr>
          <p:spPr>
            <a:xfrm>
              <a:off x="7507440" y="2746440"/>
              <a:ext cx="387000" cy="11448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25" name="Group 1353"/>
            <p:cNvGrpSpPr/>
            <p:nvPr/>
          </p:nvGrpSpPr>
          <p:grpSpPr>
            <a:xfrm>
              <a:off x="7585200" y="2775960"/>
              <a:ext cx="218880" cy="53280"/>
              <a:chOff x="7585200" y="2775960"/>
              <a:chExt cx="218880" cy="53280"/>
            </a:xfrm>
          </p:grpSpPr>
          <p:sp>
            <p:nvSpPr>
              <p:cNvPr id="326" name="Freeform 1354"/>
              <p:cNvSpPr/>
              <p:nvPr/>
            </p:nvSpPr>
            <p:spPr>
              <a:xfrm>
                <a:off x="7585200" y="2775960"/>
                <a:ext cx="2188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27" name="Freeform 1355"/>
              <p:cNvSpPr/>
              <p:nvPr/>
            </p:nvSpPr>
            <p:spPr>
              <a:xfrm>
                <a:off x="7594920" y="2775960"/>
                <a:ext cx="1990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28" name="Line 1356"/>
            <p:cNvSpPr/>
            <p:nvPr/>
          </p:nvSpPr>
          <p:spPr>
            <a:xfrm>
              <a:off x="7508520" y="2800080"/>
              <a:ext cx="360" cy="777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29" name="Line 1357"/>
            <p:cNvSpPr/>
            <p:nvPr/>
          </p:nvSpPr>
          <p:spPr>
            <a:xfrm>
              <a:off x="7894440" y="2803680"/>
              <a:ext cx="360" cy="759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30" name="Group 1358"/>
          <p:cNvGrpSpPr/>
          <p:nvPr/>
        </p:nvGrpSpPr>
        <p:grpSpPr>
          <a:xfrm>
            <a:off x="6948360" y="2482920"/>
            <a:ext cx="390240" cy="169200"/>
            <a:chOff x="6948360" y="2482920"/>
            <a:chExt cx="390240" cy="169200"/>
          </a:xfrm>
        </p:grpSpPr>
        <p:sp>
          <p:nvSpPr>
            <p:cNvPr id="331" name="Oval 407"/>
            <p:cNvSpPr/>
            <p:nvPr/>
          </p:nvSpPr>
          <p:spPr>
            <a:xfrm>
              <a:off x="6950160" y="2557800"/>
              <a:ext cx="387000" cy="943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32" name="Rectangle 410"/>
            <p:cNvSpPr/>
            <p:nvPr/>
          </p:nvSpPr>
          <p:spPr>
            <a:xfrm>
              <a:off x="6950160" y="2547360"/>
              <a:ext cx="388440" cy="5868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33" name="Oval 411"/>
            <p:cNvSpPr/>
            <p:nvPr/>
          </p:nvSpPr>
          <p:spPr>
            <a:xfrm>
              <a:off x="6948360" y="2482920"/>
              <a:ext cx="387000" cy="1105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34" name="Group 1362"/>
            <p:cNvGrpSpPr/>
            <p:nvPr/>
          </p:nvGrpSpPr>
          <p:grpSpPr>
            <a:xfrm>
              <a:off x="7026120" y="2511360"/>
              <a:ext cx="218880" cy="51480"/>
              <a:chOff x="7026120" y="2511360"/>
              <a:chExt cx="218880" cy="51480"/>
            </a:xfrm>
          </p:grpSpPr>
          <p:sp>
            <p:nvSpPr>
              <p:cNvPr id="335" name="Freeform 1363"/>
              <p:cNvSpPr/>
              <p:nvPr/>
            </p:nvSpPr>
            <p:spPr>
              <a:xfrm>
                <a:off x="7026120" y="2511360"/>
                <a:ext cx="2188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36" name="Freeform 1364"/>
              <p:cNvSpPr/>
              <p:nvPr/>
            </p:nvSpPr>
            <p:spPr>
              <a:xfrm>
                <a:off x="7036200" y="2511360"/>
                <a:ext cx="1990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37" name="Line 1365"/>
            <p:cNvSpPr/>
            <p:nvPr/>
          </p:nvSpPr>
          <p:spPr>
            <a:xfrm>
              <a:off x="6949800" y="2534400"/>
              <a:ext cx="360" cy="75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38" name="Line 1366"/>
            <p:cNvSpPr/>
            <p:nvPr/>
          </p:nvSpPr>
          <p:spPr>
            <a:xfrm>
              <a:off x="7335720" y="2538000"/>
              <a:ext cx="360" cy="734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39" name="Group 1367"/>
          <p:cNvGrpSpPr/>
          <p:nvPr/>
        </p:nvGrpSpPr>
        <p:grpSpPr>
          <a:xfrm>
            <a:off x="6959520" y="2746440"/>
            <a:ext cx="390240" cy="169200"/>
            <a:chOff x="6959520" y="2746440"/>
            <a:chExt cx="390240" cy="169200"/>
          </a:xfrm>
        </p:grpSpPr>
        <p:sp>
          <p:nvSpPr>
            <p:cNvPr id="340" name="Oval 407"/>
            <p:cNvSpPr/>
            <p:nvPr/>
          </p:nvSpPr>
          <p:spPr>
            <a:xfrm>
              <a:off x="6961320" y="2821320"/>
              <a:ext cx="387000" cy="943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41" name="Rectangle 410"/>
            <p:cNvSpPr/>
            <p:nvPr/>
          </p:nvSpPr>
          <p:spPr>
            <a:xfrm>
              <a:off x="6961320" y="2810880"/>
              <a:ext cx="388440" cy="5868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42" name="Oval 411"/>
            <p:cNvSpPr/>
            <p:nvPr/>
          </p:nvSpPr>
          <p:spPr>
            <a:xfrm>
              <a:off x="6959520" y="2746440"/>
              <a:ext cx="387000" cy="1105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43" name="Group 1371"/>
            <p:cNvGrpSpPr/>
            <p:nvPr/>
          </p:nvGrpSpPr>
          <p:grpSpPr>
            <a:xfrm>
              <a:off x="7037280" y="2774880"/>
              <a:ext cx="218880" cy="51480"/>
              <a:chOff x="7037280" y="2774880"/>
              <a:chExt cx="218880" cy="51480"/>
            </a:xfrm>
          </p:grpSpPr>
          <p:sp>
            <p:nvSpPr>
              <p:cNvPr id="344" name="Freeform 1372"/>
              <p:cNvSpPr/>
              <p:nvPr/>
            </p:nvSpPr>
            <p:spPr>
              <a:xfrm>
                <a:off x="7037280" y="2774880"/>
                <a:ext cx="2188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45" name="Freeform 1373"/>
              <p:cNvSpPr/>
              <p:nvPr/>
            </p:nvSpPr>
            <p:spPr>
              <a:xfrm>
                <a:off x="7047360" y="2774880"/>
                <a:ext cx="1990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6" name="Line 1374"/>
            <p:cNvSpPr/>
            <p:nvPr/>
          </p:nvSpPr>
          <p:spPr>
            <a:xfrm>
              <a:off x="6960960" y="2797920"/>
              <a:ext cx="360" cy="75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47" name="Line 1375"/>
            <p:cNvSpPr/>
            <p:nvPr/>
          </p:nvSpPr>
          <p:spPr>
            <a:xfrm>
              <a:off x="7346880" y="2801520"/>
              <a:ext cx="360" cy="734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348" name="Line 1376"/>
          <p:cNvSpPr/>
          <p:nvPr/>
        </p:nvSpPr>
        <p:spPr>
          <a:xfrm>
            <a:off x="8089560" y="2844720"/>
            <a:ext cx="177840" cy="360"/>
          </a:xfrm>
          <a:prstGeom prst="line">
            <a:avLst/>
          </a:prstGeom>
          <a:ln w="9525">
            <a:solidFill>
              <a:srgbClr val="80808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grpSp>
        <p:nvGrpSpPr>
          <p:cNvPr id="349" name="Group 1377"/>
          <p:cNvGrpSpPr/>
          <p:nvPr/>
        </p:nvGrpSpPr>
        <p:grpSpPr>
          <a:xfrm>
            <a:off x="7145280" y="3900600"/>
            <a:ext cx="485640" cy="202680"/>
            <a:chOff x="7145280" y="3900600"/>
            <a:chExt cx="485640" cy="202680"/>
          </a:xfrm>
        </p:grpSpPr>
        <p:sp>
          <p:nvSpPr>
            <p:cNvPr id="350" name="Oval 407"/>
            <p:cNvSpPr/>
            <p:nvPr/>
          </p:nvSpPr>
          <p:spPr>
            <a:xfrm>
              <a:off x="7147440" y="3990240"/>
              <a:ext cx="481320" cy="11304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51" name="Rectangle 410"/>
            <p:cNvSpPr/>
            <p:nvPr/>
          </p:nvSpPr>
          <p:spPr>
            <a:xfrm>
              <a:off x="7147440" y="3977640"/>
              <a:ext cx="483480" cy="7020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52" name="Oval 411"/>
            <p:cNvSpPr/>
            <p:nvPr/>
          </p:nvSpPr>
          <p:spPr>
            <a:xfrm>
              <a:off x="7145280" y="3900600"/>
              <a:ext cx="481320" cy="1321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53" name="Group 1381"/>
            <p:cNvGrpSpPr/>
            <p:nvPr/>
          </p:nvGrpSpPr>
          <p:grpSpPr>
            <a:xfrm>
              <a:off x="7242120" y="3934800"/>
              <a:ext cx="272160" cy="61560"/>
              <a:chOff x="7242120" y="3934800"/>
              <a:chExt cx="272160" cy="61560"/>
            </a:xfrm>
          </p:grpSpPr>
          <p:sp>
            <p:nvSpPr>
              <p:cNvPr id="354" name="Freeform 1382"/>
              <p:cNvSpPr/>
              <p:nvPr/>
            </p:nvSpPr>
            <p:spPr>
              <a:xfrm>
                <a:off x="7242120" y="3934800"/>
                <a:ext cx="2721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55" name="Freeform 1383"/>
              <p:cNvSpPr/>
              <p:nvPr/>
            </p:nvSpPr>
            <p:spPr>
              <a:xfrm>
                <a:off x="7254360" y="3934800"/>
                <a:ext cx="24768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56" name="Line 1384"/>
            <p:cNvSpPr/>
            <p:nvPr/>
          </p:nvSpPr>
          <p:spPr>
            <a:xfrm>
              <a:off x="7147080" y="3962160"/>
              <a:ext cx="360" cy="900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57" name="Line 1385"/>
            <p:cNvSpPr/>
            <p:nvPr/>
          </p:nvSpPr>
          <p:spPr>
            <a:xfrm>
              <a:off x="7626960" y="3966480"/>
              <a:ext cx="360" cy="878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58" name="Group 1386"/>
          <p:cNvGrpSpPr/>
          <p:nvPr/>
        </p:nvGrpSpPr>
        <p:grpSpPr>
          <a:xfrm>
            <a:off x="6826320" y="3619440"/>
            <a:ext cx="485280" cy="203040"/>
            <a:chOff x="6826320" y="3619440"/>
            <a:chExt cx="485280" cy="203040"/>
          </a:xfrm>
        </p:grpSpPr>
        <p:sp>
          <p:nvSpPr>
            <p:cNvPr id="359" name="Oval 407"/>
            <p:cNvSpPr/>
            <p:nvPr/>
          </p:nvSpPr>
          <p:spPr>
            <a:xfrm>
              <a:off x="6828120" y="3709440"/>
              <a:ext cx="481320" cy="11304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60" name="Rectangle 410"/>
            <p:cNvSpPr/>
            <p:nvPr/>
          </p:nvSpPr>
          <p:spPr>
            <a:xfrm>
              <a:off x="6828120" y="3696480"/>
              <a:ext cx="483480" cy="7020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61" name="Oval 411"/>
            <p:cNvSpPr/>
            <p:nvPr/>
          </p:nvSpPr>
          <p:spPr>
            <a:xfrm>
              <a:off x="6826320" y="3619440"/>
              <a:ext cx="481320" cy="1321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62" name="Group 1390"/>
            <p:cNvGrpSpPr/>
            <p:nvPr/>
          </p:nvGrpSpPr>
          <p:grpSpPr>
            <a:xfrm>
              <a:off x="6923160" y="3653640"/>
              <a:ext cx="272160" cy="61560"/>
              <a:chOff x="6923160" y="3653640"/>
              <a:chExt cx="272160" cy="61560"/>
            </a:xfrm>
          </p:grpSpPr>
          <p:sp>
            <p:nvSpPr>
              <p:cNvPr id="363" name="Freeform 1391"/>
              <p:cNvSpPr/>
              <p:nvPr/>
            </p:nvSpPr>
            <p:spPr>
              <a:xfrm>
                <a:off x="6923160" y="3653640"/>
                <a:ext cx="2721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64" name="Freeform 1392"/>
              <p:cNvSpPr/>
              <p:nvPr/>
            </p:nvSpPr>
            <p:spPr>
              <a:xfrm>
                <a:off x="6935400" y="3653640"/>
                <a:ext cx="24768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65" name="Line 1393"/>
            <p:cNvSpPr/>
            <p:nvPr/>
          </p:nvSpPr>
          <p:spPr>
            <a:xfrm>
              <a:off x="6828120" y="3681360"/>
              <a:ext cx="360" cy="900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66" name="Line 1394"/>
            <p:cNvSpPr/>
            <p:nvPr/>
          </p:nvSpPr>
          <p:spPr>
            <a:xfrm>
              <a:off x="7308000" y="3685680"/>
              <a:ext cx="360" cy="874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67" name="Group 1395"/>
          <p:cNvGrpSpPr/>
          <p:nvPr/>
        </p:nvGrpSpPr>
        <p:grpSpPr>
          <a:xfrm>
            <a:off x="7488360" y="3632040"/>
            <a:ext cx="485280" cy="203040"/>
            <a:chOff x="7488360" y="3632040"/>
            <a:chExt cx="485280" cy="203040"/>
          </a:xfrm>
        </p:grpSpPr>
        <p:sp>
          <p:nvSpPr>
            <p:cNvPr id="368" name="Oval 407"/>
            <p:cNvSpPr/>
            <p:nvPr/>
          </p:nvSpPr>
          <p:spPr>
            <a:xfrm>
              <a:off x="7490160" y="3722040"/>
              <a:ext cx="481320" cy="11304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69" name="Rectangle 410"/>
            <p:cNvSpPr/>
            <p:nvPr/>
          </p:nvSpPr>
          <p:spPr>
            <a:xfrm>
              <a:off x="7490160" y="3709080"/>
              <a:ext cx="483480" cy="7020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70" name="Oval 411"/>
            <p:cNvSpPr/>
            <p:nvPr/>
          </p:nvSpPr>
          <p:spPr>
            <a:xfrm>
              <a:off x="7488360" y="3632040"/>
              <a:ext cx="481320" cy="1321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71" name="Group 1399"/>
            <p:cNvGrpSpPr/>
            <p:nvPr/>
          </p:nvGrpSpPr>
          <p:grpSpPr>
            <a:xfrm>
              <a:off x="7584840" y="3666600"/>
              <a:ext cx="272160" cy="61560"/>
              <a:chOff x="7584840" y="3666600"/>
              <a:chExt cx="272160" cy="61560"/>
            </a:xfrm>
          </p:grpSpPr>
          <p:sp>
            <p:nvSpPr>
              <p:cNvPr id="372" name="Freeform 1400"/>
              <p:cNvSpPr/>
              <p:nvPr/>
            </p:nvSpPr>
            <p:spPr>
              <a:xfrm>
                <a:off x="7584840" y="3666600"/>
                <a:ext cx="2721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73" name="Freeform 1401"/>
              <p:cNvSpPr/>
              <p:nvPr/>
            </p:nvSpPr>
            <p:spPr>
              <a:xfrm>
                <a:off x="7597440" y="3666600"/>
                <a:ext cx="24768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74" name="Line 1402"/>
            <p:cNvSpPr/>
            <p:nvPr/>
          </p:nvSpPr>
          <p:spPr>
            <a:xfrm>
              <a:off x="7490160" y="3693960"/>
              <a:ext cx="360" cy="9000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75" name="Line 1403"/>
            <p:cNvSpPr/>
            <p:nvPr/>
          </p:nvSpPr>
          <p:spPr>
            <a:xfrm>
              <a:off x="7970040" y="3698280"/>
              <a:ext cx="360" cy="878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76" name="Group 1404"/>
          <p:cNvGrpSpPr/>
          <p:nvPr/>
        </p:nvGrpSpPr>
        <p:grpSpPr>
          <a:xfrm>
            <a:off x="6707160" y="4494240"/>
            <a:ext cx="618840" cy="242280"/>
            <a:chOff x="6707160" y="4494240"/>
            <a:chExt cx="618840" cy="242280"/>
          </a:xfrm>
        </p:grpSpPr>
        <p:sp>
          <p:nvSpPr>
            <p:cNvPr id="377" name="Oval 407"/>
            <p:cNvSpPr/>
            <p:nvPr/>
          </p:nvSpPr>
          <p:spPr>
            <a:xfrm>
              <a:off x="6709680" y="4601520"/>
              <a:ext cx="613800" cy="13500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78" name="Rectangle 410"/>
            <p:cNvSpPr/>
            <p:nvPr/>
          </p:nvSpPr>
          <p:spPr>
            <a:xfrm>
              <a:off x="6709680" y="4586400"/>
              <a:ext cx="616320" cy="8388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79" name="Oval 411"/>
            <p:cNvSpPr/>
            <p:nvPr/>
          </p:nvSpPr>
          <p:spPr>
            <a:xfrm>
              <a:off x="6707160" y="4494240"/>
              <a:ext cx="613800" cy="15804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80" name="Group 1408"/>
            <p:cNvGrpSpPr/>
            <p:nvPr/>
          </p:nvGrpSpPr>
          <p:grpSpPr>
            <a:xfrm>
              <a:off x="6830640" y="4535280"/>
              <a:ext cx="347040" cy="73800"/>
              <a:chOff x="6830640" y="4535280"/>
              <a:chExt cx="347040" cy="73800"/>
            </a:xfrm>
          </p:grpSpPr>
          <p:sp>
            <p:nvSpPr>
              <p:cNvPr id="381" name="Freeform 1409"/>
              <p:cNvSpPr/>
              <p:nvPr/>
            </p:nvSpPr>
            <p:spPr>
              <a:xfrm>
                <a:off x="6830640" y="4535280"/>
                <a:ext cx="34704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82" name="Freeform 1410"/>
              <p:cNvSpPr/>
              <p:nvPr/>
            </p:nvSpPr>
            <p:spPr>
              <a:xfrm>
                <a:off x="6846120" y="4535280"/>
                <a:ext cx="31572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83" name="Line 1411"/>
            <p:cNvSpPr/>
            <p:nvPr/>
          </p:nvSpPr>
          <p:spPr>
            <a:xfrm>
              <a:off x="6709680" y="4568040"/>
              <a:ext cx="360" cy="1076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84" name="Line 1412"/>
            <p:cNvSpPr/>
            <p:nvPr/>
          </p:nvSpPr>
          <p:spPr>
            <a:xfrm>
              <a:off x="7320960" y="4573440"/>
              <a:ext cx="360" cy="1047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85" name="Group 1413"/>
          <p:cNvGrpSpPr/>
          <p:nvPr/>
        </p:nvGrpSpPr>
        <p:grpSpPr>
          <a:xfrm>
            <a:off x="7340760" y="4792680"/>
            <a:ext cx="618840" cy="242280"/>
            <a:chOff x="7340760" y="4792680"/>
            <a:chExt cx="618840" cy="242280"/>
          </a:xfrm>
        </p:grpSpPr>
        <p:sp>
          <p:nvSpPr>
            <p:cNvPr id="386" name="Oval 407"/>
            <p:cNvSpPr/>
            <p:nvPr/>
          </p:nvSpPr>
          <p:spPr>
            <a:xfrm>
              <a:off x="7343280" y="4899960"/>
              <a:ext cx="613800" cy="13500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87" name="Rectangle 410"/>
            <p:cNvSpPr/>
            <p:nvPr/>
          </p:nvSpPr>
          <p:spPr>
            <a:xfrm>
              <a:off x="7343280" y="4884840"/>
              <a:ext cx="616320" cy="8388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88" name="Oval 411"/>
            <p:cNvSpPr/>
            <p:nvPr/>
          </p:nvSpPr>
          <p:spPr>
            <a:xfrm>
              <a:off x="7340760" y="4792680"/>
              <a:ext cx="613800" cy="15804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89" name="Group 1417"/>
            <p:cNvGrpSpPr/>
            <p:nvPr/>
          </p:nvGrpSpPr>
          <p:grpSpPr>
            <a:xfrm>
              <a:off x="7463880" y="4833720"/>
              <a:ext cx="347040" cy="73800"/>
              <a:chOff x="7463880" y="4833720"/>
              <a:chExt cx="347040" cy="73800"/>
            </a:xfrm>
          </p:grpSpPr>
          <p:sp>
            <p:nvSpPr>
              <p:cNvPr id="390" name="Freeform 1418"/>
              <p:cNvSpPr/>
              <p:nvPr/>
            </p:nvSpPr>
            <p:spPr>
              <a:xfrm>
                <a:off x="7463880" y="4833720"/>
                <a:ext cx="34704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91" name="Freeform 1419"/>
              <p:cNvSpPr/>
              <p:nvPr/>
            </p:nvSpPr>
            <p:spPr>
              <a:xfrm>
                <a:off x="7479720" y="4833720"/>
                <a:ext cx="31572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92" name="Line 1420"/>
            <p:cNvSpPr/>
            <p:nvPr/>
          </p:nvSpPr>
          <p:spPr>
            <a:xfrm>
              <a:off x="7342920" y="4866480"/>
              <a:ext cx="360" cy="1076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93" name="Line 1421"/>
            <p:cNvSpPr/>
            <p:nvPr/>
          </p:nvSpPr>
          <p:spPr>
            <a:xfrm>
              <a:off x="7954560" y="4871880"/>
              <a:ext cx="360" cy="1047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394" name="Group 1422"/>
          <p:cNvGrpSpPr/>
          <p:nvPr/>
        </p:nvGrpSpPr>
        <p:grpSpPr>
          <a:xfrm>
            <a:off x="5991120" y="4836960"/>
            <a:ext cx="618840" cy="242640"/>
            <a:chOff x="5991120" y="4836960"/>
            <a:chExt cx="618840" cy="242640"/>
          </a:xfrm>
        </p:grpSpPr>
        <p:sp>
          <p:nvSpPr>
            <p:cNvPr id="395" name="Oval 407"/>
            <p:cNvSpPr/>
            <p:nvPr/>
          </p:nvSpPr>
          <p:spPr>
            <a:xfrm>
              <a:off x="5993640" y="4944600"/>
              <a:ext cx="613800" cy="13500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96" name="Rectangle 410"/>
            <p:cNvSpPr/>
            <p:nvPr/>
          </p:nvSpPr>
          <p:spPr>
            <a:xfrm>
              <a:off x="5993640" y="4929120"/>
              <a:ext cx="616320" cy="8388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97" name="Oval 411"/>
            <p:cNvSpPr/>
            <p:nvPr/>
          </p:nvSpPr>
          <p:spPr>
            <a:xfrm>
              <a:off x="5991120" y="4836960"/>
              <a:ext cx="613800" cy="15804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98" name="Group 1426"/>
            <p:cNvGrpSpPr/>
            <p:nvPr/>
          </p:nvGrpSpPr>
          <p:grpSpPr>
            <a:xfrm>
              <a:off x="6114600" y="4878000"/>
              <a:ext cx="347040" cy="73800"/>
              <a:chOff x="6114600" y="4878000"/>
              <a:chExt cx="347040" cy="73800"/>
            </a:xfrm>
          </p:grpSpPr>
          <p:sp>
            <p:nvSpPr>
              <p:cNvPr id="399" name="Freeform 1427"/>
              <p:cNvSpPr/>
              <p:nvPr/>
            </p:nvSpPr>
            <p:spPr>
              <a:xfrm>
                <a:off x="6114600" y="4878000"/>
                <a:ext cx="34704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00" name="Freeform 1428"/>
              <p:cNvSpPr/>
              <p:nvPr/>
            </p:nvSpPr>
            <p:spPr>
              <a:xfrm>
                <a:off x="6130080" y="4878000"/>
                <a:ext cx="31572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01" name="Line 1429"/>
            <p:cNvSpPr/>
            <p:nvPr/>
          </p:nvSpPr>
          <p:spPr>
            <a:xfrm>
              <a:off x="5993640" y="4911120"/>
              <a:ext cx="360" cy="1072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02" name="Line 1430"/>
            <p:cNvSpPr/>
            <p:nvPr/>
          </p:nvSpPr>
          <p:spPr>
            <a:xfrm>
              <a:off x="6605280" y="4916160"/>
              <a:ext cx="360" cy="1047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403" name="Group 1431"/>
          <p:cNvGrpSpPr/>
          <p:nvPr/>
        </p:nvGrpSpPr>
        <p:grpSpPr>
          <a:xfrm>
            <a:off x="5797440" y="3629160"/>
            <a:ext cx="390240" cy="169200"/>
            <a:chOff x="5797440" y="3629160"/>
            <a:chExt cx="390240" cy="169200"/>
          </a:xfrm>
        </p:grpSpPr>
        <p:sp>
          <p:nvSpPr>
            <p:cNvPr id="404" name="Oval 407"/>
            <p:cNvSpPr/>
            <p:nvPr/>
          </p:nvSpPr>
          <p:spPr>
            <a:xfrm>
              <a:off x="5799240" y="3704040"/>
              <a:ext cx="387000" cy="943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05" name="Rectangle 410"/>
            <p:cNvSpPr/>
            <p:nvPr/>
          </p:nvSpPr>
          <p:spPr>
            <a:xfrm>
              <a:off x="5799240" y="3693240"/>
              <a:ext cx="388440" cy="5868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06" name="Oval 411"/>
            <p:cNvSpPr/>
            <p:nvPr/>
          </p:nvSpPr>
          <p:spPr>
            <a:xfrm>
              <a:off x="5797440" y="3629160"/>
              <a:ext cx="387000" cy="1105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07" name="Group 1435"/>
            <p:cNvGrpSpPr/>
            <p:nvPr/>
          </p:nvGrpSpPr>
          <p:grpSpPr>
            <a:xfrm>
              <a:off x="5875200" y="3657600"/>
              <a:ext cx="218880" cy="51480"/>
              <a:chOff x="5875200" y="3657600"/>
              <a:chExt cx="218880" cy="51480"/>
            </a:xfrm>
          </p:grpSpPr>
          <p:sp>
            <p:nvSpPr>
              <p:cNvPr id="408" name="Freeform 1436"/>
              <p:cNvSpPr/>
              <p:nvPr/>
            </p:nvSpPr>
            <p:spPr>
              <a:xfrm>
                <a:off x="5875200" y="3657600"/>
                <a:ext cx="2188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09" name="Freeform 1437"/>
              <p:cNvSpPr/>
              <p:nvPr/>
            </p:nvSpPr>
            <p:spPr>
              <a:xfrm>
                <a:off x="5885280" y="3657600"/>
                <a:ext cx="1990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10" name="Line 1438"/>
            <p:cNvSpPr/>
            <p:nvPr/>
          </p:nvSpPr>
          <p:spPr>
            <a:xfrm>
              <a:off x="5798880" y="3680640"/>
              <a:ext cx="360" cy="75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11" name="Line 1439"/>
            <p:cNvSpPr/>
            <p:nvPr/>
          </p:nvSpPr>
          <p:spPr>
            <a:xfrm>
              <a:off x="6184800" y="3684240"/>
              <a:ext cx="360" cy="734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412" name="Group 1440"/>
          <p:cNvGrpSpPr/>
          <p:nvPr/>
        </p:nvGrpSpPr>
        <p:grpSpPr>
          <a:xfrm>
            <a:off x="6097680" y="2476440"/>
            <a:ext cx="389880" cy="169560"/>
            <a:chOff x="6097680" y="2476440"/>
            <a:chExt cx="389880" cy="169560"/>
          </a:xfrm>
        </p:grpSpPr>
        <p:sp>
          <p:nvSpPr>
            <p:cNvPr id="413" name="Oval 407"/>
            <p:cNvSpPr/>
            <p:nvPr/>
          </p:nvSpPr>
          <p:spPr>
            <a:xfrm>
              <a:off x="6099120" y="2551680"/>
              <a:ext cx="387000" cy="943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14" name="Rectangle 410"/>
            <p:cNvSpPr/>
            <p:nvPr/>
          </p:nvSpPr>
          <p:spPr>
            <a:xfrm>
              <a:off x="6099120" y="2540880"/>
              <a:ext cx="388440" cy="58680"/>
            </a:xfrm>
            <a:prstGeom prst="rect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15" name="Oval 411"/>
            <p:cNvSpPr/>
            <p:nvPr/>
          </p:nvSpPr>
          <p:spPr>
            <a:xfrm>
              <a:off x="6097680" y="2476440"/>
              <a:ext cx="387000" cy="110520"/>
            </a:xfrm>
            <a:prstGeom prst="ellipse">
              <a:avLst/>
            </a:prstGeom>
            <a:gradFill rotWithShape="0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16" name="Group 1444"/>
            <p:cNvGrpSpPr/>
            <p:nvPr/>
          </p:nvGrpSpPr>
          <p:grpSpPr>
            <a:xfrm>
              <a:off x="6175440" y="2505240"/>
              <a:ext cx="218880" cy="51480"/>
              <a:chOff x="6175440" y="2505240"/>
              <a:chExt cx="218880" cy="51480"/>
            </a:xfrm>
          </p:grpSpPr>
          <p:sp>
            <p:nvSpPr>
              <p:cNvPr id="417" name="Freeform 1445"/>
              <p:cNvSpPr/>
              <p:nvPr/>
            </p:nvSpPr>
            <p:spPr>
              <a:xfrm>
                <a:off x="6175440" y="2505240"/>
                <a:ext cx="2188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18" name="Freeform 1446"/>
              <p:cNvSpPr/>
              <p:nvPr/>
            </p:nvSpPr>
            <p:spPr>
              <a:xfrm>
                <a:off x="6185160" y="2505240"/>
                <a:ext cx="19908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19" name="Line 1447"/>
            <p:cNvSpPr/>
            <p:nvPr/>
          </p:nvSpPr>
          <p:spPr>
            <a:xfrm>
              <a:off x="6099120" y="2528280"/>
              <a:ext cx="360" cy="748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20" name="Line 1448"/>
            <p:cNvSpPr/>
            <p:nvPr/>
          </p:nvSpPr>
          <p:spPr>
            <a:xfrm>
              <a:off x="6484680" y="2531880"/>
              <a:ext cx="360" cy="73080"/>
            </a:xfrm>
            <a:prstGeom prst="line">
              <a:avLst/>
            </a:prstGeom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421" name="Group 1449"/>
          <p:cNvGrpSpPr/>
          <p:nvPr/>
        </p:nvGrpSpPr>
        <p:grpSpPr>
          <a:xfrm>
            <a:off x="5356080" y="3489480"/>
            <a:ext cx="506160" cy="351720"/>
            <a:chOff x="5356080" y="3489480"/>
            <a:chExt cx="506160" cy="351720"/>
          </a:xfrm>
        </p:grpSpPr>
        <p:pic>
          <p:nvPicPr>
            <p:cNvPr id="422" name="Picture 1450" descr="access_point_stylized_small"/>
            <p:cNvPicPr/>
            <p:nvPr/>
          </p:nvPicPr>
          <p:blipFill>
            <a:blip r:embed="rId8"/>
            <a:stretch/>
          </p:blipFill>
          <p:spPr>
            <a:xfrm>
              <a:off x="5385240" y="3534840"/>
              <a:ext cx="369720" cy="306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23" name="Picture 1451" descr="antenna_radiation_stylized"/>
            <p:cNvPicPr/>
            <p:nvPr/>
          </p:nvPicPr>
          <p:blipFill>
            <a:blip r:embed="rId9"/>
            <a:stretch/>
          </p:blipFill>
          <p:spPr>
            <a:xfrm>
              <a:off x="5356080" y="3489480"/>
              <a:ext cx="506160" cy="105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4" name="Group 1452"/>
          <p:cNvGrpSpPr/>
          <p:nvPr/>
        </p:nvGrpSpPr>
        <p:grpSpPr>
          <a:xfrm>
            <a:off x="6877080" y="4992840"/>
            <a:ext cx="563040" cy="420120"/>
            <a:chOff x="6877080" y="4992840"/>
            <a:chExt cx="563040" cy="420120"/>
          </a:xfrm>
        </p:grpSpPr>
        <p:pic>
          <p:nvPicPr>
            <p:cNvPr id="425" name="Picture 1453" descr="access_point_stylized_small"/>
            <p:cNvPicPr/>
            <p:nvPr/>
          </p:nvPicPr>
          <p:blipFill>
            <a:blip r:embed="rId8"/>
            <a:stretch/>
          </p:blipFill>
          <p:spPr>
            <a:xfrm>
              <a:off x="6909120" y="5047200"/>
              <a:ext cx="411480" cy="365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26" name="Picture 1454" descr="antenna_radiation_stylized"/>
            <p:cNvPicPr/>
            <p:nvPr/>
          </p:nvPicPr>
          <p:blipFill>
            <a:blip r:embed="rId10"/>
            <a:stretch/>
          </p:blipFill>
          <p:spPr>
            <a:xfrm>
              <a:off x="6877080" y="4992840"/>
              <a:ext cx="563040" cy="1263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7" name="Group 1455"/>
          <p:cNvGrpSpPr/>
          <p:nvPr/>
        </p:nvGrpSpPr>
        <p:grpSpPr>
          <a:xfrm>
            <a:off x="5805360" y="1833480"/>
            <a:ext cx="456840" cy="631800"/>
            <a:chOff x="5805360" y="1833480"/>
            <a:chExt cx="456840" cy="631800"/>
          </a:xfrm>
        </p:grpSpPr>
        <p:grpSp>
          <p:nvGrpSpPr>
            <p:cNvPr id="428" name="Group 1456"/>
            <p:cNvGrpSpPr/>
            <p:nvPr/>
          </p:nvGrpSpPr>
          <p:grpSpPr>
            <a:xfrm>
              <a:off x="5876640" y="2001240"/>
              <a:ext cx="298440" cy="464040"/>
              <a:chOff x="5876640" y="2001240"/>
              <a:chExt cx="298440" cy="464040"/>
            </a:xfrm>
          </p:grpSpPr>
          <p:sp>
            <p:nvSpPr>
              <p:cNvPr id="429" name="Line 270"/>
              <p:cNvSpPr/>
              <p:nvPr/>
            </p:nvSpPr>
            <p:spPr>
              <a:xfrm flipH="1">
                <a:off x="5876640" y="2001240"/>
                <a:ext cx="149400" cy="42012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0" name="Line 271"/>
              <p:cNvSpPr/>
              <p:nvPr/>
            </p:nvSpPr>
            <p:spPr>
              <a:xfrm>
                <a:off x="6026040" y="2001240"/>
                <a:ext cx="149040" cy="41832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1" name="Line 272"/>
              <p:cNvSpPr/>
              <p:nvPr/>
            </p:nvSpPr>
            <p:spPr>
              <a:xfrm>
                <a:off x="5876640" y="2419560"/>
                <a:ext cx="149400" cy="4572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2" name="Line 273"/>
              <p:cNvSpPr/>
              <p:nvPr/>
            </p:nvSpPr>
            <p:spPr>
              <a:xfrm flipH="1">
                <a:off x="6026040" y="2419560"/>
                <a:ext cx="149040" cy="4572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3" name="Line 274"/>
              <p:cNvSpPr/>
              <p:nvPr/>
            </p:nvSpPr>
            <p:spPr>
              <a:xfrm>
                <a:off x="6026040" y="2010600"/>
                <a:ext cx="360" cy="45468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4" name="Line 275"/>
              <p:cNvSpPr/>
              <p:nvPr/>
            </p:nvSpPr>
            <p:spPr>
              <a:xfrm flipV="1">
                <a:off x="5876640" y="2376360"/>
                <a:ext cx="149400" cy="4500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5" name="Line 276"/>
              <p:cNvSpPr/>
              <p:nvPr/>
            </p:nvSpPr>
            <p:spPr>
              <a:xfrm flipH="1" flipV="1">
                <a:off x="6026040" y="2376360"/>
                <a:ext cx="149040" cy="4320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6" name="Line 277"/>
              <p:cNvSpPr/>
              <p:nvPr/>
            </p:nvSpPr>
            <p:spPr>
              <a:xfrm>
                <a:off x="5940000" y="2238840"/>
                <a:ext cx="86040" cy="3456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7" name="Line 278"/>
              <p:cNvSpPr/>
              <p:nvPr/>
            </p:nvSpPr>
            <p:spPr>
              <a:xfrm flipV="1">
                <a:off x="6026040" y="2238840"/>
                <a:ext cx="90360" cy="3456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8" name="Line 279"/>
              <p:cNvSpPr/>
              <p:nvPr/>
            </p:nvSpPr>
            <p:spPr>
              <a:xfrm>
                <a:off x="5911560" y="2300040"/>
                <a:ext cx="110880" cy="4680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39" name="Line 280"/>
              <p:cNvSpPr/>
              <p:nvPr/>
            </p:nvSpPr>
            <p:spPr>
              <a:xfrm flipV="1">
                <a:off x="6026040" y="2309400"/>
                <a:ext cx="111240" cy="4140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40" name="Line 281"/>
              <p:cNvSpPr/>
              <p:nvPr/>
            </p:nvSpPr>
            <p:spPr>
              <a:xfrm flipV="1">
                <a:off x="6026040" y="2175840"/>
                <a:ext cx="56880" cy="1656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41" name="Line 282"/>
              <p:cNvSpPr/>
              <p:nvPr/>
            </p:nvSpPr>
            <p:spPr>
              <a:xfrm flipV="1">
                <a:off x="6026040" y="2088720"/>
                <a:ext cx="35640" cy="1332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42" name="Line 283"/>
              <p:cNvSpPr/>
              <p:nvPr/>
            </p:nvSpPr>
            <p:spPr>
              <a:xfrm>
                <a:off x="5961960" y="2170080"/>
                <a:ext cx="69120" cy="2232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43" name="Line 284"/>
              <p:cNvSpPr/>
              <p:nvPr/>
            </p:nvSpPr>
            <p:spPr>
              <a:xfrm>
                <a:off x="5992560" y="2085120"/>
                <a:ext cx="39960" cy="22320"/>
              </a:xfrm>
              <a:prstGeom prst="line">
                <a:avLst/>
              </a:prstGeom>
              <a:ln w="1905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pic>
          <p:nvPicPr>
            <p:cNvPr id="444" name="Picture 1472" descr="cell_tower_radiation copy"/>
            <p:cNvPicPr/>
            <p:nvPr/>
          </p:nvPicPr>
          <p:blipFill>
            <a:blip r:embed="rId11"/>
            <a:stretch/>
          </p:blipFill>
          <p:spPr>
            <a:xfrm>
              <a:off x="5805360" y="1833480"/>
              <a:ext cx="456840" cy="332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5" name="Oval 1473"/>
            <p:cNvSpPr/>
            <p:nvPr/>
          </p:nvSpPr>
          <p:spPr>
            <a:xfrm>
              <a:off x="5999040" y="1968480"/>
              <a:ext cx="52200" cy="489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446" name="Group 1474"/>
          <p:cNvGrpSpPr/>
          <p:nvPr/>
        </p:nvGrpSpPr>
        <p:grpSpPr>
          <a:xfrm>
            <a:off x="7985160" y="4991040"/>
            <a:ext cx="226440" cy="480960"/>
            <a:chOff x="7985160" y="4991040"/>
            <a:chExt cx="226440" cy="480960"/>
          </a:xfrm>
        </p:grpSpPr>
        <p:sp>
          <p:nvSpPr>
            <p:cNvPr id="447" name="Freeform 1475"/>
            <p:cNvSpPr/>
            <p:nvPr/>
          </p:nvSpPr>
          <p:spPr>
            <a:xfrm>
              <a:off x="8164800" y="4991760"/>
              <a:ext cx="44640" cy="458640"/>
            </a:xfrm>
            <a:custGeom>
              <a:avLst/>
              <a:gdLst/>
              <a:ahLst/>
              <a:cxnLst/>
              <a:rect l="l" t="t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48" name="Rectangle 1476"/>
            <p:cNvSpPr/>
            <p:nvPr/>
          </p:nvSpPr>
          <p:spPr>
            <a:xfrm>
              <a:off x="7996320" y="4991040"/>
              <a:ext cx="166320" cy="45828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49" name="Freeform 1477"/>
            <p:cNvSpPr/>
            <p:nvPr/>
          </p:nvSpPr>
          <p:spPr>
            <a:xfrm>
              <a:off x="8173440" y="5019480"/>
              <a:ext cx="26640" cy="424080"/>
            </a:xfrm>
            <a:custGeom>
              <a:avLst/>
              <a:gdLst/>
              <a:ahLst/>
              <a:cxnLst/>
              <a:rect l="l" t="t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50" name="Freeform 1478"/>
            <p:cNvSpPr/>
            <p:nvPr/>
          </p:nvSpPr>
          <p:spPr>
            <a:xfrm>
              <a:off x="8167320" y="5234040"/>
              <a:ext cx="41400" cy="37440"/>
            </a:xfrm>
            <a:custGeom>
              <a:avLst/>
              <a:gdLst/>
              <a:ahLst/>
              <a:cxnLst/>
              <a:rect l="l" t="t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51" name="Rectangle 1479"/>
            <p:cNvSpPr/>
            <p:nvPr/>
          </p:nvSpPr>
          <p:spPr>
            <a:xfrm>
              <a:off x="7996320" y="5043600"/>
              <a:ext cx="95040" cy="9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52" name="Group 1480"/>
            <p:cNvGrpSpPr/>
            <p:nvPr/>
          </p:nvGrpSpPr>
          <p:grpSpPr>
            <a:xfrm>
              <a:off x="8082000" y="5038560"/>
              <a:ext cx="91800" cy="29880"/>
              <a:chOff x="8082000" y="5038560"/>
              <a:chExt cx="91800" cy="29880"/>
            </a:xfrm>
          </p:grpSpPr>
          <p:sp>
            <p:nvSpPr>
              <p:cNvPr id="453" name="AutoShape 1481"/>
              <p:cNvSpPr/>
              <p:nvPr/>
            </p:nvSpPr>
            <p:spPr>
              <a:xfrm>
                <a:off x="8082000" y="5038560"/>
                <a:ext cx="91800" cy="2988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54" name="AutoShape 1482"/>
              <p:cNvSpPr/>
              <p:nvPr/>
            </p:nvSpPr>
            <p:spPr>
              <a:xfrm>
                <a:off x="8083440" y="5041800"/>
                <a:ext cx="88560" cy="234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55" name="Rectangle 1483"/>
            <p:cNvSpPr/>
            <p:nvPr/>
          </p:nvSpPr>
          <p:spPr>
            <a:xfrm>
              <a:off x="7997760" y="5110200"/>
              <a:ext cx="95040" cy="9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56" name="Group 1484"/>
            <p:cNvGrpSpPr/>
            <p:nvPr/>
          </p:nvGrpSpPr>
          <p:grpSpPr>
            <a:xfrm>
              <a:off x="8082000" y="5103720"/>
              <a:ext cx="91800" cy="26640"/>
              <a:chOff x="8082000" y="5103720"/>
              <a:chExt cx="91800" cy="26640"/>
            </a:xfrm>
          </p:grpSpPr>
          <p:sp>
            <p:nvSpPr>
              <p:cNvPr id="457" name="AutoShape 1485"/>
              <p:cNvSpPr/>
              <p:nvPr/>
            </p:nvSpPr>
            <p:spPr>
              <a:xfrm>
                <a:off x="8082000" y="5103720"/>
                <a:ext cx="91800" cy="266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58" name="AutoShape 1486"/>
              <p:cNvSpPr/>
              <p:nvPr/>
            </p:nvSpPr>
            <p:spPr>
              <a:xfrm>
                <a:off x="8083440" y="5106960"/>
                <a:ext cx="88560" cy="2052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59" name="Rectangle 1487"/>
            <p:cNvSpPr/>
            <p:nvPr/>
          </p:nvSpPr>
          <p:spPr>
            <a:xfrm>
              <a:off x="7997760" y="5176800"/>
              <a:ext cx="95040" cy="9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60" name="Rectangle 1488"/>
            <p:cNvSpPr/>
            <p:nvPr/>
          </p:nvSpPr>
          <p:spPr>
            <a:xfrm>
              <a:off x="7999560" y="5237280"/>
              <a:ext cx="95040" cy="9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61" name="Group 1489"/>
            <p:cNvGrpSpPr/>
            <p:nvPr/>
          </p:nvGrpSpPr>
          <p:grpSpPr>
            <a:xfrm>
              <a:off x="8080560" y="5234040"/>
              <a:ext cx="91800" cy="28080"/>
              <a:chOff x="8080560" y="5234040"/>
              <a:chExt cx="91800" cy="28080"/>
            </a:xfrm>
          </p:grpSpPr>
          <p:sp>
            <p:nvSpPr>
              <p:cNvPr id="462" name="AutoShape 1490"/>
              <p:cNvSpPr/>
              <p:nvPr/>
            </p:nvSpPr>
            <p:spPr>
              <a:xfrm>
                <a:off x="8080560" y="5234040"/>
                <a:ext cx="91800" cy="2808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63" name="AutoShape 1491"/>
              <p:cNvSpPr/>
              <p:nvPr/>
            </p:nvSpPr>
            <p:spPr>
              <a:xfrm>
                <a:off x="8082000" y="5235480"/>
                <a:ext cx="88560" cy="234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64" name="Freeform 1492"/>
            <p:cNvSpPr/>
            <p:nvPr/>
          </p:nvSpPr>
          <p:spPr>
            <a:xfrm>
              <a:off x="8168040" y="5176800"/>
              <a:ext cx="41400" cy="37440"/>
            </a:xfrm>
            <a:custGeom>
              <a:avLst/>
              <a:gdLst/>
              <a:ahLst/>
              <a:cxnLst/>
              <a:rect l="l" t="t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65" name="Group 1493"/>
            <p:cNvGrpSpPr/>
            <p:nvPr/>
          </p:nvGrpSpPr>
          <p:grpSpPr>
            <a:xfrm>
              <a:off x="8080560" y="5172120"/>
              <a:ext cx="93240" cy="26640"/>
              <a:chOff x="8080560" y="5172120"/>
              <a:chExt cx="93240" cy="26640"/>
            </a:xfrm>
          </p:grpSpPr>
          <p:sp>
            <p:nvSpPr>
              <p:cNvPr id="466" name="AutoShape 1494"/>
              <p:cNvSpPr/>
              <p:nvPr/>
            </p:nvSpPr>
            <p:spPr>
              <a:xfrm>
                <a:off x="8080560" y="5172120"/>
                <a:ext cx="93240" cy="266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67" name="AutoShape 1495"/>
              <p:cNvSpPr/>
              <p:nvPr/>
            </p:nvSpPr>
            <p:spPr>
              <a:xfrm>
                <a:off x="8082000" y="5175360"/>
                <a:ext cx="91800" cy="2016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68" name="Rectangle 1496"/>
            <p:cNvSpPr/>
            <p:nvPr/>
          </p:nvSpPr>
          <p:spPr>
            <a:xfrm>
              <a:off x="8161200" y="4991040"/>
              <a:ext cx="10800" cy="45828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69" name="Freeform 1497"/>
            <p:cNvSpPr/>
            <p:nvPr/>
          </p:nvSpPr>
          <p:spPr>
            <a:xfrm>
              <a:off x="8172000" y="5106960"/>
              <a:ext cx="37440" cy="42480"/>
            </a:xfrm>
            <a:custGeom>
              <a:avLst/>
              <a:gdLst/>
              <a:ahLst/>
              <a:cxnLst/>
              <a:rect l="l" t="t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70" name="Freeform 1498"/>
            <p:cNvSpPr/>
            <p:nvPr/>
          </p:nvSpPr>
          <p:spPr>
            <a:xfrm>
              <a:off x="8172360" y="5041440"/>
              <a:ext cx="38520" cy="47880"/>
            </a:xfrm>
            <a:custGeom>
              <a:avLst/>
              <a:gdLst/>
              <a:ahLst/>
              <a:cxnLst/>
              <a:rect l="l" t="t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71" name="Oval 1499"/>
            <p:cNvSpPr/>
            <p:nvPr/>
          </p:nvSpPr>
          <p:spPr>
            <a:xfrm>
              <a:off x="8204040" y="5429160"/>
              <a:ext cx="7560" cy="1872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72" name="Freeform 1500"/>
            <p:cNvSpPr/>
            <p:nvPr/>
          </p:nvSpPr>
          <p:spPr>
            <a:xfrm>
              <a:off x="8170200" y="5429880"/>
              <a:ext cx="38520" cy="39960"/>
            </a:xfrm>
            <a:custGeom>
              <a:avLst/>
              <a:gdLst/>
              <a:ahLst/>
              <a:cxnLst/>
              <a:rect l="l" t="t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73" name="AutoShape 1501"/>
            <p:cNvSpPr/>
            <p:nvPr/>
          </p:nvSpPr>
          <p:spPr>
            <a:xfrm>
              <a:off x="7985160" y="5442120"/>
              <a:ext cx="190080" cy="2988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74" name="AutoShape 1502"/>
            <p:cNvSpPr/>
            <p:nvPr/>
          </p:nvSpPr>
          <p:spPr>
            <a:xfrm>
              <a:off x="7996320" y="5449680"/>
              <a:ext cx="169560" cy="154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75" name="Oval 1503"/>
            <p:cNvSpPr/>
            <p:nvPr/>
          </p:nvSpPr>
          <p:spPr>
            <a:xfrm>
              <a:off x="8012160" y="5383080"/>
              <a:ext cx="24840" cy="280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76" name="Oval 1504"/>
            <p:cNvSpPr/>
            <p:nvPr/>
          </p:nvSpPr>
          <p:spPr>
            <a:xfrm>
              <a:off x="8040600" y="5383080"/>
              <a:ext cx="24840" cy="2808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77" name="Oval 1505"/>
            <p:cNvSpPr/>
            <p:nvPr/>
          </p:nvSpPr>
          <p:spPr>
            <a:xfrm>
              <a:off x="8067600" y="5383080"/>
              <a:ext cx="24840" cy="280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78" name="Rectangle 1506"/>
            <p:cNvSpPr/>
            <p:nvPr/>
          </p:nvSpPr>
          <p:spPr>
            <a:xfrm>
              <a:off x="8132760" y="5273640"/>
              <a:ext cx="12240" cy="15192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479" name="Group 1507"/>
          <p:cNvGrpSpPr/>
          <p:nvPr/>
        </p:nvGrpSpPr>
        <p:grpSpPr>
          <a:xfrm>
            <a:off x="7669080" y="5292720"/>
            <a:ext cx="226800" cy="480960"/>
            <a:chOff x="7669080" y="5292720"/>
            <a:chExt cx="226800" cy="480960"/>
          </a:xfrm>
        </p:grpSpPr>
        <p:sp>
          <p:nvSpPr>
            <p:cNvPr id="480" name="Freeform 1508"/>
            <p:cNvSpPr/>
            <p:nvPr/>
          </p:nvSpPr>
          <p:spPr>
            <a:xfrm>
              <a:off x="7849080" y="5293440"/>
              <a:ext cx="44640" cy="458640"/>
            </a:xfrm>
            <a:custGeom>
              <a:avLst/>
              <a:gdLst/>
              <a:ahLst/>
              <a:cxnLst/>
              <a:rect l="l" t="t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81" name="Rectangle 1509"/>
            <p:cNvSpPr/>
            <p:nvPr/>
          </p:nvSpPr>
          <p:spPr>
            <a:xfrm>
              <a:off x="7680240" y="5292720"/>
              <a:ext cx="166320" cy="458280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82" name="Freeform 1510"/>
            <p:cNvSpPr/>
            <p:nvPr/>
          </p:nvSpPr>
          <p:spPr>
            <a:xfrm>
              <a:off x="7857360" y="5321160"/>
              <a:ext cx="26640" cy="424080"/>
            </a:xfrm>
            <a:custGeom>
              <a:avLst/>
              <a:gdLst/>
              <a:ahLst/>
              <a:cxnLst/>
              <a:rect l="l" t="t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83" name="Freeform 1511"/>
            <p:cNvSpPr/>
            <p:nvPr/>
          </p:nvSpPr>
          <p:spPr>
            <a:xfrm>
              <a:off x="7851600" y="5535720"/>
              <a:ext cx="41400" cy="37440"/>
            </a:xfrm>
            <a:custGeom>
              <a:avLst/>
              <a:gdLst/>
              <a:ahLst/>
              <a:cxnLst/>
              <a:rect l="l" t="t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84" name="Rectangle 1512"/>
            <p:cNvSpPr/>
            <p:nvPr/>
          </p:nvSpPr>
          <p:spPr>
            <a:xfrm>
              <a:off x="7680240" y="5345280"/>
              <a:ext cx="95040" cy="9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85" name="Group 1513"/>
            <p:cNvGrpSpPr/>
            <p:nvPr/>
          </p:nvGrpSpPr>
          <p:grpSpPr>
            <a:xfrm>
              <a:off x="7766280" y="5340240"/>
              <a:ext cx="91800" cy="29880"/>
              <a:chOff x="7766280" y="5340240"/>
              <a:chExt cx="91800" cy="29880"/>
            </a:xfrm>
          </p:grpSpPr>
          <p:sp>
            <p:nvSpPr>
              <p:cNvPr id="486" name="AutoShape 1514"/>
              <p:cNvSpPr/>
              <p:nvPr/>
            </p:nvSpPr>
            <p:spPr>
              <a:xfrm>
                <a:off x="7766280" y="5340240"/>
                <a:ext cx="91800" cy="2988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87" name="AutoShape 1515"/>
              <p:cNvSpPr/>
              <p:nvPr/>
            </p:nvSpPr>
            <p:spPr>
              <a:xfrm>
                <a:off x="7767720" y="5343480"/>
                <a:ext cx="88560" cy="234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88" name="Rectangle 1516"/>
            <p:cNvSpPr/>
            <p:nvPr/>
          </p:nvSpPr>
          <p:spPr>
            <a:xfrm>
              <a:off x="7682040" y="5411880"/>
              <a:ext cx="95040" cy="9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89" name="Group 1517"/>
            <p:cNvGrpSpPr/>
            <p:nvPr/>
          </p:nvGrpSpPr>
          <p:grpSpPr>
            <a:xfrm>
              <a:off x="7765920" y="5405400"/>
              <a:ext cx="91800" cy="26640"/>
              <a:chOff x="7765920" y="5405400"/>
              <a:chExt cx="91800" cy="26640"/>
            </a:xfrm>
          </p:grpSpPr>
          <p:sp>
            <p:nvSpPr>
              <p:cNvPr id="490" name="AutoShape 1518"/>
              <p:cNvSpPr/>
              <p:nvPr/>
            </p:nvSpPr>
            <p:spPr>
              <a:xfrm>
                <a:off x="7765920" y="5405400"/>
                <a:ext cx="91800" cy="266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91" name="AutoShape 1519"/>
              <p:cNvSpPr/>
              <p:nvPr/>
            </p:nvSpPr>
            <p:spPr>
              <a:xfrm>
                <a:off x="7767720" y="5408640"/>
                <a:ext cx="88560" cy="2052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92" name="Rectangle 1520"/>
            <p:cNvSpPr/>
            <p:nvPr/>
          </p:nvSpPr>
          <p:spPr>
            <a:xfrm>
              <a:off x="7682040" y="5478480"/>
              <a:ext cx="95040" cy="9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93" name="Rectangle 1521"/>
            <p:cNvSpPr/>
            <p:nvPr/>
          </p:nvSpPr>
          <p:spPr>
            <a:xfrm>
              <a:off x="7683480" y="5538960"/>
              <a:ext cx="95040" cy="90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94" name="Group 1522"/>
            <p:cNvGrpSpPr/>
            <p:nvPr/>
          </p:nvGrpSpPr>
          <p:grpSpPr>
            <a:xfrm>
              <a:off x="7764480" y="5535720"/>
              <a:ext cx="91800" cy="28080"/>
              <a:chOff x="7764480" y="5535720"/>
              <a:chExt cx="91800" cy="28080"/>
            </a:xfrm>
          </p:grpSpPr>
          <p:sp>
            <p:nvSpPr>
              <p:cNvPr id="495" name="AutoShape 1523"/>
              <p:cNvSpPr/>
              <p:nvPr/>
            </p:nvSpPr>
            <p:spPr>
              <a:xfrm>
                <a:off x="7764480" y="5535720"/>
                <a:ext cx="91800" cy="2808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496" name="AutoShape 1524"/>
              <p:cNvSpPr/>
              <p:nvPr/>
            </p:nvSpPr>
            <p:spPr>
              <a:xfrm>
                <a:off x="7765920" y="5537160"/>
                <a:ext cx="88560" cy="2340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497" name="Freeform 1525"/>
            <p:cNvSpPr/>
            <p:nvPr/>
          </p:nvSpPr>
          <p:spPr>
            <a:xfrm>
              <a:off x="7851960" y="5478480"/>
              <a:ext cx="41400" cy="37440"/>
            </a:xfrm>
            <a:custGeom>
              <a:avLst/>
              <a:gdLst/>
              <a:ahLst/>
              <a:cxnLst/>
              <a:rect l="l" t="t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498" name="Group 1526"/>
            <p:cNvGrpSpPr/>
            <p:nvPr/>
          </p:nvGrpSpPr>
          <p:grpSpPr>
            <a:xfrm>
              <a:off x="7764480" y="5473440"/>
              <a:ext cx="93240" cy="26640"/>
              <a:chOff x="7764480" y="5473440"/>
              <a:chExt cx="93240" cy="26640"/>
            </a:xfrm>
          </p:grpSpPr>
          <p:sp>
            <p:nvSpPr>
              <p:cNvPr id="499" name="AutoShape 1527"/>
              <p:cNvSpPr/>
              <p:nvPr/>
            </p:nvSpPr>
            <p:spPr>
              <a:xfrm>
                <a:off x="7764480" y="5473440"/>
                <a:ext cx="93240" cy="266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00" name="AutoShape 1528"/>
              <p:cNvSpPr/>
              <p:nvPr/>
            </p:nvSpPr>
            <p:spPr>
              <a:xfrm>
                <a:off x="7765920" y="5476680"/>
                <a:ext cx="91800" cy="2016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501" name="Rectangle 1529"/>
            <p:cNvSpPr/>
            <p:nvPr/>
          </p:nvSpPr>
          <p:spPr>
            <a:xfrm>
              <a:off x="7845480" y="5292720"/>
              <a:ext cx="10800" cy="458280"/>
            </a:xfrm>
            <a:prstGeom prst="rect">
              <a:avLst/>
            </a:prstGeom>
            <a:gradFill rotWithShape="0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02" name="Freeform 1530"/>
            <p:cNvSpPr/>
            <p:nvPr/>
          </p:nvSpPr>
          <p:spPr>
            <a:xfrm>
              <a:off x="7855920" y="5408640"/>
              <a:ext cx="37440" cy="42480"/>
            </a:xfrm>
            <a:custGeom>
              <a:avLst/>
              <a:gdLst/>
              <a:ahLst/>
              <a:cxnLst/>
              <a:rect l="l" t="t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03" name="Freeform 1531"/>
            <p:cNvSpPr/>
            <p:nvPr/>
          </p:nvSpPr>
          <p:spPr>
            <a:xfrm>
              <a:off x="7856280" y="5343120"/>
              <a:ext cx="38520" cy="47880"/>
            </a:xfrm>
            <a:custGeom>
              <a:avLst/>
              <a:gdLst/>
              <a:ahLst/>
              <a:cxnLst/>
              <a:rect l="l" t="t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04" name="Oval 1532"/>
            <p:cNvSpPr/>
            <p:nvPr/>
          </p:nvSpPr>
          <p:spPr>
            <a:xfrm>
              <a:off x="7888320" y="5730840"/>
              <a:ext cx="7560" cy="18720"/>
            </a:xfrm>
            <a:prstGeom prst="ellipse">
              <a:avLst/>
            </a:prstGeom>
            <a:solidFill>
              <a:srgbClr val="3333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05" name="Freeform 1533"/>
            <p:cNvSpPr/>
            <p:nvPr/>
          </p:nvSpPr>
          <p:spPr>
            <a:xfrm>
              <a:off x="7854480" y="5731200"/>
              <a:ext cx="38520" cy="39960"/>
            </a:xfrm>
            <a:custGeom>
              <a:avLst/>
              <a:gdLst/>
              <a:ahLst/>
              <a:cxnLst/>
              <a:rect l="l" t="t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06" name="AutoShape 1534"/>
            <p:cNvSpPr/>
            <p:nvPr/>
          </p:nvSpPr>
          <p:spPr>
            <a:xfrm>
              <a:off x="7669080" y="5743800"/>
              <a:ext cx="190080" cy="2988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07" name="AutoShape 1535"/>
            <p:cNvSpPr/>
            <p:nvPr/>
          </p:nvSpPr>
          <p:spPr>
            <a:xfrm>
              <a:off x="7680240" y="5751360"/>
              <a:ext cx="169560" cy="154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/>
            </a:gra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08" name="Oval 1536"/>
            <p:cNvSpPr/>
            <p:nvPr/>
          </p:nvSpPr>
          <p:spPr>
            <a:xfrm>
              <a:off x="7696080" y="5684760"/>
              <a:ext cx="24840" cy="280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09" name="Oval 1537"/>
            <p:cNvSpPr/>
            <p:nvPr/>
          </p:nvSpPr>
          <p:spPr>
            <a:xfrm>
              <a:off x="7724880" y="5684760"/>
              <a:ext cx="24840" cy="28080"/>
            </a:xfrm>
            <a:prstGeom prst="ellipse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10" name="Oval 1538"/>
            <p:cNvSpPr/>
            <p:nvPr/>
          </p:nvSpPr>
          <p:spPr>
            <a:xfrm>
              <a:off x="7751880" y="5684760"/>
              <a:ext cx="24840" cy="28080"/>
            </a:xfrm>
            <a:prstGeom prst="ellipse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11" name="Rectangle 1539"/>
            <p:cNvSpPr/>
            <p:nvPr/>
          </p:nvSpPr>
          <p:spPr>
            <a:xfrm>
              <a:off x="7817040" y="5575320"/>
              <a:ext cx="12240" cy="15192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512" name="Group 1540"/>
          <p:cNvGrpSpPr/>
          <p:nvPr/>
        </p:nvGrpSpPr>
        <p:grpSpPr>
          <a:xfrm>
            <a:off x="5046840" y="2031840"/>
            <a:ext cx="534600" cy="414360"/>
            <a:chOff x="5046840" y="2031840"/>
            <a:chExt cx="534600" cy="414360"/>
          </a:xfrm>
        </p:grpSpPr>
        <p:pic>
          <p:nvPicPr>
            <p:cNvPr id="513" name="Picture 1541" descr="antenna_stylized"/>
            <p:cNvPicPr/>
            <p:nvPr/>
          </p:nvPicPr>
          <p:blipFill>
            <a:blip r:embed="rId12"/>
            <a:stretch/>
          </p:blipFill>
          <p:spPr>
            <a:xfrm>
              <a:off x="5046840" y="2031840"/>
              <a:ext cx="530280" cy="22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14" name="Picture 1542" descr="laptop_keyboard"/>
            <p:cNvPicPr/>
            <p:nvPr/>
          </p:nvPicPr>
          <p:blipFill>
            <a:blip r:embed="rId13"/>
            <a:stretch/>
          </p:blipFill>
          <p:spPr>
            <a:xfrm rot="109200" flipH="1">
              <a:off x="5072400" y="2280240"/>
              <a:ext cx="437040" cy="159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15" name="Freeform 1543"/>
            <p:cNvSpPr/>
            <p:nvPr/>
          </p:nvSpPr>
          <p:spPr>
            <a:xfrm>
              <a:off x="5217120" y="2125800"/>
              <a:ext cx="351720" cy="207720"/>
            </a:xfrm>
            <a:custGeom>
              <a:avLst/>
              <a:gdLst/>
              <a:ahLst/>
              <a:cxnLst/>
              <a:rect l="l" t="t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pic>
          <p:nvPicPr>
            <p:cNvPr id="516" name="Picture 1544" descr="screen"/>
            <p:cNvPicPr/>
            <p:nvPr/>
          </p:nvPicPr>
          <p:blipFill>
            <a:blip r:embed="rId14"/>
            <a:stretch/>
          </p:blipFill>
          <p:spPr>
            <a:xfrm>
              <a:off x="5234760" y="2131200"/>
              <a:ext cx="319320" cy="189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17" name="Freeform 1545"/>
            <p:cNvSpPr/>
            <p:nvPr/>
          </p:nvSpPr>
          <p:spPr>
            <a:xfrm>
              <a:off x="5281200" y="2119680"/>
              <a:ext cx="297720" cy="38520"/>
            </a:xfrm>
            <a:custGeom>
              <a:avLst/>
              <a:gdLst/>
              <a:ahLst/>
              <a:cxnLst/>
              <a:rect l="l" t="t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18" name="Freeform 1546"/>
            <p:cNvSpPr/>
            <p:nvPr/>
          </p:nvSpPr>
          <p:spPr>
            <a:xfrm>
              <a:off x="5214240" y="2119320"/>
              <a:ext cx="82440" cy="160920"/>
            </a:xfrm>
            <a:custGeom>
              <a:avLst/>
              <a:gdLst/>
              <a:ahLst/>
              <a:cxnLst/>
              <a:rect l="l" t="t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19" name="Freeform 1547"/>
            <p:cNvSpPr/>
            <p:nvPr/>
          </p:nvSpPr>
          <p:spPr>
            <a:xfrm>
              <a:off x="5488200" y="2148120"/>
              <a:ext cx="88920" cy="185760"/>
            </a:xfrm>
            <a:custGeom>
              <a:avLst/>
              <a:gdLst/>
              <a:ahLst/>
              <a:cxnLst/>
              <a:rect l="l" t="t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20" name="Freeform 1548"/>
            <p:cNvSpPr/>
            <p:nvPr/>
          </p:nvSpPr>
          <p:spPr>
            <a:xfrm>
              <a:off x="5213160" y="2272320"/>
              <a:ext cx="326880" cy="62640"/>
            </a:xfrm>
            <a:custGeom>
              <a:avLst/>
              <a:gdLst/>
              <a:ahLst/>
              <a:cxnLst/>
              <a:rect l="l" t="t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21" name="Freeform 1549"/>
            <p:cNvSpPr/>
            <p:nvPr/>
          </p:nvSpPr>
          <p:spPr>
            <a:xfrm>
              <a:off x="5498280" y="2149560"/>
              <a:ext cx="83160" cy="186480"/>
            </a:xfrm>
            <a:custGeom>
              <a:avLst/>
              <a:gdLst/>
              <a:ahLst/>
              <a:cxnLst/>
              <a:rect l="l" t="t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22" name="Freeform 1550"/>
            <p:cNvSpPr/>
            <p:nvPr/>
          </p:nvSpPr>
          <p:spPr>
            <a:xfrm>
              <a:off x="5213520" y="2280600"/>
              <a:ext cx="290520" cy="61560"/>
            </a:xfrm>
            <a:custGeom>
              <a:avLst/>
              <a:gdLst/>
              <a:ahLst/>
              <a:cxnLst/>
              <a:rect l="l" t="t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523" name="Group 1551"/>
            <p:cNvGrpSpPr/>
            <p:nvPr/>
          </p:nvGrpSpPr>
          <p:grpSpPr>
            <a:xfrm>
              <a:off x="5208840" y="2346840"/>
              <a:ext cx="98280" cy="36360"/>
              <a:chOff x="5208840" y="2346840"/>
              <a:chExt cx="98280" cy="36360"/>
            </a:xfrm>
          </p:grpSpPr>
          <p:sp>
            <p:nvSpPr>
              <p:cNvPr id="524" name="Freeform 1552"/>
              <p:cNvSpPr/>
              <p:nvPr/>
            </p:nvSpPr>
            <p:spPr>
              <a:xfrm>
                <a:off x="5208840" y="2346840"/>
                <a:ext cx="9828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25" name="Freeform 1553"/>
              <p:cNvSpPr/>
              <p:nvPr/>
            </p:nvSpPr>
            <p:spPr>
              <a:xfrm>
                <a:off x="5210640" y="2347560"/>
                <a:ext cx="9504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26" name="Freeform 1554"/>
              <p:cNvSpPr/>
              <p:nvPr/>
            </p:nvSpPr>
            <p:spPr>
              <a:xfrm>
                <a:off x="5217480" y="2361240"/>
                <a:ext cx="334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27" name="Freeform 1555"/>
              <p:cNvSpPr/>
              <p:nvPr/>
            </p:nvSpPr>
            <p:spPr>
              <a:xfrm>
                <a:off x="5216400" y="2366640"/>
                <a:ext cx="25200" cy="68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28" name="Freeform 1556"/>
              <p:cNvSpPr/>
              <p:nvPr/>
            </p:nvSpPr>
            <p:spPr>
              <a:xfrm>
                <a:off x="5245560" y="2368440"/>
                <a:ext cx="3348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29" name="Freeform 1557"/>
              <p:cNvSpPr/>
              <p:nvPr/>
            </p:nvSpPr>
            <p:spPr>
              <a:xfrm>
                <a:off x="5244120" y="2373840"/>
                <a:ext cx="25200" cy="68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530" name="Freeform 1558"/>
            <p:cNvSpPr/>
            <p:nvPr/>
          </p:nvSpPr>
          <p:spPr>
            <a:xfrm>
              <a:off x="5377680" y="2352600"/>
              <a:ext cx="119160" cy="80640"/>
            </a:xfrm>
            <a:custGeom>
              <a:avLst/>
              <a:gdLst/>
              <a:ahLst/>
              <a:cxnLst/>
              <a:rect l="l" t="t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31" name="Freeform 1559"/>
            <p:cNvSpPr/>
            <p:nvPr/>
          </p:nvSpPr>
          <p:spPr>
            <a:xfrm>
              <a:off x="5072400" y="2358720"/>
              <a:ext cx="305640" cy="7344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32" name="Freeform 1560"/>
            <p:cNvSpPr/>
            <p:nvPr/>
          </p:nvSpPr>
          <p:spPr>
            <a:xfrm>
              <a:off x="5072760" y="2345400"/>
              <a:ext cx="2880" cy="14760"/>
            </a:xfrm>
            <a:custGeom>
              <a:avLst/>
              <a:gdLst/>
              <a:ahLst/>
              <a:cxnLst/>
              <a:rect l="l" t="t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33" name="Freeform 1561"/>
            <p:cNvSpPr/>
            <p:nvPr/>
          </p:nvSpPr>
          <p:spPr>
            <a:xfrm>
              <a:off x="5073120" y="2284560"/>
              <a:ext cx="141840" cy="61560"/>
            </a:xfrm>
            <a:custGeom>
              <a:avLst/>
              <a:gdLst/>
              <a:ahLst/>
              <a:cxnLst/>
              <a:rect l="l" t="t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34" name="Freeform 1562"/>
            <p:cNvSpPr/>
            <p:nvPr/>
          </p:nvSpPr>
          <p:spPr>
            <a:xfrm>
              <a:off x="5082480" y="2348640"/>
              <a:ext cx="289800" cy="7056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35" name="Freeform 1563"/>
            <p:cNvSpPr/>
            <p:nvPr/>
          </p:nvSpPr>
          <p:spPr>
            <a:xfrm flipV="1">
              <a:off x="5372280" y="2342880"/>
              <a:ext cx="118080" cy="7308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536" name="Group 1564"/>
          <p:cNvGrpSpPr/>
          <p:nvPr/>
        </p:nvGrpSpPr>
        <p:grpSpPr>
          <a:xfrm>
            <a:off x="6616800" y="5475240"/>
            <a:ext cx="474120" cy="414000"/>
            <a:chOff x="6616800" y="5475240"/>
            <a:chExt cx="474120" cy="414000"/>
          </a:xfrm>
        </p:grpSpPr>
        <p:pic>
          <p:nvPicPr>
            <p:cNvPr id="537" name="Picture 1565" descr="antenna_stylized"/>
            <p:cNvPicPr/>
            <p:nvPr/>
          </p:nvPicPr>
          <p:blipFill>
            <a:blip r:embed="rId15"/>
            <a:stretch/>
          </p:blipFill>
          <p:spPr>
            <a:xfrm>
              <a:off x="6616800" y="5475240"/>
              <a:ext cx="470520" cy="22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38" name="Picture 1566" descr="laptop_keyboard"/>
            <p:cNvPicPr/>
            <p:nvPr/>
          </p:nvPicPr>
          <p:blipFill>
            <a:blip r:embed="rId16"/>
            <a:stretch/>
          </p:blipFill>
          <p:spPr>
            <a:xfrm rot="109200" flipH="1">
              <a:off x="6639480" y="5723640"/>
              <a:ext cx="387720" cy="159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39" name="Freeform 1567"/>
            <p:cNvSpPr/>
            <p:nvPr/>
          </p:nvSpPr>
          <p:spPr>
            <a:xfrm>
              <a:off x="6768000" y="5568840"/>
              <a:ext cx="311760" cy="207720"/>
            </a:xfrm>
            <a:custGeom>
              <a:avLst/>
              <a:gdLst/>
              <a:ahLst/>
              <a:cxnLst/>
              <a:rect l="l" t="t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pic>
          <p:nvPicPr>
            <p:cNvPr id="540" name="Picture 1568" descr="screen"/>
            <p:cNvPicPr/>
            <p:nvPr/>
          </p:nvPicPr>
          <p:blipFill>
            <a:blip r:embed="rId17"/>
            <a:stretch/>
          </p:blipFill>
          <p:spPr>
            <a:xfrm>
              <a:off x="6783480" y="5574240"/>
              <a:ext cx="283320" cy="189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41" name="Freeform 1569"/>
            <p:cNvSpPr/>
            <p:nvPr/>
          </p:nvSpPr>
          <p:spPr>
            <a:xfrm>
              <a:off x="6824880" y="5562720"/>
              <a:ext cx="264240" cy="38520"/>
            </a:xfrm>
            <a:custGeom>
              <a:avLst/>
              <a:gdLst/>
              <a:ahLst/>
              <a:cxnLst/>
              <a:rect l="l" t="t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42" name="Freeform 1570"/>
            <p:cNvSpPr/>
            <p:nvPr/>
          </p:nvSpPr>
          <p:spPr>
            <a:xfrm>
              <a:off x="6765480" y="5562360"/>
              <a:ext cx="73080" cy="160920"/>
            </a:xfrm>
            <a:custGeom>
              <a:avLst/>
              <a:gdLst/>
              <a:ahLst/>
              <a:cxnLst/>
              <a:rect l="l" t="t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43" name="Freeform 1571"/>
            <p:cNvSpPr/>
            <p:nvPr/>
          </p:nvSpPr>
          <p:spPr>
            <a:xfrm>
              <a:off x="7008480" y="5591160"/>
              <a:ext cx="78840" cy="185760"/>
            </a:xfrm>
            <a:custGeom>
              <a:avLst/>
              <a:gdLst/>
              <a:ahLst/>
              <a:cxnLst/>
              <a:rect l="l" t="t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44" name="Freeform 1572"/>
            <p:cNvSpPr/>
            <p:nvPr/>
          </p:nvSpPr>
          <p:spPr>
            <a:xfrm>
              <a:off x="6764400" y="5715720"/>
              <a:ext cx="289800" cy="62640"/>
            </a:xfrm>
            <a:custGeom>
              <a:avLst/>
              <a:gdLst/>
              <a:ahLst/>
              <a:cxnLst/>
              <a:rect l="l" t="t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45" name="Freeform 1573"/>
            <p:cNvSpPr/>
            <p:nvPr/>
          </p:nvSpPr>
          <p:spPr>
            <a:xfrm>
              <a:off x="7017120" y="5592960"/>
              <a:ext cx="73800" cy="186480"/>
            </a:xfrm>
            <a:custGeom>
              <a:avLst/>
              <a:gdLst/>
              <a:ahLst/>
              <a:cxnLst/>
              <a:rect l="l" t="t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46" name="Freeform 1574"/>
            <p:cNvSpPr/>
            <p:nvPr/>
          </p:nvSpPr>
          <p:spPr>
            <a:xfrm>
              <a:off x="6764760" y="5724000"/>
              <a:ext cx="257760" cy="61560"/>
            </a:xfrm>
            <a:custGeom>
              <a:avLst/>
              <a:gdLst/>
              <a:ahLst/>
              <a:cxnLst/>
              <a:rect l="l" t="t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547" name="Group 1575"/>
            <p:cNvGrpSpPr/>
            <p:nvPr/>
          </p:nvGrpSpPr>
          <p:grpSpPr>
            <a:xfrm>
              <a:off x="6760440" y="5790240"/>
              <a:ext cx="87120" cy="36360"/>
              <a:chOff x="6760440" y="5790240"/>
              <a:chExt cx="87120" cy="36360"/>
            </a:xfrm>
          </p:grpSpPr>
          <p:sp>
            <p:nvSpPr>
              <p:cNvPr id="548" name="Freeform 1576"/>
              <p:cNvSpPr/>
              <p:nvPr/>
            </p:nvSpPr>
            <p:spPr>
              <a:xfrm>
                <a:off x="6760440" y="5790240"/>
                <a:ext cx="8712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49" name="Freeform 1577"/>
              <p:cNvSpPr/>
              <p:nvPr/>
            </p:nvSpPr>
            <p:spPr>
              <a:xfrm>
                <a:off x="6762240" y="5790960"/>
                <a:ext cx="8424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50" name="Freeform 1578"/>
              <p:cNvSpPr/>
              <p:nvPr/>
            </p:nvSpPr>
            <p:spPr>
              <a:xfrm>
                <a:off x="6768360" y="5804640"/>
                <a:ext cx="29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51" name="Freeform 1579"/>
              <p:cNvSpPr/>
              <p:nvPr/>
            </p:nvSpPr>
            <p:spPr>
              <a:xfrm>
                <a:off x="6767280" y="5809680"/>
                <a:ext cx="22320" cy="68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52" name="Freeform 1580"/>
              <p:cNvSpPr/>
              <p:nvPr/>
            </p:nvSpPr>
            <p:spPr>
              <a:xfrm>
                <a:off x="6793200" y="5811840"/>
                <a:ext cx="295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53" name="Freeform 1581"/>
              <p:cNvSpPr/>
              <p:nvPr/>
            </p:nvSpPr>
            <p:spPr>
              <a:xfrm>
                <a:off x="6792120" y="5817240"/>
                <a:ext cx="22320" cy="68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554" name="Freeform 1582"/>
            <p:cNvSpPr/>
            <p:nvPr/>
          </p:nvSpPr>
          <p:spPr>
            <a:xfrm>
              <a:off x="6910560" y="5795640"/>
              <a:ext cx="105840" cy="80640"/>
            </a:xfrm>
            <a:custGeom>
              <a:avLst/>
              <a:gdLst/>
              <a:ahLst/>
              <a:cxnLst/>
              <a:rect l="l" t="t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55" name="Freeform 1583"/>
            <p:cNvSpPr/>
            <p:nvPr/>
          </p:nvSpPr>
          <p:spPr>
            <a:xfrm>
              <a:off x="6639840" y="5802120"/>
              <a:ext cx="271080" cy="7344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56" name="Freeform 1584"/>
            <p:cNvSpPr/>
            <p:nvPr/>
          </p:nvSpPr>
          <p:spPr>
            <a:xfrm>
              <a:off x="6639840" y="5788800"/>
              <a:ext cx="2520" cy="14760"/>
            </a:xfrm>
            <a:custGeom>
              <a:avLst/>
              <a:gdLst/>
              <a:ahLst/>
              <a:cxnLst/>
              <a:rect l="l" t="t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57" name="Freeform 1585"/>
            <p:cNvSpPr/>
            <p:nvPr/>
          </p:nvSpPr>
          <p:spPr>
            <a:xfrm>
              <a:off x="6640200" y="5727600"/>
              <a:ext cx="125640" cy="61560"/>
            </a:xfrm>
            <a:custGeom>
              <a:avLst/>
              <a:gdLst/>
              <a:ahLst/>
              <a:cxnLst/>
              <a:rect l="l" t="t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58" name="Freeform 1586"/>
            <p:cNvSpPr/>
            <p:nvPr/>
          </p:nvSpPr>
          <p:spPr>
            <a:xfrm>
              <a:off x="6648480" y="5791680"/>
              <a:ext cx="257040" cy="7056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59" name="Freeform 1587"/>
            <p:cNvSpPr/>
            <p:nvPr/>
          </p:nvSpPr>
          <p:spPr>
            <a:xfrm flipV="1">
              <a:off x="6905520" y="5785920"/>
              <a:ext cx="104760" cy="7308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560" name="Group 1588"/>
          <p:cNvGrpSpPr/>
          <p:nvPr/>
        </p:nvGrpSpPr>
        <p:grpSpPr>
          <a:xfrm>
            <a:off x="5305320" y="3030480"/>
            <a:ext cx="444240" cy="413280"/>
            <a:chOff x="5305320" y="3030480"/>
            <a:chExt cx="444240" cy="413280"/>
          </a:xfrm>
        </p:grpSpPr>
        <p:pic>
          <p:nvPicPr>
            <p:cNvPr id="561" name="Picture 1589" descr="antenna_stylized"/>
            <p:cNvPicPr/>
            <p:nvPr/>
          </p:nvPicPr>
          <p:blipFill>
            <a:blip r:embed="rId18"/>
            <a:stretch/>
          </p:blipFill>
          <p:spPr>
            <a:xfrm>
              <a:off x="5305320" y="3030480"/>
              <a:ext cx="440640" cy="22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62" name="Picture 1590" descr="laptop_keyboard"/>
            <p:cNvPicPr/>
            <p:nvPr/>
          </p:nvPicPr>
          <p:blipFill>
            <a:blip r:embed="rId19"/>
            <a:stretch/>
          </p:blipFill>
          <p:spPr>
            <a:xfrm rot="109200" flipH="1">
              <a:off x="5326920" y="3278520"/>
              <a:ext cx="362880" cy="159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63" name="Freeform 1591"/>
            <p:cNvSpPr/>
            <p:nvPr/>
          </p:nvSpPr>
          <p:spPr>
            <a:xfrm>
              <a:off x="5447160" y="3124080"/>
              <a:ext cx="291960" cy="207720"/>
            </a:xfrm>
            <a:custGeom>
              <a:avLst/>
              <a:gdLst/>
              <a:ahLst/>
              <a:cxnLst/>
              <a:rect l="l" t="t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pic>
          <p:nvPicPr>
            <p:cNvPr id="564" name="Picture 1592" descr="screen"/>
            <p:cNvPicPr/>
            <p:nvPr/>
          </p:nvPicPr>
          <p:blipFill>
            <a:blip r:embed="rId20"/>
            <a:stretch/>
          </p:blipFill>
          <p:spPr>
            <a:xfrm>
              <a:off x="5461560" y="3129480"/>
              <a:ext cx="265320" cy="189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65" name="Freeform 1593"/>
            <p:cNvSpPr/>
            <p:nvPr/>
          </p:nvSpPr>
          <p:spPr>
            <a:xfrm>
              <a:off x="5500440" y="3117960"/>
              <a:ext cx="247320" cy="38520"/>
            </a:xfrm>
            <a:custGeom>
              <a:avLst/>
              <a:gdLst/>
              <a:ahLst/>
              <a:cxnLst/>
              <a:rect l="l" t="t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66" name="Freeform 1594"/>
            <p:cNvSpPr/>
            <p:nvPr/>
          </p:nvSpPr>
          <p:spPr>
            <a:xfrm>
              <a:off x="5444640" y="3117600"/>
              <a:ext cx="68400" cy="160920"/>
            </a:xfrm>
            <a:custGeom>
              <a:avLst/>
              <a:gdLst/>
              <a:ahLst/>
              <a:cxnLst/>
              <a:rect l="l" t="t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67" name="Freeform 1595"/>
            <p:cNvSpPr/>
            <p:nvPr/>
          </p:nvSpPr>
          <p:spPr>
            <a:xfrm>
              <a:off x="5672160" y="3146760"/>
              <a:ext cx="73800" cy="185760"/>
            </a:xfrm>
            <a:custGeom>
              <a:avLst/>
              <a:gdLst/>
              <a:ahLst/>
              <a:cxnLst/>
              <a:rect l="l" t="t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68" name="Freeform 1596"/>
            <p:cNvSpPr/>
            <p:nvPr/>
          </p:nvSpPr>
          <p:spPr>
            <a:xfrm>
              <a:off x="5443920" y="3270960"/>
              <a:ext cx="271440" cy="62640"/>
            </a:xfrm>
            <a:custGeom>
              <a:avLst/>
              <a:gdLst/>
              <a:ahLst/>
              <a:cxnLst/>
              <a:rect l="l" t="t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69" name="Freeform 1597"/>
            <p:cNvSpPr/>
            <p:nvPr/>
          </p:nvSpPr>
          <p:spPr>
            <a:xfrm>
              <a:off x="5680440" y="3148200"/>
              <a:ext cx="69120" cy="186480"/>
            </a:xfrm>
            <a:custGeom>
              <a:avLst/>
              <a:gdLst/>
              <a:ahLst/>
              <a:cxnLst/>
              <a:rect l="l" t="t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70" name="Freeform 1598"/>
            <p:cNvSpPr/>
            <p:nvPr/>
          </p:nvSpPr>
          <p:spPr>
            <a:xfrm>
              <a:off x="5443920" y="3279240"/>
              <a:ext cx="241560" cy="61560"/>
            </a:xfrm>
            <a:custGeom>
              <a:avLst/>
              <a:gdLst/>
              <a:ahLst/>
              <a:cxnLst/>
              <a:rect l="l" t="t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571" name="Group 1599"/>
            <p:cNvGrpSpPr/>
            <p:nvPr/>
          </p:nvGrpSpPr>
          <p:grpSpPr>
            <a:xfrm>
              <a:off x="5439960" y="3345480"/>
              <a:ext cx="81720" cy="36360"/>
              <a:chOff x="5439960" y="3345480"/>
              <a:chExt cx="81720" cy="36360"/>
            </a:xfrm>
          </p:grpSpPr>
          <p:sp>
            <p:nvSpPr>
              <p:cNvPr id="572" name="Freeform 1600"/>
              <p:cNvSpPr/>
              <p:nvPr/>
            </p:nvSpPr>
            <p:spPr>
              <a:xfrm>
                <a:off x="5439960" y="3345480"/>
                <a:ext cx="8172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73" name="Freeform 1601"/>
              <p:cNvSpPr/>
              <p:nvPr/>
            </p:nvSpPr>
            <p:spPr>
              <a:xfrm>
                <a:off x="5441760" y="3346200"/>
                <a:ext cx="7884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74" name="Freeform 1602"/>
              <p:cNvSpPr/>
              <p:nvPr/>
            </p:nvSpPr>
            <p:spPr>
              <a:xfrm>
                <a:off x="5447520" y="3359880"/>
                <a:ext cx="277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75" name="Freeform 1603"/>
              <p:cNvSpPr/>
              <p:nvPr/>
            </p:nvSpPr>
            <p:spPr>
              <a:xfrm>
                <a:off x="5446440" y="3364920"/>
                <a:ext cx="20880" cy="68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76" name="Freeform 1604"/>
              <p:cNvSpPr/>
              <p:nvPr/>
            </p:nvSpPr>
            <p:spPr>
              <a:xfrm>
                <a:off x="5470560" y="3367080"/>
                <a:ext cx="277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577" name="Freeform 1605"/>
              <p:cNvSpPr/>
              <p:nvPr/>
            </p:nvSpPr>
            <p:spPr>
              <a:xfrm>
                <a:off x="5469480" y="3372480"/>
                <a:ext cx="20880" cy="68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578" name="Freeform 1606"/>
            <p:cNvSpPr/>
            <p:nvPr/>
          </p:nvSpPr>
          <p:spPr>
            <a:xfrm>
              <a:off x="5580360" y="3350880"/>
              <a:ext cx="99000" cy="80640"/>
            </a:xfrm>
            <a:custGeom>
              <a:avLst/>
              <a:gdLst/>
              <a:ahLst/>
              <a:cxnLst/>
              <a:rect l="l" t="t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79" name="Freeform 1607"/>
            <p:cNvSpPr/>
            <p:nvPr/>
          </p:nvSpPr>
          <p:spPr>
            <a:xfrm>
              <a:off x="5326920" y="3357360"/>
              <a:ext cx="253800" cy="7344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80" name="Freeform 1608"/>
            <p:cNvSpPr/>
            <p:nvPr/>
          </p:nvSpPr>
          <p:spPr>
            <a:xfrm>
              <a:off x="5327280" y="3344040"/>
              <a:ext cx="2520" cy="14760"/>
            </a:xfrm>
            <a:custGeom>
              <a:avLst/>
              <a:gdLst/>
              <a:ahLst/>
              <a:cxnLst/>
              <a:rect l="l" t="t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81" name="Freeform 1609"/>
            <p:cNvSpPr/>
            <p:nvPr/>
          </p:nvSpPr>
          <p:spPr>
            <a:xfrm>
              <a:off x="5327280" y="3282840"/>
              <a:ext cx="117720" cy="61560"/>
            </a:xfrm>
            <a:custGeom>
              <a:avLst/>
              <a:gdLst/>
              <a:ahLst/>
              <a:cxnLst/>
              <a:rect l="l" t="t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82" name="Freeform 1610"/>
            <p:cNvSpPr/>
            <p:nvPr/>
          </p:nvSpPr>
          <p:spPr>
            <a:xfrm>
              <a:off x="5335200" y="3346920"/>
              <a:ext cx="240840" cy="7056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83" name="Freeform 1611"/>
            <p:cNvSpPr/>
            <p:nvPr/>
          </p:nvSpPr>
          <p:spPr>
            <a:xfrm flipV="1">
              <a:off x="5576040" y="3341160"/>
              <a:ext cx="97920" cy="7308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584" name="Group 1612"/>
          <p:cNvGrpSpPr/>
          <p:nvPr/>
        </p:nvGrpSpPr>
        <p:grpSpPr>
          <a:xfrm>
            <a:off x="5685120" y="3211560"/>
            <a:ext cx="414000" cy="372600"/>
            <a:chOff x="5685120" y="3211560"/>
            <a:chExt cx="414000" cy="372600"/>
          </a:xfrm>
        </p:grpSpPr>
        <p:pic>
          <p:nvPicPr>
            <p:cNvPr id="585" name="Picture 1613" descr="desktop_computer_stylized_medium"/>
            <p:cNvPicPr/>
            <p:nvPr/>
          </p:nvPicPr>
          <p:blipFill>
            <a:blip r:embed="rId2"/>
            <a:stretch/>
          </p:blipFill>
          <p:spPr>
            <a:xfrm flipH="1">
              <a:off x="5685120" y="3211560"/>
              <a:ext cx="414000" cy="372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86" name="Freeform 1614"/>
            <p:cNvSpPr/>
            <p:nvPr/>
          </p:nvSpPr>
          <p:spPr>
            <a:xfrm flipH="1">
              <a:off x="5861520" y="3247200"/>
              <a:ext cx="195120" cy="17064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587" name="Group 1615"/>
          <p:cNvGrpSpPr/>
          <p:nvPr/>
        </p:nvGrpSpPr>
        <p:grpSpPr>
          <a:xfrm>
            <a:off x="7051680" y="5411880"/>
            <a:ext cx="474480" cy="413640"/>
            <a:chOff x="7051680" y="5411880"/>
            <a:chExt cx="474480" cy="413640"/>
          </a:xfrm>
        </p:grpSpPr>
        <p:pic>
          <p:nvPicPr>
            <p:cNvPr id="588" name="Picture 1616" descr="antenna_stylized"/>
            <p:cNvPicPr/>
            <p:nvPr/>
          </p:nvPicPr>
          <p:blipFill>
            <a:blip r:embed="rId15"/>
            <a:stretch/>
          </p:blipFill>
          <p:spPr>
            <a:xfrm>
              <a:off x="7051680" y="5411880"/>
              <a:ext cx="470520" cy="223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89" name="Picture 1617" descr="laptop_keyboard"/>
            <p:cNvPicPr/>
            <p:nvPr/>
          </p:nvPicPr>
          <p:blipFill>
            <a:blip r:embed="rId16"/>
            <a:stretch/>
          </p:blipFill>
          <p:spPr>
            <a:xfrm rot="109200" flipH="1">
              <a:off x="7074720" y="5659920"/>
              <a:ext cx="387720" cy="159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90" name="Freeform 1618"/>
            <p:cNvSpPr/>
            <p:nvPr/>
          </p:nvSpPr>
          <p:spPr>
            <a:xfrm>
              <a:off x="7202880" y="5505480"/>
              <a:ext cx="311760" cy="207720"/>
            </a:xfrm>
            <a:custGeom>
              <a:avLst/>
              <a:gdLst/>
              <a:ahLst/>
              <a:cxnLst/>
              <a:rect l="l" t="t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pic>
          <p:nvPicPr>
            <p:cNvPr id="591" name="Picture 1619" descr="screen"/>
            <p:cNvPicPr/>
            <p:nvPr/>
          </p:nvPicPr>
          <p:blipFill>
            <a:blip r:embed="rId17"/>
            <a:stretch/>
          </p:blipFill>
          <p:spPr>
            <a:xfrm>
              <a:off x="7218360" y="5510880"/>
              <a:ext cx="283320" cy="189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92" name="Freeform 1620"/>
            <p:cNvSpPr/>
            <p:nvPr/>
          </p:nvSpPr>
          <p:spPr>
            <a:xfrm>
              <a:off x="7259760" y="5499360"/>
              <a:ext cx="264240" cy="38520"/>
            </a:xfrm>
            <a:custGeom>
              <a:avLst/>
              <a:gdLst/>
              <a:ahLst/>
              <a:cxnLst/>
              <a:rect l="l" t="t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93" name="Freeform 1621"/>
            <p:cNvSpPr/>
            <p:nvPr/>
          </p:nvSpPr>
          <p:spPr>
            <a:xfrm>
              <a:off x="7200360" y="5499000"/>
              <a:ext cx="73080" cy="160920"/>
            </a:xfrm>
            <a:custGeom>
              <a:avLst/>
              <a:gdLst/>
              <a:ahLst/>
              <a:cxnLst/>
              <a:rect l="l" t="t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94" name="Freeform 1622"/>
            <p:cNvSpPr/>
            <p:nvPr/>
          </p:nvSpPr>
          <p:spPr>
            <a:xfrm>
              <a:off x="7443360" y="5527800"/>
              <a:ext cx="78840" cy="185760"/>
            </a:xfrm>
            <a:custGeom>
              <a:avLst/>
              <a:gdLst/>
              <a:ahLst/>
              <a:cxnLst/>
              <a:rect l="l" t="t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95" name="Freeform 1623"/>
            <p:cNvSpPr/>
            <p:nvPr/>
          </p:nvSpPr>
          <p:spPr>
            <a:xfrm>
              <a:off x="7199280" y="5652000"/>
              <a:ext cx="289800" cy="62640"/>
            </a:xfrm>
            <a:custGeom>
              <a:avLst/>
              <a:gdLst/>
              <a:ahLst/>
              <a:cxnLst/>
              <a:rect l="l" t="t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96" name="Freeform 1624"/>
            <p:cNvSpPr/>
            <p:nvPr/>
          </p:nvSpPr>
          <p:spPr>
            <a:xfrm>
              <a:off x="7452360" y="5529240"/>
              <a:ext cx="73800" cy="186480"/>
            </a:xfrm>
            <a:custGeom>
              <a:avLst/>
              <a:gdLst/>
              <a:ahLst/>
              <a:cxnLst/>
              <a:rect l="l" t="t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97" name="Freeform 1625"/>
            <p:cNvSpPr/>
            <p:nvPr/>
          </p:nvSpPr>
          <p:spPr>
            <a:xfrm>
              <a:off x="7199640" y="5660280"/>
              <a:ext cx="257760" cy="61560"/>
            </a:xfrm>
            <a:custGeom>
              <a:avLst/>
              <a:gdLst/>
              <a:ahLst/>
              <a:cxnLst/>
              <a:rect l="l" t="t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598" name="Group 1626"/>
            <p:cNvGrpSpPr/>
            <p:nvPr/>
          </p:nvGrpSpPr>
          <p:grpSpPr>
            <a:xfrm>
              <a:off x="7195320" y="5726880"/>
              <a:ext cx="87120" cy="36360"/>
              <a:chOff x="7195320" y="5726880"/>
              <a:chExt cx="87120" cy="36360"/>
            </a:xfrm>
          </p:grpSpPr>
          <p:sp>
            <p:nvSpPr>
              <p:cNvPr id="599" name="Freeform 1627"/>
              <p:cNvSpPr/>
              <p:nvPr/>
            </p:nvSpPr>
            <p:spPr>
              <a:xfrm>
                <a:off x="7195320" y="5726880"/>
                <a:ext cx="8712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00" name="Freeform 1628"/>
              <p:cNvSpPr/>
              <p:nvPr/>
            </p:nvSpPr>
            <p:spPr>
              <a:xfrm>
                <a:off x="7197120" y="5727600"/>
                <a:ext cx="8424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01" name="Freeform 1629"/>
              <p:cNvSpPr/>
              <p:nvPr/>
            </p:nvSpPr>
            <p:spPr>
              <a:xfrm>
                <a:off x="7203240" y="5741280"/>
                <a:ext cx="29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02" name="Freeform 1630"/>
              <p:cNvSpPr/>
              <p:nvPr/>
            </p:nvSpPr>
            <p:spPr>
              <a:xfrm>
                <a:off x="7202160" y="5746320"/>
                <a:ext cx="22320" cy="68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03" name="Freeform 1631"/>
              <p:cNvSpPr/>
              <p:nvPr/>
            </p:nvSpPr>
            <p:spPr>
              <a:xfrm>
                <a:off x="7228080" y="5748480"/>
                <a:ext cx="295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04" name="Freeform 1632"/>
              <p:cNvSpPr/>
              <p:nvPr/>
            </p:nvSpPr>
            <p:spPr>
              <a:xfrm>
                <a:off x="7227000" y="5753880"/>
                <a:ext cx="22320" cy="68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605" name="Freeform 1633"/>
            <p:cNvSpPr/>
            <p:nvPr/>
          </p:nvSpPr>
          <p:spPr>
            <a:xfrm>
              <a:off x="7345440" y="5732280"/>
              <a:ext cx="105840" cy="80640"/>
            </a:xfrm>
            <a:custGeom>
              <a:avLst/>
              <a:gdLst/>
              <a:ahLst/>
              <a:cxnLst/>
              <a:rect l="l" t="t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06" name="Freeform 1634"/>
            <p:cNvSpPr/>
            <p:nvPr/>
          </p:nvSpPr>
          <p:spPr>
            <a:xfrm>
              <a:off x="7074720" y="5738760"/>
              <a:ext cx="271080" cy="7344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07" name="Freeform 1635"/>
            <p:cNvSpPr/>
            <p:nvPr/>
          </p:nvSpPr>
          <p:spPr>
            <a:xfrm>
              <a:off x="7074720" y="5725080"/>
              <a:ext cx="2520" cy="14760"/>
            </a:xfrm>
            <a:custGeom>
              <a:avLst/>
              <a:gdLst/>
              <a:ahLst/>
              <a:cxnLst/>
              <a:rect l="l" t="t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08" name="Freeform 1636"/>
            <p:cNvSpPr/>
            <p:nvPr/>
          </p:nvSpPr>
          <p:spPr>
            <a:xfrm>
              <a:off x="7075080" y="5664240"/>
              <a:ext cx="125640" cy="61560"/>
            </a:xfrm>
            <a:custGeom>
              <a:avLst/>
              <a:gdLst/>
              <a:ahLst/>
              <a:cxnLst/>
              <a:rect l="l" t="t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09" name="Freeform 1637"/>
            <p:cNvSpPr/>
            <p:nvPr/>
          </p:nvSpPr>
          <p:spPr>
            <a:xfrm>
              <a:off x="7083360" y="5728320"/>
              <a:ext cx="257040" cy="7056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10" name="Freeform 1638"/>
            <p:cNvSpPr/>
            <p:nvPr/>
          </p:nvSpPr>
          <p:spPr>
            <a:xfrm flipV="1">
              <a:off x="7340760" y="5722560"/>
              <a:ext cx="104760" cy="73080"/>
            </a:xfrm>
            <a:custGeom>
              <a:avLst/>
              <a:gdLst/>
              <a:ahLst/>
              <a:cxnLst/>
              <a:rect l="l" t="t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611" name="Group 1046"/>
          <p:cNvGrpSpPr/>
          <p:nvPr/>
        </p:nvGrpSpPr>
        <p:grpSpPr>
          <a:xfrm>
            <a:off x="5400720" y="1141560"/>
            <a:ext cx="1207440" cy="996480"/>
            <a:chOff x="5400720" y="1141560"/>
            <a:chExt cx="1207440" cy="996480"/>
          </a:xfrm>
        </p:grpSpPr>
        <p:sp>
          <p:nvSpPr>
            <p:cNvPr id="612" name="Freeform 1030"/>
            <p:cNvSpPr/>
            <p:nvPr/>
          </p:nvSpPr>
          <p:spPr>
            <a:xfrm>
              <a:off x="5400720" y="1195560"/>
              <a:ext cx="351000" cy="942480"/>
            </a:xfrm>
            <a:custGeom>
              <a:avLst/>
              <a:gdLst/>
              <a:ahLst/>
              <a:cxnLst/>
              <a:rect l="l" t="t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613" name="Group 310"/>
            <p:cNvGrpSpPr/>
            <p:nvPr/>
          </p:nvGrpSpPr>
          <p:grpSpPr>
            <a:xfrm>
              <a:off x="5669640" y="1141560"/>
              <a:ext cx="938520" cy="849960"/>
              <a:chOff x="5669640" y="1141560"/>
              <a:chExt cx="938520" cy="849960"/>
            </a:xfrm>
          </p:grpSpPr>
          <p:sp>
            <p:nvSpPr>
              <p:cNvPr id="614" name="Rectangle 311"/>
              <p:cNvSpPr/>
              <p:nvPr/>
            </p:nvSpPr>
            <p:spPr>
              <a:xfrm>
                <a:off x="5783400" y="1141560"/>
                <a:ext cx="779400" cy="77580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15" name="Rectangle 312"/>
              <p:cNvSpPr/>
              <p:nvPr/>
            </p:nvSpPr>
            <p:spPr>
              <a:xfrm>
                <a:off x="5744880" y="1165320"/>
                <a:ext cx="795960" cy="79992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16" name="Rectangle 313"/>
              <p:cNvSpPr/>
              <p:nvPr/>
            </p:nvSpPr>
            <p:spPr>
              <a:xfrm>
                <a:off x="5750280" y="1484280"/>
                <a:ext cx="790560" cy="171000"/>
              </a:xfrm>
              <a:prstGeom prst="rect">
                <a:avLst/>
              </a:prstGeom>
              <a:solidFill>
                <a:srgbClr val="CC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17" name="Text Box 314"/>
              <p:cNvSpPr/>
              <p:nvPr/>
            </p:nvSpPr>
            <p:spPr>
              <a:xfrm>
                <a:off x="5669640" y="1155600"/>
                <a:ext cx="938520" cy="835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Anwendung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Transport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900" b="0" strike="noStrike" spc="-1">
                  <a:latin typeface="Arial"/>
                </a:endParaRPr>
              </a:p>
            </p:txBody>
          </p:sp>
          <p:sp>
            <p:nvSpPr>
              <p:cNvPr id="618" name="Line 315"/>
              <p:cNvSpPr/>
              <p:nvPr/>
            </p:nvSpPr>
            <p:spPr>
              <a:xfrm>
                <a:off x="5744520" y="1484280"/>
                <a:ext cx="79632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19" name="Line 316"/>
              <p:cNvSpPr/>
              <p:nvPr/>
            </p:nvSpPr>
            <p:spPr>
              <a:xfrm>
                <a:off x="5755680" y="1650960"/>
                <a:ext cx="79632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20" name="Line 317"/>
              <p:cNvSpPr/>
              <p:nvPr/>
            </p:nvSpPr>
            <p:spPr>
              <a:xfrm>
                <a:off x="5755680" y="1784160"/>
                <a:ext cx="79632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21" name="Line 318"/>
              <p:cNvSpPr/>
              <p:nvPr/>
            </p:nvSpPr>
            <p:spPr>
              <a:xfrm>
                <a:off x="5755680" y="1336320"/>
                <a:ext cx="796320" cy="50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</p:grpSp>
      <p:grpSp>
        <p:nvGrpSpPr>
          <p:cNvPr id="622" name="Group 1047"/>
          <p:cNvGrpSpPr/>
          <p:nvPr/>
        </p:nvGrpSpPr>
        <p:grpSpPr>
          <a:xfrm>
            <a:off x="7958880" y="4291200"/>
            <a:ext cx="1201320" cy="996480"/>
            <a:chOff x="7958880" y="4291200"/>
            <a:chExt cx="1201320" cy="996480"/>
          </a:xfrm>
        </p:grpSpPr>
        <p:sp>
          <p:nvSpPr>
            <p:cNvPr id="623" name="Freeform 1048"/>
            <p:cNvSpPr/>
            <p:nvPr/>
          </p:nvSpPr>
          <p:spPr>
            <a:xfrm>
              <a:off x="7958880" y="4345200"/>
              <a:ext cx="349200" cy="942480"/>
            </a:xfrm>
            <a:custGeom>
              <a:avLst/>
              <a:gdLst/>
              <a:ahLst/>
              <a:cxnLst/>
              <a:rect l="l" t="t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624" name="Group 1049"/>
            <p:cNvGrpSpPr/>
            <p:nvPr/>
          </p:nvGrpSpPr>
          <p:grpSpPr>
            <a:xfrm>
              <a:off x="8226360" y="4291200"/>
              <a:ext cx="933840" cy="987120"/>
              <a:chOff x="8226360" y="4291200"/>
              <a:chExt cx="933840" cy="987120"/>
            </a:xfrm>
          </p:grpSpPr>
          <p:sp>
            <p:nvSpPr>
              <p:cNvPr id="625" name="Rectangle 1050"/>
              <p:cNvSpPr/>
              <p:nvPr/>
            </p:nvSpPr>
            <p:spPr>
              <a:xfrm>
                <a:off x="8339400" y="4291200"/>
                <a:ext cx="775440" cy="77580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26" name="Rectangle 1051"/>
              <p:cNvSpPr/>
              <p:nvPr/>
            </p:nvSpPr>
            <p:spPr>
              <a:xfrm>
                <a:off x="8301240" y="4314960"/>
                <a:ext cx="791640" cy="79992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27" name="Rectangle 1052"/>
              <p:cNvSpPr/>
              <p:nvPr/>
            </p:nvSpPr>
            <p:spPr>
              <a:xfrm>
                <a:off x="8306640" y="4633920"/>
                <a:ext cx="786240" cy="171000"/>
              </a:xfrm>
              <a:prstGeom prst="rect">
                <a:avLst/>
              </a:prstGeom>
              <a:solidFill>
                <a:srgbClr val="CC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28" name="Text Box 1053"/>
              <p:cNvSpPr/>
              <p:nvPr/>
            </p:nvSpPr>
            <p:spPr>
              <a:xfrm>
                <a:off x="8226360" y="4305240"/>
                <a:ext cx="933840" cy="973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Anwendung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Transport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9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900" b="0" strike="noStrike" spc="-1">
                  <a:latin typeface="Arial"/>
                </a:endParaRPr>
              </a:p>
            </p:txBody>
          </p:sp>
          <p:sp>
            <p:nvSpPr>
              <p:cNvPr id="629" name="Line 1054"/>
              <p:cNvSpPr/>
              <p:nvPr/>
            </p:nvSpPr>
            <p:spPr>
              <a:xfrm>
                <a:off x="8302680" y="4629240"/>
                <a:ext cx="79200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30" name="Line 1055"/>
              <p:cNvSpPr/>
              <p:nvPr/>
            </p:nvSpPr>
            <p:spPr>
              <a:xfrm>
                <a:off x="8311680" y="4800600"/>
                <a:ext cx="79236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31" name="Line 1056"/>
              <p:cNvSpPr/>
              <p:nvPr/>
            </p:nvSpPr>
            <p:spPr>
              <a:xfrm>
                <a:off x="8311680" y="4933800"/>
                <a:ext cx="79236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32" name="Line 1057"/>
              <p:cNvSpPr/>
              <p:nvPr/>
            </p:nvSpPr>
            <p:spPr>
              <a:xfrm>
                <a:off x="8311680" y="4486320"/>
                <a:ext cx="79236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</p:grpSp>
      </p:grpSp>
      <p:grpSp>
        <p:nvGrpSpPr>
          <p:cNvPr id="633" name="Group 1278"/>
          <p:cNvGrpSpPr/>
          <p:nvPr/>
        </p:nvGrpSpPr>
        <p:grpSpPr>
          <a:xfrm>
            <a:off x="5811840" y="1763640"/>
            <a:ext cx="2623680" cy="3412800"/>
            <a:chOff x="5811840" y="1763640"/>
            <a:chExt cx="2623680" cy="3412800"/>
          </a:xfrm>
        </p:grpSpPr>
        <p:grpSp>
          <p:nvGrpSpPr>
            <p:cNvPr id="634" name="Group 433"/>
            <p:cNvGrpSpPr/>
            <p:nvPr/>
          </p:nvGrpSpPr>
          <p:grpSpPr>
            <a:xfrm>
              <a:off x="5835600" y="2013120"/>
              <a:ext cx="921960" cy="685440"/>
              <a:chOff x="5835600" y="2013120"/>
              <a:chExt cx="921960" cy="685440"/>
            </a:xfrm>
          </p:grpSpPr>
          <p:sp>
            <p:nvSpPr>
              <p:cNvPr id="635" name="Line 434"/>
              <p:cNvSpPr/>
              <p:nvPr/>
            </p:nvSpPr>
            <p:spPr>
              <a:xfrm>
                <a:off x="6092640" y="2651040"/>
                <a:ext cx="495360" cy="1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36" name="Line 435"/>
              <p:cNvSpPr/>
              <p:nvPr/>
            </p:nvSpPr>
            <p:spPr>
              <a:xfrm flipV="1">
                <a:off x="6332400" y="2482560"/>
                <a:ext cx="1440" cy="1638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37" name="Oval 436"/>
              <p:cNvSpPr/>
              <p:nvPr/>
            </p:nvSpPr>
            <p:spPr>
              <a:xfrm>
                <a:off x="6072120" y="236376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38" name="Line 437"/>
              <p:cNvSpPr/>
              <p:nvPr/>
            </p:nvSpPr>
            <p:spPr>
              <a:xfrm>
                <a:off x="6072120" y="235260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39" name="Line 438"/>
              <p:cNvSpPr/>
              <p:nvPr/>
            </p:nvSpPr>
            <p:spPr>
              <a:xfrm>
                <a:off x="6568920" y="235260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40" name="Rectangle 439"/>
              <p:cNvSpPr/>
              <p:nvPr/>
            </p:nvSpPr>
            <p:spPr>
              <a:xfrm>
                <a:off x="6072120" y="235260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41" name="Oval 440"/>
              <p:cNvSpPr/>
              <p:nvPr/>
            </p:nvSpPr>
            <p:spPr>
              <a:xfrm>
                <a:off x="6067440" y="225900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642" name="Group 441"/>
              <p:cNvGrpSpPr/>
              <p:nvPr/>
            </p:nvGrpSpPr>
            <p:grpSpPr>
              <a:xfrm>
                <a:off x="6186240" y="2292120"/>
                <a:ext cx="247680" cy="87840"/>
                <a:chOff x="6186240" y="2292120"/>
                <a:chExt cx="247680" cy="87840"/>
              </a:xfrm>
            </p:grpSpPr>
            <p:sp>
              <p:nvSpPr>
                <p:cNvPr id="643" name="Line 442"/>
                <p:cNvSpPr/>
                <p:nvPr/>
              </p:nvSpPr>
              <p:spPr>
                <a:xfrm flipV="1">
                  <a:off x="6186240" y="229212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44" name="Line 443"/>
                <p:cNvSpPr/>
                <p:nvPr/>
              </p:nvSpPr>
              <p:spPr>
                <a:xfrm>
                  <a:off x="6356160" y="237960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45" name="Line 444"/>
                <p:cNvSpPr/>
                <p:nvPr/>
              </p:nvSpPr>
              <p:spPr>
                <a:xfrm>
                  <a:off x="6267600" y="2293920"/>
                  <a:ext cx="92160" cy="8568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646" name="Group 445"/>
              <p:cNvGrpSpPr/>
              <p:nvPr/>
            </p:nvGrpSpPr>
            <p:grpSpPr>
              <a:xfrm>
                <a:off x="6186240" y="2290680"/>
                <a:ext cx="247680" cy="88920"/>
                <a:chOff x="6186240" y="2290680"/>
                <a:chExt cx="247680" cy="88920"/>
              </a:xfrm>
            </p:grpSpPr>
            <p:sp>
              <p:nvSpPr>
                <p:cNvPr id="647" name="Line 446"/>
                <p:cNvSpPr/>
                <p:nvPr/>
              </p:nvSpPr>
              <p:spPr>
                <a:xfrm>
                  <a:off x="6186240" y="237780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48" name="Line 447"/>
                <p:cNvSpPr/>
                <p:nvPr/>
              </p:nvSpPr>
              <p:spPr>
                <a:xfrm>
                  <a:off x="6356160" y="229068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49" name="Line 448"/>
                <p:cNvSpPr/>
                <p:nvPr/>
              </p:nvSpPr>
              <p:spPr>
                <a:xfrm flipV="1">
                  <a:off x="6267600" y="2290680"/>
                  <a:ext cx="9216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650" name="Rectangle 449"/>
              <p:cNvSpPr/>
              <p:nvPr/>
            </p:nvSpPr>
            <p:spPr>
              <a:xfrm>
                <a:off x="5989680" y="217008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51" name="Rectangle 450"/>
              <p:cNvSpPr/>
              <p:nvPr/>
            </p:nvSpPr>
            <p:spPr>
              <a:xfrm>
                <a:off x="5946840" y="220356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52" name="Line 451"/>
              <p:cNvSpPr/>
              <p:nvPr/>
            </p:nvSpPr>
            <p:spPr>
              <a:xfrm>
                <a:off x="5941800" y="250812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53" name="Line 452"/>
              <p:cNvSpPr/>
              <p:nvPr/>
            </p:nvSpPr>
            <p:spPr>
              <a:xfrm>
                <a:off x="5951520" y="235584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54" name="Rectangle 453"/>
              <p:cNvSpPr/>
              <p:nvPr/>
            </p:nvSpPr>
            <p:spPr>
              <a:xfrm>
                <a:off x="5942160" y="220824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55" name="Text Box 454"/>
              <p:cNvSpPr/>
              <p:nvPr/>
            </p:nvSpPr>
            <p:spPr>
              <a:xfrm>
                <a:off x="5835600" y="2013120"/>
                <a:ext cx="92196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656" name="Group 1058"/>
            <p:cNvGrpSpPr/>
            <p:nvPr/>
          </p:nvGrpSpPr>
          <p:grpSpPr>
            <a:xfrm>
              <a:off x="6647040" y="2373480"/>
              <a:ext cx="872640" cy="685440"/>
              <a:chOff x="6647040" y="2373480"/>
              <a:chExt cx="872640" cy="685440"/>
            </a:xfrm>
          </p:grpSpPr>
          <p:sp>
            <p:nvSpPr>
              <p:cNvPr id="657" name="Line 1059"/>
              <p:cNvSpPr/>
              <p:nvPr/>
            </p:nvSpPr>
            <p:spPr>
              <a:xfrm>
                <a:off x="6895800" y="3011400"/>
                <a:ext cx="495360" cy="1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58" name="Line 1060"/>
              <p:cNvSpPr/>
              <p:nvPr/>
            </p:nvSpPr>
            <p:spPr>
              <a:xfrm flipV="1">
                <a:off x="7135560" y="2842920"/>
                <a:ext cx="1800" cy="1638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59" name="Oval 1061"/>
              <p:cNvSpPr/>
              <p:nvPr/>
            </p:nvSpPr>
            <p:spPr>
              <a:xfrm>
                <a:off x="6875640" y="272412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60" name="Line 1062"/>
              <p:cNvSpPr/>
              <p:nvPr/>
            </p:nvSpPr>
            <p:spPr>
              <a:xfrm>
                <a:off x="6875280" y="271296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61" name="Line 1063"/>
              <p:cNvSpPr/>
              <p:nvPr/>
            </p:nvSpPr>
            <p:spPr>
              <a:xfrm>
                <a:off x="7372080" y="271296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62" name="Rectangle 1064"/>
              <p:cNvSpPr/>
              <p:nvPr/>
            </p:nvSpPr>
            <p:spPr>
              <a:xfrm>
                <a:off x="6875640" y="271296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63" name="Oval 1065"/>
              <p:cNvSpPr/>
              <p:nvPr/>
            </p:nvSpPr>
            <p:spPr>
              <a:xfrm>
                <a:off x="6870600" y="261936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664" name="Group 1066"/>
              <p:cNvGrpSpPr/>
              <p:nvPr/>
            </p:nvGrpSpPr>
            <p:grpSpPr>
              <a:xfrm>
                <a:off x="6989760" y="2652480"/>
                <a:ext cx="247320" cy="87840"/>
                <a:chOff x="6989760" y="2652480"/>
                <a:chExt cx="247320" cy="87840"/>
              </a:xfrm>
            </p:grpSpPr>
            <p:sp>
              <p:nvSpPr>
                <p:cNvPr id="665" name="Line 1067"/>
                <p:cNvSpPr/>
                <p:nvPr/>
              </p:nvSpPr>
              <p:spPr>
                <a:xfrm flipV="1">
                  <a:off x="6989760" y="2652480"/>
                  <a:ext cx="8820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66" name="Line 1068"/>
                <p:cNvSpPr/>
                <p:nvPr/>
              </p:nvSpPr>
              <p:spPr>
                <a:xfrm>
                  <a:off x="7159320" y="273996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67" name="Line 1069"/>
                <p:cNvSpPr/>
                <p:nvPr/>
              </p:nvSpPr>
              <p:spPr>
                <a:xfrm>
                  <a:off x="7071120" y="2654280"/>
                  <a:ext cx="91800" cy="8568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668" name="Group 1070"/>
              <p:cNvGrpSpPr/>
              <p:nvPr/>
            </p:nvGrpSpPr>
            <p:grpSpPr>
              <a:xfrm>
                <a:off x="6989760" y="2651040"/>
                <a:ext cx="247320" cy="88920"/>
                <a:chOff x="6989760" y="2651040"/>
                <a:chExt cx="247320" cy="88920"/>
              </a:xfrm>
            </p:grpSpPr>
            <p:sp>
              <p:nvSpPr>
                <p:cNvPr id="669" name="Line 1071"/>
                <p:cNvSpPr/>
                <p:nvPr/>
              </p:nvSpPr>
              <p:spPr>
                <a:xfrm>
                  <a:off x="6989760" y="2738160"/>
                  <a:ext cx="8820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70" name="Line 1072"/>
                <p:cNvSpPr/>
                <p:nvPr/>
              </p:nvSpPr>
              <p:spPr>
                <a:xfrm>
                  <a:off x="7159320" y="265104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71" name="Line 1073"/>
                <p:cNvSpPr/>
                <p:nvPr/>
              </p:nvSpPr>
              <p:spPr>
                <a:xfrm flipV="1">
                  <a:off x="7071120" y="2651040"/>
                  <a:ext cx="9180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672" name="Rectangle 1074"/>
              <p:cNvSpPr/>
              <p:nvPr/>
            </p:nvSpPr>
            <p:spPr>
              <a:xfrm>
                <a:off x="6792840" y="253044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73" name="Rectangle 1075"/>
              <p:cNvSpPr/>
              <p:nvPr/>
            </p:nvSpPr>
            <p:spPr>
              <a:xfrm>
                <a:off x="6750000" y="256392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74" name="Line 1076"/>
              <p:cNvSpPr/>
              <p:nvPr/>
            </p:nvSpPr>
            <p:spPr>
              <a:xfrm>
                <a:off x="6744960" y="2868480"/>
                <a:ext cx="69084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75" name="Line 1077"/>
              <p:cNvSpPr/>
              <p:nvPr/>
            </p:nvSpPr>
            <p:spPr>
              <a:xfrm>
                <a:off x="6754680" y="271620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76" name="Rectangle 1078"/>
              <p:cNvSpPr/>
              <p:nvPr/>
            </p:nvSpPr>
            <p:spPr>
              <a:xfrm>
                <a:off x="6745320" y="256860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77" name="Text Box 1079"/>
              <p:cNvSpPr/>
              <p:nvPr/>
            </p:nvSpPr>
            <p:spPr>
              <a:xfrm>
                <a:off x="6647040" y="2373480"/>
                <a:ext cx="87264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678" name="Group 1080"/>
            <p:cNvGrpSpPr/>
            <p:nvPr/>
          </p:nvGrpSpPr>
          <p:grpSpPr>
            <a:xfrm>
              <a:off x="7391520" y="1763640"/>
              <a:ext cx="860040" cy="685440"/>
              <a:chOff x="7391520" y="1763640"/>
              <a:chExt cx="860040" cy="685440"/>
            </a:xfrm>
          </p:grpSpPr>
          <p:sp>
            <p:nvSpPr>
              <p:cNvPr id="679" name="Line 1081"/>
              <p:cNvSpPr/>
              <p:nvPr/>
            </p:nvSpPr>
            <p:spPr>
              <a:xfrm>
                <a:off x="7616520" y="2401560"/>
                <a:ext cx="495360" cy="18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80" name="Line 1082"/>
              <p:cNvSpPr/>
              <p:nvPr/>
            </p:nvSpPr>
            <p:spPr>
              <a:xfrm flipV="1">
                <a:off x="7856280" y="2233440"/>
                <a:ext cx="1800" cy="163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81" name="Oval 1083"/>
              <p:cNvSpPr/>
              <p:nvPr/>
            </p:nvSpPr>
            <p:spPr>
              <a:xfrm>
                <a:off x="7596360" y="211464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82" name="Line 1084"/>
              <p:cNvSpPr/>
              <p:nvPr/>
            </p:nvSpPr>
            <p:spPr>
              <a:xfrm>
                <a:off x="7596000" y="21031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83" name="Line 1085"/>
              <p:cNvSpPr/>
              <p:nvPr/>
            </p:nvSpPr>
            <p:spPr>
              <a:xfrm>
                <a:off x="8092800" y="21031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84" name="Rectangle 1086"/>
              <p:cNvSpPr/>
              <p:nvPr/>
            </p:nvSpPr>
            <p:spPr>
              <a:xfrm>
                <a:off x="7596360" y="210348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85" name="Oval 1087"/>
              <p:cNvSpPr/>
              <p:nvPr/>
            </p:nvSpPr>
            <p:spPr>
              <a:xfrm>
                <a:off x="7591320" y="200988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686" name="Group 1088"/>
              <p:cNvGrpSpPr/>
              <p:nvPr/>
            </p:nvGrpSpPr>
            <p:grpSpPr>
              <a:xfrm>
                <a:off x="7710480" y="2043000"/>
                <a:ext cx="247320" cy="87480"/>
                <a:chOff x="7710480" y="2043000"/>
                <a:chExt cx="247320" cy="87480"/>
              </a:xfrm>
            </p:grpSpPr>
            <p:sp>
              <p:nvSpPr>
                <p:cNvPr id="687" name="Line 1089"/>
                <p:cNvSpPr/>
                <p:nvPr/>
              </p:nvSpPr>
              <p:spPr>
                <a:xfrm flipV="1">
                  <a:off x="7710480" y="2043000"/>
                  <a:ext cx="8820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88" name="Line 1090"/>
                <p:cNvSpPr/>
                <p:nvPr/>
              </p:nvSpPr>
              <p:spPr>
                <a:xfrm>
                  <a:off x="7880040" y="213012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89" name="Line 1091"/>
                <p:cNvSpPr/>
                <p:nvPr/>
              </p:nvSpPr>
              <p:spPr>
                <a:xfrm>
                  <a:off x="7791840" y="2044800"/>
                  <a:ext cx="91800" cy="853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690" name="Group 1092"/>
              <p:cNvGrpSpPr/>
              <p:nvPr/>
            </p:nvGrpSpPr>
            <p:grpSpPr>
              <a:xfrm>
                <a:off x="7710480" y="2041200"/>
                <a:ext cx="247320" cy="88920"/>
                <a:chOff x="7710480" y="2041200"/>
                <a:chExt cx="247320" cy="88920"/>
              </a:xfrm>
            </p:grpSpPr>
            <p:sp>
              <p:nvSpPr>
                <p:cNvPr id="691" name="Line 1093"/>
                <p:cNvSpPr/>
                <p:nvPr/>
              </p:nvSpPr>
              <p:spPr>
                <a:xfrm>
                  <a:off x="7710480" y="2128320"/>
                  <a:ext cx="8820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92" name="Line 1094"/>
                <p:cNvSpPr/>
                <p:nvPr/>
              </p:nvSpPr>
              <p:spPr>
                <a:xfrm>
                  <a:off x="7880040" y="204120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693" name="Line 1095"/>
                <p:cNvSpPr/>
                <p:nvPr/>
              </p:nvSpPr>
              <p:spPr>
                <a:xfrm flipV="1">
                  <a:off x="7791840" y="2041200"/>
                  <a:ext cx="9180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694" name="Rectangle 1096"/>
              <p:cNvSpPr/>
              <p:nvPr/>
            </p:nvSpPr>
            <p:spPr>
              <a:xfrm>
                <a:off x="7513560" y="192096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95" name="Rectangle 1097"/>
              <p:cNvSpPr/>
              <p:nvPr/>
            </p:nvSpPr>
            <p:spPr>
              <a:xfrm>
                <a:off x="7470720" y="195408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96" name="Line 1098"/>
              <p:cNvSpPr/>
              <p:nvPr/>
            </p:nvSpPr>
            <p:spPr>
              <a:xfrm>
                <a:off x="7465680" y="2259000"/>
                <a:ext cx="69084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97" name="Line 1099"/>
              <p:cNvSpPr/>
              <p:nvPr/>
            </p:nvSpPr>
            <p:spPr>
              <a:xfrm>
                <a:off x="7475400" y="210636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98" name="Rectangle 1100"/>
              <p:cNvSpPr/>
              <p:nvPr/>
            </p:nvSpPr>
            <p:spPr>
              <a:xfrm>
                <a:off x="7466040" y="195912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699" name="Text Box 1101"/>
              <p:cNvSpPr/>
              <p:nvPr/>
            </p:nvSpPr>
            <p:spPr>
              <a:xfrm>
                <a:off x="7391520" y="1763640"/>
                <a:ext cx="86004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700" name="Group 1102"/>
            <p:cNvGrpSpPr/>
            <p:nvPr/>
          </p:nvGrpSpPr>
          <p:grpSpPr>
            <a:xfrm>
              <a:off x="7431120" y="2359080"/>
              <a:ext cx="923400" cy="685440"/>
              <a:chOff x="7431120" y="2359080"/>
              <a:chExt cx="923400" cy="685440"/>
            </a:xfrm>
          </p:grpSpPr>
          <p:sp>
            <p:nvSpPr>
              <p:cNvPr id="701" name="Line 1103"/>
              <p:cNvSpPr/>
              <p:nvPr/>
            </p:nvSpPr>
            <p:spPr>
              <a:xfrm>
                <a:off x="7681680" y="2997000"/>
                <a:ext cx="495360" cy="1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02" name="Line 1104"/>
              <p:cNvSpPr/>
              <p:nvPr/>
            </p:nvSpPr>
            <p:spPr>
              <a:xfrm flipV="1">
                <a:off x="7921440" y="2828880"/>
                <a:ext cx="1440" cy="163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03" name="Oval 1105"/>
              <p:cNvSpPr/>
              <p:nvPr/>
            </p:nvSpPr>
            <p:spPr>
              <a:xfrm>
                <a:off x="7661160" y="270972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04" name="Line 1106"/>
              <p:cNvSpPr/>
              <p:nvPr/>
            </p:nvSpPr>
            <p:spPr>
              <a:xfrm>
                <a:off x="7661160" y="269856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05" name="Line 1107"/>
              <p:cNvSpPr/>
              <p:nvPr/>
            </p:nvSpPr>
            <p:spPr>
              <a:xfrm>
                <a:off x="8157960" y="269856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06" name="Rectangle 1108"/>
              <p:cNvSpPr/>
              <p:nvPr/>
            </p:nvSpPr>
            <p:spPr>
              <a:xfrm>
                <a:off x="7661160" y="269892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07" name="Oval 1109"/>
              <p:cNvSpPr/>
              <p:nvPr/>
            </p:nvSpPr>
            <p:spPr>
              <a:xfrm>
                <a:off x="7656480" y="260496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708" name="Group 1110"/>
              <p:cNvGrpSpPr/>
              <p:nvPr/>
            </p:nvGrpSpPr>
            <p:grpSpPr>
              <a:xfrm>
                <a:off x="7775280" y="2638080"/>
                <a:ext cx="247680" cy="87840"/>
                <a:chOff x="7775280" y="2638080"/>
                <a:chExt cx="247680" cy="87840"/>
              </a:xfrm>
            </p:grpSpPr>
            <p:sp>
              <p:nvSpPr>
                <p:cNvPr id="709" name="Line 1111"/>
                <p:cNvSpPr/>
                <p:nvPr/>
              </p:nvSpPr>
              <p:spPr>
                <a:xfrm flipV="1">
                  <a:off x="7775280" y="263808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10" name="Line 1112"/>
                <p:cNvSpPr/>
                <p:nvPr/>
              </p:nvSpPr>
              <p:spPr>
                <a:xfrm>
                  <a:off x="7945200" y="272556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11" name="Line 1113"/>
                <p:cNvSpPr/>
                <p:nvPr/>
              </p:nvSpPr>
              <p:spPr>
                <a:xfrm>
                  <a:off x="7856640" y="2639880"/>
                  <a:ext cx="92160" cy="8568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712" name="Group 1114"/>
              <p:cNvGrpSpPr/>
              <p:nvPr/>
            </p:nvGrpSpPr>
            <p:grpSpPr>
              <a:xfrm>
                <a:off x="7775280" y="2636640"/>
                <a:ext cx="247680" cy="88920"/>
                <a:chOff x="7775280" y="2636640"/>
                <a:chExt cx="247680" cy="88920"/>
              </a:xfrm>
            </p:grpSpPr>
            <p:sp>
              <p:nvSpPr>
                <p:cNvPr id="713" name="Line 1115"/>
                <p:cNvSpPr/>
                <p:nvPr/>
              </p:nvSpPr>
              <p:spPr>
                <a:xfrm>
                  <a:off x="7775280" y="272376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14" name="Line 1116"/>
                <p:cNvSpPr/>
                <p:nvPr/>
              </p:nvSpPr>
              <p:spPr>
                <a:xfrm>
                  <a:off x="7945200" y="263664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15" name="Line 1117"/>
                <p:cNvSpPr/>
                <p:nvPr/>
              </p:nvSpPr>
              <p:spPr>
                <a:xfrm flipV="1">
                  <a:off x="7856640" y="2636640"/>
                  <a:ext cx="9216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716" name="Rectangle 1118"/>
              <p:cNvSpPr/>
              <p:nvPr/>
            </p:nvSpPr>
            <p:spPr>
              <a:xfrm>
                <a:off x="7578720" y="251604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17" name="Rectangle 1119"/>
              <p:cNvSpPr/>
              <p:nvPr/>
            </p:nvSpPr>
            <p:spPr>
              <a:xfrm>
                <a:off x="7535880" y="254952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18" name="Line 1120"/>
              <p:cNvSpPr/>
              <p:nvPr/>
            </p:nvSpPr>
            <p:spPr>
              <a:xfrm>
                <a:off x="7530840" y="285408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19" name="Line 1121"/>
              <p:cNvSpPr/>
              <p:nvPr/>
            </p:nvSpPr>
            <p:spPr>
              <a:xfrm>
                <a:off x="7540560" y="270180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20" name="Rectangle 1122"/>
              <p:cNvSpPr/>
              <p:nvPr/>
            </p:nvSpPr>
            <p:spPr>
              <a:xfrm>
                <a:off x="7531200" y="255420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21" name="Text Box 1123"/>
              <p:cNvSpPr/>
              <p:nvPr/>
            </p:nvSpPr>
            <p:spPr>
              <a:xfrm>
                <a:off x="7431120" y="2359080"/>
                <a:ext cx="92340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722" name="Group 1124"/>
            <p:cNvGrpSpPr/>
            <p:nvPr/>
          </p:nvGrpSpPr>
          <p:grpSpPr>
            <a:xfrm>
              <a:off x="6642000" y="1778040"/>
              <a:ext cx="855360" cy="685440"/>
              <a:chOff x="6642000" y="1778040"/>
              <a:chExt cx="855360" cy="685440"/>
            </a:xfrm>
          </p:grpSpPr>
          <p:sp>
            <p:nvSpPr>
              <p:cNvPr id="723" name="Line 1125"/>
              <p:cNvSpPr/>
              <p:nvPr/>
            </p:nvSpPr>
            <p:spPr>
              <a:xfrm>
                <a:off x="6879960" y="2415960"/>
                <a:ext cx="495360" cy="18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24" name="Line 1126"/>
              <p:cNvSpPr/>
              <p:nvPr/>
            </p:nvSpPr>
            <p:spPr>
              <a:xfrm flipV="1">
                <a:off x="7119720" y="2247840"/>
                <a:ext cx="1800" cy="163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25" name="Oval 1127"/>
              <p:cNvSpPr/>
              <p:nvPr/>
            </p:nvSpPr>
            <p:spPr>
              <a:xfrm>
                <a:off x="6859440" y="212868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26" name="Line 1128"/>
              <p:cNvSpPr/>
              <p:nvPr/>
            </p:nvSpPr>
            <p:spPr>
              <a:xfrm>
                <a:off x="6859440" y="21175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27" name="Line 1129"/>
              <p:cNvSpPr/>
              <p:nvPr/>
            </p:nvSpPr>
            <p:spPr>
              <a:xfrm>
                <a:off x="7356240" y="21175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28" name="Rectangle 1130"/>
              <p:cNvSpPr/>
              <p:nvPr/>
            </p:nvSpPr>
            <p:spPr>
              <a:xfrm>
                <a:off x="6859440" y="211788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29" name="Oval 1131"/>
              <p:cNvSpPr/>
              <p:nvPr/>
            </p:nvSpPr>
            <p:spPr>
              <a:xfrm>
                <a:off x="6854760" y="202392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730" name="Group 1132"/>
              <p:cNvGrpSpPr/>
              <p:nvPr/>
            </p:nvGrpSpPr>
            <p:grpSpPr>
              <a:xfrm>
                <a:off x="6973560" y="2057400"/>
                <a:ext cx="247680" cy="87480"/>
                <a:chOff x="6973560" y="2057400"/>
                <a:chExt cx="247680" cy="87480"/>
              </a:xfrm>
            </p:grpSpPr>
            <p:sp>
              <p:nvSpPr>
                <p:cNvPr id="731" name="Line 1133"/>
                <p:cNvSpPr/>
                <p:nvPr/>
              </p:nvSpPr>
              <p:spPr>
                <a:xfrm flipV="1">
                  <a:off x="6973560" y="2057400"/>
                  <a:ext cx="88560" cy="144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32" name="Line 1134"/>
                <p:cNvSpPr/>
                <p:nvPr/>
              </p:nvSpPr>
              <p:spPr>
                <a:xfrm>
                  <a:off x="7143480" y="214452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33" name="Line 1135"/>
                <p:cNvSpPr/>
                <p:nvPr/>
              </p:nvSpPr>
              <p:spPr>
                <a:xfrm>
                  <a:off x="7054920" y="2058840"/>
                  <a:ext cx="92160" cy="8568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734" name="Group 1136"/>
              <p:cNvGrpSpPr/>
              <p:nvPr/>
            </p:nvGrpSpPr>
            <p:grpSpPr>
              <a:xfrm>
                <a:off x="6973560" y="2055600"/>
                <a:ext cx="247680" cy="88920"/>
                <a:chOff x="6973560" y="2055600"/>
                <a:chExt cx="247680" cy="88920"/>
              </a:xfrm>
            </p:grpSpPr>
            <p:sp>
              <p:nvSpPr>
                <p:cNvPr id="735" name="Line 1137"/>
                <p:cNvSpPr/>
                <p:nvPr/>
              </p:nvSpPr>
              <p:spPr>
                <a:xfrm>
                  <a:off x="6973560" y="214272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36" name="Line 1138"/>
                <p:cNvSpPr/>
                <p:nvPr/>
              </p:nvSpPr>
              <p:spPr>
                <a:xfrm>
                  <a:off x="7143480" y="205560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37" name="Line 1139"/>
                <p:cNvSpPr/>
                <p:nvPr/>
              </p:nvSpPr>
              <p:spPr>
                <a:xfrm flipV="1">
                  <a:off x="7054920" y="2055600"/>
                  <a:ext cx="9216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738" name="Rectangle 1140"/>
              <p:cNvSpPr/>
              <p:nvPr/>
            </p:nvSpPr>
            <p:spPr>
              <a:xfrm>
                <a:off x="6777000" y="193500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39" name="Rectangle 1141"/>
              <p:cNvSpPr/>
              <p:nvPr/>
            </p:nvSpPr>
            <p:spPr>
              <a:xfrm>
                <a:off x="6734160" y="196848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40" name="Line 1142"/>
              <p:cNvSpPr/>
              <p:nvPr/>
            </p:nvSpPr>
            <p:spPr>
              <a:xfrm>
                <a:off x="6729120" y="2273040"/>
                <a:ext cx="69084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41" name="Line 1143"/>
              <p:cNvSpPr/>
              <p:nvPr/>
            </p:nvSpPr>
            <p:spPr>
              <a:xfrm>
                <a:off x="6738840" y="212076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42" name="Rectangle 1144"/>
              <p:cNvSpPr/>
              <p:nvPr/>
            </p:nvSpPr>
            <p:spPr>
              <a:xfrm>
                <a:off x="6729480" y="197316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43" name="Text Box 1145"/>
              <p:cNvSpPr/>
              <p:nvPr/>
            </p:nvSpPr>
            <p:spPr>
              <a:xfrm>
                <a:off x="6642000" y="1778040"/>
                <a:ext cx="85536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744" name="Group 1146"/>
            <p:cNvGrpSpPr/>
            <p:nvPr/>
          </p:nvGrpSpPr>
          <p:grpSpPr>
            <a:xfrm>
              <a:off x="6926400" y="3495600"/>
              <a:ext cx="918720" cy="685440"/>
              <a:chOff x="6926400" y="3495600"/>
              <a:chExt cx="918720" cy="685440"/>
            </a:xfrm>
          </p:grpSpPr>
          <p:sp>
            <p:nvSpPr>
              <p:cNvPr id="745" name="Line 1147"/>
              <p:cNvSpPr/>
              <p:nvPr/>
            </p:nvSpPr>
            <p:spPr>
              <a:xfrm>
                <a:off x="7184880" y="4133520"/>
                <a:ext cx="495360" cy="18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46" name="Line 1148"/>
              <p:cNvSpPr/>
              <p:nvPr/>
            </p:nvSpPr>
            <p:spPr>
              <a:xfrm flipV="1">
                <a:off x="7424640" y="3965400"/>
                <a:ext cx="1440" cy="163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47" name="Oval 1149"/>
              <p:cNvSpPr/>
              <p:nvPr/>
            </p:nvSpPr>
            <p:spPr>
              <a:xfrm>
                <a:off x="7164360" y="384660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48" name="Line 1150"/>
              <p:cNvSpPr/>
              <p:nvPr/>
            </p:nvSpPr>
            <p:spPr>
              <a:xfrm>
                <a:off x="7164360" y="383508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49" name="Line 1151"/>
              <p:cNvSpPr/>
              <p:nvPr/>
            </p:nvSpPr>
            <p:spPr>
              <a:xfrm>
                <a:off x="7661160" y="383508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50" name="Rectangle 1152"/>
              <p:cNvSpPr/>
              <p:nvPr/>
            </p:nvSpPr>
            <p:spPr>
              <a:xfrm>
                <a:off x="7164360" y="383544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51" name="Oval 1153"/>
              <p:cNvSpPr/>
              <p:nvPr/>
            </p:nvSpPr>
            <p:spPr>
              <a:xfrm>
                <a:off x="7159680" y="374184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752" name="Group 1154"/>
              <p:cNvGrpSpPr/>
              <p:nvPr/>
            </p:nvGrpSpPr>
            <p:grpSpPr>
              <a:xfrm>
                <a:off x="7278480" y="3774960"/>
                <a:ext cx="247680" cy="87480"/>
                <a:chOff x="7278480" y="3774960"/>
                <a:chExt cx="247680" cy="87480"/>
              </a:xfrm>
            </p:grpSpPr>
            <p:sp>
              <p:nvSpPr>
                <p:cNvPr id="753" name="Line 1155"/>
                <p:cNvSpPr/>
                <p:nvPr/>
              </p:nvSpPr>
              <p:spPr>
                <a:xfrm flipV="1">
                  <a:off x="7278480" y="377496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54" name="Line 1156"/>
                <p:cNvSpPr/>
                <p:nvPr/>
              </p:nvSpPr>
              <p:spPr>
                <a:xfrm>
                  <a:off x="7448400" y="386208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55" name="Line 1157"/>
                <p:cNvSpPr/>
                <p:nvPr/>
              </p:nvSpPr>
              <p:spPr>
                <a:xfrm>
                  <a:off x="7359840" y="3776760"/>
                  <a:ext cx="92160" cy="853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756" name="Group 1158"/>
              <p:cNvGrpSpPr/>
              <p:nvPr/>
            </p:nvGrpSpPr>
            <p:grpSpPr>
              <a:xfrm>
                <a:off x="7278480" y="3773160"/>
                <a:ext cx="247680" cy="88920"/>
                <a:chOff x="7278480" y="3773160"/>
                <a:chExt cx="247680" cy="88920"/>
              </a:xfrm>
            </p:grpSpPr>
            <p:sp>
              <p:nvSpPr>
                <p:cNvPr id="757" name="Line 1159"/>
                <p:cNvSpPr/>
                <p:nvPr/>
              </p:nvSpPr>
              <p:spPr>
                <a:xfrm>
                  <a:off x="7278480" y="386028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58" name="Line 1160"/>
                <p:cNvSpPr/>
                <p:nvPr/>
              </p:nvSpPr>
              <p:spPr>
                <a:xfrm>
                  <a:off x="7448400" y="377316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59" name="Line 1161"/>
                <p:cNvSpPr/>
                <p:nvPr/>
              </p:nvSpPr>
              <p:spPr>
                <a:xfrm flipV="1">
                  <a:off x="7359840" y="3773160"/>
                  <a:ext cx="9216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760" name="Rectangle 1162"/>
              <p:cNvSpPr/>
              <p:nvPr/>
            </p:nvSpPr>
            <p:spPr>
              <a:xfrm>
                <a:off x="7081920" y="365292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61" name="Rectangle 1163"/>
              <p:cNvSpPr/>
              <p:nvPr/>
            </p:nvSpPr>
            <p:spPr>
              <a:xfrm>
                <a:off x="7039080" y="368604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62" name="Line 1164"/>
              <p:cNvSpPr/>
              <p:nvPr/>
            </p:nvSpPr>
            <p:spPr>
              <a:xfrm>
                <a:off x="7034040" y="399096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63" name="Line 1165"/>
              <p:cNvSpPr/>
              <p:nvPr/>
            </p:nvSpPr>
            <p:spPr>
              <a:xfrm>
                <a:off x="7043400" y="3838320"/>
                <a:ext cx="69084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64" name="Rectangle 1166"/>
              <p:cNvSpPr/>
              <p:nvPr/>
            </p:nvSpPr>
            <p:spPr>
              <a:xfrm>
                <a:off x="7034040" y="369108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65" name="Text Box 1167"/>
              <p:cNvSpPr/>
              <p:nvPr/>
            </p:nvSpPr>
            <p:spPr>
              <a:xfrm>
                <a:off x="6926400" y="3495600"/>
                <a:ext cx="91872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766" name="Group 1168"/>
            <p:cNvGrpSpPr/>
            <p:nvPr/>
          </p:nvGrpSpPr>
          <p:grpSpPr>
            <a:xfrm>
              <a:off x="7532640" y="3108240"/>
              <a:ext cx="902880" cy="685440"/>
              <a:chOff x="7532640" y="3108240"/>
              <a:chExt cx="902880" cy="685440"/>
            </a:xfrm>
          </p:grpSpPr>
          <p:sp>
            <p:nvSpPr>
              <p:cNvPr id="767" name="Line 1169"/>
              <p:cNvSpPr/>
              <p:nvPr/>
            </p:nvSpPr>
            <p:spPr>
              <a:xfrm>
                <a:off x="7781760" y="3746160"/>
                <a:ext cx="495360" cy="18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68" name="Line 1170"/>
              <p:cNvSpPr/>
              <p:nvPr/>
            </p:nvSpPr>
            <p:spPr>
              <a:xfrm flipV="1">
                <a:off x="8021520" y="3578040"/>
                <a:ext cx="1440" cy="163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69" name="Oval 1171"/>
              <p:cNvSpPr/>
              <p:nvPr/>
            </p:nvSpPr>
            <p:spPr>
              <a:xfrm>
                <a:off x="7761240" y="345924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70" name="Line 1172"/>
              <p:cNvSpPr/>
              <p:nvPr/>
            </p:nvSpPr>
            <p:spPr>
              <a:xfrm>
                <a:off x="7761240" y="34477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71" name="Line 1173"/>
              <p:cNvSpPr/>
              <p:nvPr/>
            </p:nvSpPr>
            <p:spPr>
              <a:xfrm>
                <a:off x="8258040" y="344772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72" name="Rectangle 1174"/>
              <p:cNvSpPr/>
              <p:nvPr/>
            </p:nvSpPr>
            <p:spPr>
              <a:xfrm>
                <a:off x="7761240" y="344808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73" name="Oval 1175"/>
              <p:cNvSpPr/>
              <p:nvPr/>
            </p:nvSpPr>
            <p:spPr>
              <a:xfrm>
                <a:off x="7756560" y="335448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774" name="Group 1176"/>
              <p:cNvGrpSpPr/>
              <p:nvPr/>
            </p:nvGrpSpPr>
            <p:grpSpPr>
              <a:xfrm>
                <a:off x="7875360" y="3387600"/>
                <a:ext cx="247680" cy="87480"/>
                <a:chOff x="7875360" y="3387600"/>
                <a:chExt cx="247680" cy="87480"/>
              </a:xfrm>
            </p:grpSpPr>
            <p:sp>
              <p:nvSpPr>
                <p:cNvPr id="775" name="Line 1177"/>
                <p:cNvSpPr/>
                <p:nvPr/>
              </p:nvSpPr>
              <p:spPr>
                <a:xfrm flipV="1">
                  <a:off x="7875360" y="338760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76" name="Line 1178"/>
                <p:cNvSpPr/>
                <p:nvPr/>
              </p:nvSpPr>
              <p:spPr>
                <a:xfrm>
                  <a:off x="8045280" y="347472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77" name="Line 1179"/>
                <p:cNvSpPr/>
                <p:nvPr/>
              </p:nvSpPr>
              <p:spPr>
                <a:xfrm>
                  <a:off x="7956720" y="3389400"/>
                  <a:ext cx="92160" cy="853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778" name="Group 1180"/>
              <p:cNvGrpSpPr/>
              <p:nvPr/>
            </p:nvGrpSpPr>
            <p:grpSpPr>
              <a:xfrm>
                <a:off x="7875360" y="3385800"/>
                <a:ext cx="247680" cy="88920"/>
                <a:chOff x="7875360" y="3385800"/>
                <a:chExt cx="247680" cy="88920"/>
              </a:xfrm>
            </p:grpSpPr>
            <p:sp>
              <p:nvSpPr>
                <p:cNvPr id="779" name="Line 1181"/>
                <p:cNvSpPr/>
                <p:nvPr/>
              </p:nvSpPr>
              <p:spPr>
                <a:xfrm>
                  <a:off x="7875360" y="347292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80" name="Line 1182"/>
                <p:cNvSpPr/>
                <p:nvPr/>
              </p:nvSpPr>
              <p:spPr>
                <a:xfrm>
                  <a:off x="8045280" y="338580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81" name="Line 1183"/>
                <p:cNvSpPr/>
                <p:nvPr/>
              </p:nvSpPr>
              <p:spPr>
                <a:xfrm flipV="1">
                  <a:off x="7956720" y="3385800"/>
                  <a:ext cx="9216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782" name="Rectangle 1184"/>
              <p:cNvSpPr/>
              <p:nvPr/>
            </p:nvSpPr>
            <p:spPr>
              <a:xfrm>
                <a:off x="7678800" y="326556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83" name="Rectangle 1185"/>
              <p:cNvSpPr/>
              <p:nvPr/>
            </p:nvSpPr>
            <p:spPr>
              <a:xfrm>
                <a:off x="7635960" y="329868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84" name="Line 1186"/>
              <p:cNvSpPr/>
              <p:nvPr/>
            </p:nvSpPr>
            <p:spPr>
              <a:xfrm>
                <a:off x="7630920" y="360360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85" name="Line 1187"/>
              <p:cNvSpPr/>
              <p:nvPr/>
            </p:nvSpPr>
            <p:spPr>
              <a:xfrm>
                <a:off x="7640280" y="3450960"/>
                <a:ext cx="69084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86" name="Rectangle 1188"/>
              <p:cNvSpPr/>
              <p:nvPr/>
            </p:nvSpPr>
            <p:spPr>
              <a:xfrm>
                <a:off x="7631280" y="330372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87" name="Text Box 1189"/>
              <p:cNvSpPr/>
              <p:nvPr/>
            </p:nvSpPr>
            <p:spPr>
              <a:xfrm>
                <a:off x="7532640" y="3108240"/>
                <a:ext cx="90288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788" name="Group 1190"/>
            <p:cNvGrpSpPr/>
            <p:nvPr/>
          </p:nvGrpSpPr>
          <p:grpSpPr>
            <a:xfrm>
              <a:off x="6527880" y="3121200"/>
              <a:ext cx="898200" cy="685440"/>
              <a:chOff x="6527880" y="3121200"/>
              <a:chExt cx="898200" cy="685440"/>
            </a:xfrm>
          </p:grpSpPr>
          <p:sp>
            <p:nvSpPr>
              <p:cNvPr id="789" name="Line 1191"/>
              <p:cNvSpPr/>
              <p:nvPr/>
            </p:nvSpPr>
            <p:spPr>
              <a:xfrm>
                <a:off x="6770520" y="3759120"/>
                <a:ext cx="495360" cy="1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90" name="Line 1192"/>
              <p:cNvSpPr/>
              <p:nvPr/>
            </p:nvSpPr>
            <p:spPr>
              <a:xfrm flipV="1">
                <a:off x="7010280" y="3590640"/>
                <a:ext cx="1440" cy="163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91" name="Oval 1193"/>
              <p:cNvSpPr/>
              <p:nvPr/>
            </p:nvSpPr>
            <p:spPr>
              <a:xfrm>
                <a:off x="6750000" y="347184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92" name="Line 1194"/>
              <p:cNvSpPr/>
              <p:nvPr/>
            </p:nvSpPr>
            <p:spPr>
              <a:xfrm>
                <a:off x="6750000" y="346068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93" name="Line 1195"/>
              <p:cNvSpPr/>
              <p:nvPr/>
            </p:nvSpPr>
            <p:spPr>
              <a:xfrm>
                <a:off x="7246800" y="346068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94" name="Rectangle 1196"/>
              <p:cNvSpPr/>
              <p:nvPr/>
            </p:nvSpPr>
            <p:spPr>
              <a:xfrm>
                <a:off x="6750000" y="346068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795" name="Oval 1197"/>
              <p:cNvSpPr/>
              <p:nvPr/>
            </p:nvSpPr>
            <p:spPr>
              <a:xfrm>
                <a:off x="6745320" y="336708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796" name="Group 1198"/>
              <p:cNvGrpSpPr/>
              <p:nvPr/>
            </p:nvGrpSpPr>
            <p:grpSpPr>
              <a:xfrm>
                <a:off x="6864120" y="3400200"/>
                <a:ext cx="247680" cy="87840"/>
                <a:chOff x="6864120" y="3400200"/>
                <a:chExt cx="247680" cy="87840"/>
              </a:xfrm>
            </p:grpSpPr>
            <p:sp>
              <p:nvSpPr>
                <p:cNvPr id="797" name="Line 1199"/>
                <p:cNvSpPr/>
                <p:nvPr/>
              </p:nvSpPr>
              <p:spPr>
                <a:xfrm flipV="1">
                  <a:off x="6864120" y="340020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98" name="Line 1200"/>
                <p:cNvSpPr/>
                <p:nvPr/>
              </p:nvSpPr>
              <p:spPr>
                <a:xfrm>
                  <a:off x="7034040" y="348768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799" name="Line 1201"/>
                <p:cNvSpPr/>
                <p:nvPr/>
              </p:nvSpPr>
              <p:spPr>
                <a:xfrm>
                  <a:off x="6945480" y="3402000"/>
                  <a:ext cx="92160" cy="8568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800" name="Group 1202"/>
              <p:cNvGrpSpPr/>
              <p:nvPr/>
            </p:nvGrpSpPr>
            <p:grpSpPr>
              <a:xfrm>
                <a:off x="6864120" y="3398760"/>
                <a:ext cx="247680" cy="88920"/>
                <a:chOff x="6864120" y="3398760"/>
                <a:chExt cx="247680" cy="88920"/>
              </a:xfrm>
            </p:grpSpPr>
            <p:sp>
              <p:nvSpPr>
                <p:cNvPr id="801" name="Line 1203"/>
                <p:cNvSpPr/>
                <p:nvPr/>
              </p:nvSpPr>
              <p:spPr>
                <a:xfrm>
                  <a:off x="6864120" y="348588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02" name="Line 1204"/>
                <p:cNvSpPr/>
                <p:nvPr/>
              </p:nvSpPr>
              <p:spPr>
                <a:xfrm>
                  <a:off x="7034040" y="339876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03" name="Line 1205"/>
                <p:cNvSpPr/>
                <p:nvPr/>
              </p:nvSpPr>
              <p:spPr>
                <a:xfrm flipV="1">
                  <a:off x="6945480" y="3398760"/>
                  <a:ext cx="9216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804" name="Rectangle 1206"/>
              <p:cNvSpPr/>
              <p:nvPr/>
            </p:nvSpPr>
            <p:spPr>
              <a:xfrm>
                <a:off x="6667560" y="327816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05" name="Rectangle 1207"/>
              <p:cNvSpPr/>
              <p:nvPr/>
            </p:nvSpPr>
            <p:spPr>
              <a:xfrm>
                <a:off x="6624720" y="331164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06" name="Line 1208"/>
              <p:cNvSpPr/>
              <p:nvPr/>
            </p:nvSpPr>
            <p:spPr>
              <a:xfrm>
                <a:off x="6619680" y="361620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07" name="Line 1209"/>
              <p:cNvSpPr/>
              <p:nvPr/>
            </p:nvSpPr>
            <p:spPr>
              <a:xfrm>
                <a:off x="6629400" y="346392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08" name="Rectangle 1210"/>
              <p:cNvSpPr/>
              <p:nvPr/>
            </p:nvSpPr>
            <p:spPr>
              <a:xfrm>
                <a:off x="6620040" y="331632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09" name="Text Box 1211"/>
              <p:cNvSpPr/>
              <p:nvPr/>
            </p:nvSpPr>
            <p:spPr>
              <a:xfrm>
                <a:off x="6527880" y="3121200"/>
                <a:ext cx="89820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810" name="Group 1212"/>
            <p:cNvGrpSpPr/>
            <p:nvPr/>
          </p:nvGrpSpPr>
          <p:grpSpPr>
            <a:xfrm>
              <a:off x="7288200" y="4340160"/>
              <a:ext cx="898200" cy="685440"/>
              <a:chOff x="7288200" y="4340160"/>
              <a:chExt cx="898200" cy="685440"/>
            </a:xfrm>
          </p:grpSpPr>
          <p:sp>
            <p:nvSpPr>
              <p:cNvPr id="811" name="Line 1213"/>
              <p:cNvSpPr/>
              <p:nvPr/>
            </p:nvSpPr>
            <p:spPr>
              <a:xfrm>
                <a:off x="7532640" y="4978080"/>
                <a:ext cx="495000" cy="18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12" name="Line 1214"/>
              <p:cNvSpPr/>
              <p:nvPr/>
            </p:nvSpPr>
            <p:spPr>
              <a:xfrm flipV="1">
                <a:off x="7772400" y="4809960"/>
                <a:ext cx="1440" cy="163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13" name="Oval 1215"/>
              <p:cNvSpPr/>
              <p:nvPr/>
            </p:nvSpPr>
            <p:spPr>
              <a:xfrm>
                <a:off x="7512120" y="469116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14" name="Line 1216"/>
              <p:cNvSpPr/>
              <p:nvPr/>
            </p:nvSpPr>
            <p:spPr>
              <a:xfrm>
                <a:off x="7511760" y="467964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15" name="Line 1217"/>
              <p:cNvSpPr/>
              <p:nvPr/>
            </p:nvSpPr>
            <p:spPr>
              <a:xfrm>
                <a:off x="8008920" y="467964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16" name="Rectangle 1218"/>
              <p:cNvSpPr/>
              <p:nvPr/>
            </p:nvSpPr>
            <p:spPr>
              <a:xfrm>
                <a:off x="7512120" y="468000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17" name="Oval 1219"/>
              <p:cNvSpPr/>
              <p:nvPr/>
            </p:nvSpPr>
            <p:spPr>
              <a:xfrm>
                <a:off x="7507440" y="458640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818" name="Group 1220"/>
              <p:cNvGrpSpPr/>
              <p:nvPr/>
            </p:nvGrpSpPr>
            <p:grpSpPr>
              <a:xfrm>
                <a:off x="7626240" y="4619520"/>
                <a:ext cx="247680" cy="87480"/>
                <a:chOff x="7626240" y="4619520"/>
                <a:chExt cx="247680" cy="87480"/>
              </a:xfrm>
            </p:grpSpPr>
            <p:sp>
              <p:nvSpPr>
                <p:cNvPr id="819" name="Line 1221"/>
                <p:cNvSpPr/>
                <p:nvPr/>
              </p:nvSpPr>
              <p:spPr>
                <a:xfrm flipV="1">
                  <a:off x="7626240" y="4619520"/>
                  <a:ext cx="8820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20" name="Line 1222"/>
                <p:cNvSpPr/>
                <p:nvPr/>
              </p:nvSpPr>
              <p:spPr>
                <a:xfrm>
                  <a:off x="7796160" y="470664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21" name="Line 1223"/>
                <p:cNvSpPr/>
                <p:nvPr/>
              </p:nvSpPr>
              <p:spPr>
                <a:xfrm>
                  <a:off x="7707600" y="4621320"/>
                  <a:ext cx="91800" cy="853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822" name="Group 1224"/>
              <p:cNvGrpSpPr/>
              <p:nvPr/>
            </p:nvGrpSpPr>
            <p:grpSpPr>
              <a:xfrm>
                <a:off x="7626240" y="4617720"/>
                <a:ext cx="247680" cy="88920"/>
                <a:chOff x="7626240" y="4617720"/>
                <a:chExt cx="247680" cy="88920"/>
              </a:xfrm>
            </p:grpSpPr>
            <p:sp>
              <p:nvSpPr>
                <p:cNvPr id="823" name="Line 1225"/>
                <p:cNvSpPr/>
                <p:nvPr/>
              </p:nvSpPr>
              <p:spPr>
                <a:xfrm>
                  <a:off x="7626240" y="4704840"/>
                  <a:ext cx="8820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24" name="Line 1226"/>
                <p:cNvSpPr/>
                <p:nvPr/>
              </p:nvSpPr>
              <p:spPr>
                <a:xfrm>
                  <a:off x="7796160" y="461772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25" name="Line 1227"/>
                <p:cNvSpPr/>
                <p:nvPr/>
              </p:nvSpPr>
              <p:spPr>
                <a:xfrm flipV="1">
                  <a:off x="7707600" y="4617720"/>
                  <a:ext cx="9180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826" name="Rectangle 1228"/>
              <p:cNvSpPr/>
              <p:nvPr/>
            </p:nvSpPr>
            <p:spPr>
              <a:xfrm>
                <a:off x="7429680" y="449748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27" name="Rectangle 1229"/>
              <p:cNvSpPr/>
              <p:nvPr/>
            </p:nvSpPr>
            <p:spPr>
              <a:xfrm>
                <a:off x="7386480" y="453060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28" name="Line 1230"/>
              <p:cNvSpPr/>
              <p:nvPr/>
            </p:nvSpPr>
            <p:spPr>
              <a:xfrm>
                <a:off x="7381800" y="483552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29" name="Line 1231"/>
              <p:cNvSpPr/>
              <p:nvPr/>
            </p:nvSpPr>
            <p:spPr>
              <a:xfrm>
                <a:off x="7391160" y="468288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30" name="Rectangle 1232"/>
              <p:cNvSpPr/>
              <p:nvPr/>
            </p:nvSpPr>
            <p:spPr>
              <a:xfrm>
                <a:off x="7381800" y="453564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31" name="Text Box 1233"/>
              <p:cNvSpPr/>
              <p:nvPr/>
            </p:nvSpPr>
            <p:spPr>
              <a:xfrm>
                <a:off x="7288200" y="4340160"/>
                <a:ext cx="89820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832" name="Group 1234"/>
            <p:cNvGrpSpPr/>
            <p:nvPr/>
          </p:nvGrpSpPr>
          <p:grpSpPr>
            <a:xfrm>
              <a:off x="6516720" y="4132440"/>
              <a:ext cx="879120" cy="685440"/>
              <a:chOff x="6516720" y="4132440"/>
              <a:chExt cx="879120" cy="685440"/>
            </a:xfrm>
          </p:grpSpPr>
          <p:sp>
            <p:nvSpPr>
              <p:cNvPr id="833" name="Line 1235"/>
              <p:cNvSpPr/>
              <p:nvPr/>
            </p:nvSpPr>
            <p:spPr>
              <a:xfrm>
                <a:off x="6756120" y="4770360"/>
                <a:ext cx="495360" cy="1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34" name="Line 1236"/>
              <p:cNvSpPr/>
              <p:nvPr/>
            </p:nvSpPr>
            <p:spPr>
              <a:xfrm flipV="1">
                <a:off x="6995880" y="4601880"/>
                <a:ext cx="1800" cy="163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35" name="Oval 1237"/>
              <p:cNvSpPr/>
              <p:nvPr/>
            </p:nvSpPr>
            <p:spPr>
              <a:xfrm>
                <a:off x="6735600" y="448308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36" name="Line 1238"/>
              <p:cNvSpPr/>
              <p:nvPr/>
            </p:nvSpPr>
            <p:spPr>
              <a:xfrm>
                <a:off x="6735600" y="447192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37" name="Line 1239"/>
              <p:cNvSpPr/>
              <p:nvPr/>
            </p:nvSpPr>
            <p:spPr>
              <a:xfrm>
                <a:off x="7232400" y="4471920"/>
                <a:ext cx="360" cy="792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38" name="Rectangle 1240"/>
              <p:cNvSpPr/>
              <p:nvPr/>
            </p:nvSpPr>
            <p:spPr>
              <a:xfrm>
                <a:off x="6735600" y="447192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39" name="Oval 1241"/>
              <p:cNvSpPr/>
              <p:nvPr/>
            </p:nvSpPr>
            <p:spPr>
              <a:xfrm>
                <a:off x="6730920" y="437832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840" name="Group 1242"/>
              <p:cNvGrpSpPr/>
              <p:nvPr/>
            </p:nvGrpSpPr>
            <p:grpSpPr>
              <a:xfrm>
                <a:off x="6849720" y="4411440"/>
                <a:ext cx="247680" cy="87840"/>
                <a:chOff x="6849720" y="4411440"/>
                <a:chExt cx="247680" cy="87840"/>
              </a:xfrm>
            </p:grpSpPr>
            <p:sp>
              <p:nvSpPr>
                <p:cNvPr id="841" name="Line 1243"/>
                <p:cNvSpPr/>
                <p:nvPr/>
              </p:nvSpPr>
              <p:spPr>
                <a:xfrm flipV="1">
                  <a:off x="6849720" y="441144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42" name="Line 1244"/>
                <p:cNvSpPr/>
                <p:nvPr/>
              </p:nvSpPr>
              <p:spPr>
                <a:xfrm>
                  <a:off x="7019640" y="449892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43" name="Line 1245"/>
                <p:cNvSpPr/>
                <p:nvPr/>
              </p:nvSpPr>
              <p:spPr>
                <a:xfrm>
                  <a:off x="6931080" y="4413240"/>
                  <a:ext cx="92160" cy="8568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844" name="Group 1246"/>
              <p:cNvGrpSpPr/>
              <p:nvPr/>
            </p:nvGrpSpPr>
            <p:grpSpPr>
              <a:xfrm>
                <a:off x="6849720" y="4410000"/>
                <a:ext cx="247680" cy="88920"/>
                <a:chOff x="6849720" y="4410000"/>
                <a:chExt cx="247680" cy="88920"/>
              </a:xfrm>
            </p:grpSpPr>
            <p:sp>
              <p:nvSpPr>
                <p:cNvPr id="845" name="Line 1247"/>
                <p:cNvSpPr/>
                <p:nvPr/>
              </p:nvSpPr>
              <p:spPr>
                <a:xfrm>
                  <a:off x="6849720" y="449712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46" name="Line 1248"/>
                <p:cNvSpPr/>
                <p:nvPr/>
              </p:nvSpPr>
              <p:spPr>
                <a:xfrm>
                  <a:off x="7019640" y="441000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47" name="Line 1249"/>
                <p:cNvSpPr/>
                <p:nvPr/>
              </p:nvSpPr>
              <p:spPr>
                <a:xfrm flipV="1">
                  <a:off x="6931080" y="4410000"/>
                  <a:ext cx="9216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848" name="Rectangle 1250"/>
              <p:cNvSpPr/>
              <p:nvPr/>
            </p:nvSpPr>
            <p:spPr>
              <a:xfrm>
                <a:off x="6653160" y="428940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49" name="Rectangle 1251"/>
              <p:cNvSpPr/>
              <p:nvPr/>
            </p:nvSpPr>
            <p:spPr>
              <a:xfrm>
                <a:off x="6610320" y="432288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50" name="Line 1252"/>
              <p:cNvSpPr/>
              <p:nvPr/>
            </p:nvSpPr>
            <p:spPr>
              <a:xfrm>
                <a:off x="6605280" y="4627440"/>
                <a:ext cx="69084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51" name="Line 1253"/>
              <p:cNvSpPr/>
              <p:nvPr/>
            </p:nvSpPr>
            <p:spPr>
              <a:xfrm>
                <a:off x="6615000" y="4475160"/>
                <a:ext cx="69048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52" name="Rectangle 1254"/>
              <p:cNvSpPr/>
              <p:nvPr/>
            </p:nvSpPr>
            <p:spPr>
              <a:xfrm>
                <a:off x="6605640" y="432756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53" name="Text Box 1255"/>
              <p:cNvSpPr/>
              <p:nvPr/>
            </p:nvSpPr>
            <p:spPr>
              <a:xfrm>
                <a:off x="6516720" y="4132440"/>
                <a:ext cx="87912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  <p:grpSp>
          <p:nvGrpSpPr>
            <p:cNvPr id="854" name="Group 1256"/>
            <p:cNvGrpSpPr/>
            <p:nvPr/>
          </p:nvGrpSpPr>
          <p:grpSpPr>
            <a:xfrm>
              <a:off x="5811840" y="4491000"/>
              <a:ext cx="855360" cy="685440"/>
              <a:chOff x="5811840" y="4491000"/>
              <a:chExt cx="855360" cy="685440"/>
            </a:xfrm>
          </p:grpSpPr>
          <p:sp>
            <p:nvSpPr>
              <p:cNvPr id="855" name="Line 1257"/>
              <p:cNvSpPr/>
              <p:nvPr/>
            </p:nvSpPr>
            <p:spPr>
              <a:xfrm>
                <a:off x="6049800" y="5128920"/>
                <a:ext cx="495360" cy="180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56" name="Line 1258"/>
              <p:cNvSpPr/>
              <p:nvPr/>
            </p:nvSpPr>
            <p:spPr>
              <a:xfrm flipV="1">
                <a:off x="6289560" y="4960800"/>
                <a:ext cx="1440" cy="1634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57" name="Oval 1259"/>
              <p:cNvSpPr/>
              <p:nvPr/>
            </p:nvSpPr>
            <p:spPr>
              <a:xfrm>
                <a:off x="6029280" y="4842000"/>
                <a:ext cx="496440" cy="12816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58" name="Line 1260"/>
              <p:cNvSpPr/>
              <p:nvPr/>
            </p:nvSpPr>
            <p:spPr>
              <a:xfrm>
                <a:off x="6029280" y="483048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59" name="Line 1261"/>
              <p:cNvSpPr/>
              <p:nvPr/>
            </p:nvSpPr>
            <p:spPr>
              <a:xfrm>
                <a:off x="6526080" y="4830480"/>
                <a:ext cx="360" cy="7956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60" name="Rectangle 1262"/>
              <p:cNvSpPr/>
              <p:nvPr/>
            </p:nvSpPr>
            <p:spPr>
              <a:xfrm>
                <a:off x="6029280" y="4830840"/>
                <a:ext cx="491760" cy="77400"/>
              </a:xfrm>
              <a:prstGeom prst="rect">
                <a:avLst/>
              </a:prstGeom>
              <a:solidFill>
                <a:schemeClr val="hlink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61" name="Oval 1263"/>
              <p:cNvSpPr/>
              <p:nvPr/>
            </p:nvSpPr>
            <p:spPr>
              <a:xfrm>
                <a:off x="6024600" y="4737240"/>
                <a:ext cx="496440" cy="15048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862" name="Group 1264"/>
              <p:cNvGrpSpPr/>
              <p:nvPr/>
            </p:nvGrpSpPr>
            <p:grpSpPr>
              <a:xfrm>
                <a:off x="6143400" y="4770360"/>
                <a:ext cx="247680" cy="87480"/>
                <a:chOff x="6143400" y="4770360"/>
                <a:chExt cx="247680" cy="87480"/>
              </a:xfrm>
            </p:grpSpPr>
            <p:sp>
              <p:nvSpPr>
                <p:cNvPr id="863" name="Line 1265"/>
                <p:cNvSpPr/>
                <p:nvPr/>
              </p:nvSpPr>
              <p:spPr>
                <a:xfrm flipV="1">
                  <a:off x="6143400" y="477036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64" name="Line 1266"/>
                <p:cNvSpPr/>
                <p:nvPr/>
              </p:nvSpPr>
              <p:spPr>
                <a:xfrm>
                  <a:off x="6313320" y="485748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65" name="Line 1267"/>
                <p:cNvSpPr/>
                <p:nvPr/>
              </p:nvSpPr>
              <p:spPr>
                <a:xfrm>
                  <a:off x="6224760" y="4772160"/>
                  <a:ext cx="92160" cy="853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866" name="Group 1268"/>
              <p:cNvGrpSpPr/>
              <p:nvPr/>
            </p:nvGrpSpPr>
            <p:grpSpPr>
              <a:xfrm>
                <a:off x="6143400" y="4768560"/>
                <a:ext cx="247680" cy="88920"/>
                <a:chOff x="6143400" y="4768560"/>
                <a:chExt cx="247680" cy="88920"/>
              </a:xfrm>
            </p:grpSpPr>
            <p:sp>
              <p:nvSpPr>
                <p:cNvPr id="867" name="Line 1269"/>
                <p:cNvSpPr/>
                <p:nvPr/>
              </p:nvSpPr>
              <p:spPr>
                <a:xfrm>
                  <a:off x="6143400" y="4855680"/>
                  <a:ext cx="88560" cy="18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68" name="Line 1270"/>
                <p:cNvSpPr/>
                <p:nvPr/>
              </p:nvSpPr>
              <p:spPr>
                <a:xfrm>
                  <a:off x="6313320" y="4768560"/>
                  <a:ext cx="77760" cy="3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869" name="Line 1271"/>
                <p:cNvSpPr/>
                <p:nvPr/>
              </p:nvSpPr>
              <p:spPr>
                <a:xfrm flipV="1">
                  <a:off x="6224760" y="4768560"/>
                  <a:ext cx="92160" cy="8712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870" name="Rectangle 1272"/>
              <p:cNvSpPr/>
              <p:nvPr/>
            </p:nvSpPr>
            <p:spPr>
              <a:xfrm>
                <a:off x="5946840" y="4648320"/>
                <a:ext cx="676080" cy="4852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71" name="Rectangle 1273"/>
              <p:cNvSpPr/>
              <p:nvPr/>
            </p:nvSpPr>
            <p:spPr>
              <a:xfrm>
                <a:off x="5904000" y="4681440"/>
                <a:ext cx="690120" cy="495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72" name="Line 1274"/>
              <p:cNvSpPr/>
              <p:nvPr/>
            </p:nvSpPr>
            <p:spPr>
              <a:xfrm>
                <a:off x="5898960" y="4986000"/>
                <a:ext cx="690480" cy="504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73" name="Line 1275"/>
              <p:cNvSpPr/>
              <p:nvPr/>
            </p:nvSpPr>
            <p:spPr>
              <a:xfrm>
                <a:off x="5908320" y="4833720"/>
                <a:ext cx="690840" cy="4680"/>
              </a:xfrm>
              <a:prstGeom prst="line">
                <a:avLst/>
              </a:prstGeom>
              <a:ln w="1270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74" name="Rectangle 1276"/>
              <p:cNvSpPr/>
              <p:nvPr/>
            </p:nvSpPr>
            <p:spPr>
              <a:xfrm>
                <a:off x="5899320" y="4686480"/>
                <a:ext cx="690120" cy="147240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875" name="Text Box 1277"/>
              <p:cNvSpPr/>
              <p:nvPr/>
            </p:nvSpPr>
            <p:spPr>
              <a:xfrm>
                <a:off x="5811840" y="4491000"/>
                <a:ext cx="855360" cy="668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Arial"/>
                    <a:ea typeface="ＭＳ Ｐゴシック"/>
                  </a:rPr>
                  <a:t>Netzwerk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Sicherung</a:t>
                </a:r>
                <a:endParaRPr lang="de-DE" sz="1000" b="0" strike="noStrike" spc="-1">
                  <a:latin typeface="Arial"/>
                </a:endParaRPr>
              </a:p>
              <a:p>
                <a:pPr algn="ctr">
                  <a:lnSpc>
                    <a:spcPct val="100000"/>
                  </a:lnSpc>
                  <a:buNone/>
                </a:pPr>
                <a:r>
                  <a:rPr lang="en-US" sz="8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Bitübertragung</a:t>
                </a:r>
                <a:endParaRPr lang="de-DE" sz="800" b="0" strike="noStrike" spc="-1">
                  <a:latin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"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Picture 2"/>
          <p:cNvPicPr/>
          <p:nvPr/>
        </p:nvPicPr>
        <p:blipFill>
          <a:blip r:embed="rId2"/>
          <a:stretch/>
        </p:blipFill>
        <p:spPr>
          <a:xfrm>
            <a:off x="508320" y="1262880"/>
            <a:ext cx="5847120" cy="5445720"/>
          </a:xfrm>
          <a:prstGeom prst="rect">
            <a:avLst/>
          </a:prstGeom>
          <a:ln w="0">
            <a:noFill/>
          </a:ln>
        </p:spPr>
      </p:pic>
      <p:sp>
        <p:nvSpPr>
          <p:cNvPr id="878" name="PlaceHolder 2"/>
          <p:cNvSpPr>
            <a:spLocks noGrp="1"/>
          </p:cNvSpPr>
          <p:nvPr>
            <p:ph type="sldNum" idx="20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85E7C1-99BA-4722-BB35-D4ADA7B52F24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6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879" name="Text Box 168"/>
          <p:cNvSpPr/>
          <p:nvPr/>
        </p:nvSpPr>
        <p:spPr>
          <a:xfrm>
            <a:off x="1081800" y="403200"/>
            <a:ext cx="3768480" cy="5770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u="sng" strike="noStrike" spc="-1">
                <a:solidFill>
                  <a:srgbClr val="3333CC"/>
                </a:solidFill>
                <a:uFillTx/>
                <a:latin typeface="Comic Sans MS"/>
              </a:rPr>
              <a:t>Routing und Forwarding</a:t>
            </a:r>
            <a:endParaRPr lang="de-DE" sz="3200" b="0" strike="noStrike" spc="-1">
              <a:latin typeface="Arial"/>
            </a:endParaRPr>
          </a:p>
        </p:txBody>
      </p:sp>
      <p:grpSp>
        <p:nvGrpSpPr>
          <p:cNvPr id="880" name="Group 170"/>
          <p:cNvGrpSpPr/>
          <p:nvPr/>
        </p:nvGrpSpPr>
        <p:grpSpPr>
          <a:xfrm>
            <a:off x="3436920" y="1123560"/>
            <a:ext cx="4717800" cy="638280"/>
            <a:chOff x="3436920" y="1123560"/>
            <a:chExt cx="4717800" cy="638280"/>
          </a:xfrm>
        </p:grpSpPr>
        <p:sp>
          <p:nvSpPr>
            <p:cNvPr id="881" name="Line 171"/>
            <p:cNvSpPr/>
            <p:nvPr/>
          </p:nvSpPr>
          <p:spPr>
            <a:xfrm flipV="1">
              <a:off x="3436920" y="1468080"/>
              <a:ext cx="582480" cy="13824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882" name="Text Box 172"/>
            <p:cNvSpPr/>
            <p:nvPr/>
          </p:nvSpPr>
          <p:spPr>
            <a:xfrm>
              <a:off x="4084560" y="1123560"/>
              <a:ext cx="40701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0000"/>
                  </a:solidFill>
                  <a:latin typeface="Comic Sans MS"/>
                  <a:ea typeface="ＭＳ Ｐゴシック"/>
                </a:rPr>
                <a:t>Routing Algorithmus bestimmt</a:t>
              </a:r>
              <a:endParaRPr lang="de-DE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0000"/>
                  </a:solidFill>
                  <a:latin typeface="Comic Sans MS"/>
                  <a:ea typeface="ＭＳ Ｐゴシック"/>
                </a:rPr>
                <a:t>Ende-zu-Ende Pfad durch Netzwerk</a:t>
              </a:r>
              <a:endParaRPr lang="de-DE" sz="1800" b="0" strike="noStrike" spc="-1">
                <a:latin typeface="Arial"/>
              </a:endParaRPr>
            </a:p>
          </p:txBody>
        </p:sp>
      </p:grpSp>
      <p:grpSp>
        <p:nvGrpSpPr>
          <p:cNvPr id="883" name="Group 173"/>
          <p:cNvGrpSpPr/>
          <p:nvPr/>
        </p:nvGrpSpPr>
        <p:grpSpPr>
          <a:xfrm>
            <a:off x="3474000" y="1792800"/>
            <a:ext cx="4280040" cy="638280"/>
            <a:chOff x="3474000" y="1792800"/>
            <a:chExt cx="4280040" cy="638280"/>
          </a:xfrm>
        </p:grpSpPr>
        <p:sp>
          <p:nvSpPr>
            <p:cNvPr id="884" name="Line 174"/>
            <p:cNvSpPr/>
            <p:nvPr/>
          </p:nvSpPr>
          <p:spPr>
            <a:xfrm flipV="1">
              <a:off x="3474000" y="2138400"/>
              <a:ext cx="582840" cy="13824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885" name="Text Box 175"/>
            <p:cNvSpPr/>
            <p:nvPr/>
          </p:nvSpPr>
          <p:spPr>
            <a:xfrm>
              <a:off x="4063320" y="1792800"/>
              <a:ext cx="369072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0000"/>
                  </a:solidFill>
                  <a:latin typeface="Comic Sans MS"/>
                  <a:ea typeface="ＭＳ Ｐゴシック"/>
                </a:rPr>
                <a:t>Forwarding Tabelle bestimmt</a:t>
              </a:r>
              <a:endParaRPr lang="de-DE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FF0000"/>
                  </a:solidFill>
                  <a:latin typeface="Comic Sans MS"/>
                  <a:ea typeface="ＭＳ Ｐゴシック"/>
                </a:rPr>
                <a:t>lokales Forwarding an Router</a:t>
              </a:r>
              <a:endParaRPr lang="de-DE" sz="1800" b="0" strike="noStrike" spc="-1">
                <a:latin typeface="Arial"/>
              </a:endParaRPr>
            </a:p>
          </p:txBody>
        </p:sp>
      </p:grpSp>
      <p:sp>
        <p:nvSpPr>
          <p:cNvPr id="886" name="Textfeld 1"/>
          <p:cNvSpPr/>
          <p:nvPr/>
        </p:nvSpPr>
        <p:spPr>
          <a:xfrm>
            <a:off x="1812240" y="1446840"/>
            <a:ext cx="1492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rgbClr val="000000"/>
                </a:solidFill>
                <a:latin typeface="Arial"/>
              </a:rPr>
              <a:t>Routing Tabelle</a:t>
            </a:r>
            <a:endParaRPr lang="de-DE" sz="1400" b="0" strike="noStrike" spc="-1">
              <a:latin typeface="Arial"/>
            </a:endParaRPr>
          </a:p>
        </p:txBody>
      </p:sp>
      <p:sp>
        <p:nvSpPr>
          <p:cNvPr id="887" name="Textfeld 177"/>
          <p:cNvSpPr/>
          <p:nvPr/>
        </p:nvSpPr>
        <p:spPr>
          <a:xfrm>
            <a:off x="1490760" y="2386800"/>
            <a:ext cx="99180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100" b="0" strike="noStrike" spc="-1">
                <a:solidFill>
                  <a:srgbClr val="000000"/>
                </a:solidFill>
                <a:latin typeface="Arial"/>
              </a:rPr>
              <a:t>Header-Wert</a:t>
            </a:r>
            <a:endParaRPr lang="de-DE" sz="1100" b="0" strike="noStrike" spc="-1">
              <a:latin typeface="Arial"/>
            </a:endParaRPr>
          </a:p>
        </p:txBody>
      </p:sp>
      <p:sp>
        <p:nvSpPr>
          <p:cNvPr id="888" name="Textfeld 178"/>
          <p:cNvSpPr/>
          <p:nvPr/>
        </p:nvSpPr>
        <p:spPr>
          <a:xfrm>
            <a:off x="2319840" y="2387160"/>
            <a:ext cx="129204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100" b="0" strike="noStrike" spc="-1">
                <a:solidFill>
                  <a:srgbClr val="000000"/>
                </a:solidFill>
                <a:latin typeface="Arial"/>
              </a:rPr>
              <a:t>Ausgangsleitung</a:t>
            </a:r>
            <a:endParaRPr lang="de-DE" sz="1100" b="0" strike="noStrike" spc="-1">
              <a:latin typeface="Arial"/>
            </a:endParaRPr>
          </a:p>
        </p:txBody>
      </p:sp>
      <p:graphicFrame>
        <p:nvGraphicFramePr>
          <p:cNvPr id="889" name="Tabelle 2"/>
          <p:cNvGraphicFramePr/>
          <p:nvPr/>
        </p:nvGraphicFramePr>
        <p:xfrm>
          <a:off x="1524600" y="2705400"/>
          <a:ext cx="2015640" cy="843120"/>
        </p:xfrm>
        <a:graphic>
          <a:graphicData uri="http://schemas.openxmlformats.org/drawingml/2006/table">
            <a:tbl>
              <a:tblPr/>
              <a:tblGrid>
                <a:gridCol w="895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600">
                <a:tc>
                  <a:txBody>
                    <a:bodyPr/>
                    <a:lstStyle/>
                    <a:p>
                      <a:pPr algn="r">
                        <a:lnSpc>
                          <a:spcPts val="700"/>
                        </a:lnSpc>
                        <a:buNone/>
                      </a:pPr>
                      <a:r>
                        <a:rPr lang="de-DE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0100</a:t>
                      </a:r>
                      <a:endParaRPr lang="de-DE" sz="10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3816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  <a:buNone/>
                      </a:pPr>
                      <a:r>
                        <a:rPr lang="de-DE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lang="de-DE" sz="10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3816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600">
                <a:tc>
                  <a:txBody>
                    <a:bodyPr/>
                    <a:lstStyle/>
                    <a:p>
                      <a:pPr algn="r">
                        <a:lnSpc>
                          <a:spcPts val="700"/>
                        </a:lnSpc>
                        <a:buNone/>
                      </a:pPr>
                      <a:r>
                        <a:rPr lang="de-DE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0101</a:t>
                      </a:r>
                      <a:endParaRPr lang="de-DE" sz="10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3816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  <a:buNone/>
                      </a:pPr>
                      <a:r>
                        <a:rPr lang="de-DE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de-DE" sz="10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38160">
                      <a:noFill/>
                    </a:lnT>
                    <a:lnB w="1224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600">
                <a:tc>
                  <a:txBody>
                    <a:bodyPr/>
                    <a:lstStyle/>
                    <a:p>
                      <a:pPr algn="r">
                        <a:lnSpc>
                          <a:spcPts val="700"/>
                        </a:lnSpc>
                        <a:buNone/>
                      </a:pPr>
                      <a:r>
                        <a:rPr lang="de-DE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0111</a:t>
                      </a:r>
                      <a:endParaRPr lang="de-DE" sz="10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  <a:buNone/>
                      </a:pPr>
                      <a:r>
                        <a:rPr lang="de-DE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de-DE" sz="10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320">
                <a:tc>
                  <a:txBody>
                    <a:bodyPr/>
                    <a:lstStyle/>
                    <a:p>
                      <a:pPr algn="r">
                        <a:lnSpc>
                          <a:spcPts val="700"/>
                        </a:lnSpc>
                        <a:buNone/>
                      </a:pPr>
                      <a:r>
                        <a:rPr lang="de-DE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1001</a:t>
                      </a:r>
                      <a:endParaRPr lang="de-DE" sz="10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00"/>
                        </a:lnSpc>
                        <a:buNone/>
                      </a:pPr>
                      <a:r>
                        <a:rPr lang="de-DE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lang="de-DE" sz="10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0" name="Textfeld 181"/>
          <p:cNvSpPr/>
          <p:nvPr/>
        </p:nvSpPr>
        <p:spPr>
          <a:xfrm>
            <a:off x="1398600" y="2068560"/>
            <a:ext cx="2266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</a:rPr>
              <a:t>Lokale Forwarding-Tabelle</a:t>
            </a:r>
            <a:endParaRPr lang="de-DE" sz="1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" dur="5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2"/>
          <p:cNvSpPr>
            <a:spLocks noGrp="1"/>
          </p:cNvSpPr>
          <p:nvPr>
            <p:ph type="sldNum" idx="22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F667AC-E904-4980-8949-235D12C1DD6B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7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Dienstmodelle</a:t>
            </a:r>
            <a:endParaRPr lang="en-US" sz="40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94" name="PlaceHolder 4"/>
          <p:cNvSpPr>
            <a:spLocks noGrp="1"/>
          </p:cNvSpPr>
          <p:nvPr>
            <p:ph/>
          </p:nvPr>
        </p:nvSpPr>
        <p:spPr>
          <a:xfrm>
            <a:off x="533520" y="1562040"/>
            <a:ext cx="8151120" cy="9291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F:</a:t>
            </a:r>
            <a:r>
              <a:rPr lang="en-US" sz="2400" b="0" strike="noStrike" spc="-1">
                <a:solidFill>
                  <a:srgbClr val="000000"/>
                </a:solidFill>
                <a:latin typeface="Comic Sans MS"/>
              </a:rPr>
              <a:t> Welches </a:t>
            </a:r>
            <a:r>
              <a:rPr lang="en-US" sz="2400" b="0" i="1" strike="noStrike" spc="-1">
                <a:solidFill>
                  <a:srgbClr val="3333CC"/>
                </a:solidFill>
                <a:latin typeface="Comic Sans MS"/>
              </a:rPr>
              <a:t>Dienstmodell</a:t>
            </a:r>
            <a:r>
              <a:rPr lang="en-US" sz="2400" b="0" strike="noStrike" spc="-1">
                <a:solidFill>
                  <a:srgbClr val="000000"/>
                </a:solidFill>
                <a:latin typeface="Comic Sans MS"/>
              </a:rPr>
              <a:t> ist für den “Kanal”, der Paket vom Sender zum Empfänger transportiert, geeignet?</a:t>
            </a: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95" name="Rectangle 15"/>
          <p:cNvSpPr/>
          <p:nvPr/>
        </p:nvSpPr>
        <p:spPr>
          <a:xfrm>
            <a:off x="442800" y="2587680"/>
            <a:ext cx="3809520" cy="25286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i="1" strike="noStrike" spc="-1" dirty="0" err="1">
                <a:solidFill>
                  <a:srgbClr val="FF0000"/>
                </a:solidFill>
                <a:latin typeface="Comic Sans MS"/>
              </a:rPr>
              <a:t>Beispiele</a:t>
            </a:r>
            <a:r>
              <a:rPr lang="en-US" sz="2200" b="0" i="1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200" b="0" i="1" strike="noStrike" spc="-1" dirty="0" err="1">
                <a:solidFill>
                  <a:srgbClr val="FF0000"/>
                </a:solidFill>
                <a:latin typeface="Comic Sans MS"/>
              </a:rPr>
              <a:t>für</a:t>
            </a:r>
            <a:r>
              <a:rPr lang="en-US" sz="2200" b="0" i="1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200" b="0" i="1" strike="noStrike" spc="-1" dirty="0" err="1">
                <a:solidFill>
                  <a:srgbClr val="FF0000"/>
                </a:solidFill>
                <a:latin typeface="Comic Sans MS"/>
              </a:rPr>
              <a:t>Dienstmodelle</a:t>
            </a:r>
            <a:r>
              <a:rPr lang="en-US" sz="2200" b="0" i="1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200" b="0" i="1" strike="noStrike" spc="-1" dirty="0" err="1">
                <a:solidFill>
                  <a:srgbClr val="FF0000"/>
                </a:solidFill>
                <a:latin typeface="Comic Sans MS"/>
              </a:rPr>
              <a:t>für</a:t>
            </a:r>
            <a:r>
              <a:rPr lang="en-US" sz="2200" b="0" i="1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200" i="1" spc="-1" dirty="0" err="1">
                <a:solidFill>
                  <a:srgbClr val="FF0000"/>
                </a:solidFill>
                <a:latin typeface="Comic Sans MS"/>
              </a:rPr>
              <a:t>Datagramme</a:t>
            </a:r>
            <a:r>
              <a:rPr lang="en-US" sz="2200" i="1" spc="-1" dirty="0">
                <a:solidFill>
                  <a:srgbClr val="FF0000"/>
                </a:solidFill>
                <a:latin typeface="Comic Sans MS"/>
              </a:rPr>
              <a:t> (</a:t>
            </a:r>
            <a:r>
              <a:rPr lang="en-US" sz="2200" i="1" spc="-1" dirty="0" err="1">
                <a:solidFill>
                  <a:srgbClr val="FF0000"/>
                </a:solidFill>
                <a:latin typeface="Comic Sans MS"/>
              </a:rPr>
              <a:t>Pakete</a:t>
            </a:r>
            <a:r>
              <a:rPr lang="en-US" sz="2200" i="1" spc="-1" dirty="0">
                <a:solidFill>
                  <a:srgbClr val="FF0000"/>
                </a:solidFill>
                <a:latin typeface="Comic Sans MS"/>
              </a:rPr>
              <a:t>):</a:t>
            </a:r>
            <a:endParaRPr lang="de-DE" sz="22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3333CC"/>
              </a:buClr>
              <a:buSzPct val="85000"/>
              <a:buFont typeface="Wingdings" charset="2"/>
              <a:buChar char=""/>
              <a:tabLst>
                <a:tab pos="0" algn="l"/>
              </a:tabLst>
            </a:pP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</a:rPr>
              <a:t>Garantierte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</a:rPr>
              <a:t>Zustellung</a:t>
            </a:r>
            <a:endParaRPr lang="de-DE" sz="22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3333CC"/>
              </a:buClr>
              <a:buSzPct val="85000"/>
              <a:buFont typeface="Wingdings" charset="2"/>
              <a:buChar char=""/>
              <a:tabLst>
                <a:tab pos="0" algn="l"/>
              </a:tabLst>
            </a:pP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</a:rPr>
              <a:t>Garantierte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</a:rPr>
              <a:t>Zustellung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</a:rPr>
              <a:t> in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</a:rPr>
              <a:t>weniger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</a:rPr>
              <a:t>als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</a:rPr>
              <a:t> 40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</a:rPr>
              <a:t>ms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</a:rPr>
              <a:t>Verzögerung</a:t>
            </a:r>
            <a:endParaRPr lang="de-DE" sz="2200" b="0" strike="noStrike" spc="-1" dirty="0">
              <a:latin typeface="Arial"/>
            </a:endParaRPr>
          </a:p>
        </p:txBody>
      </p:sp>
      <p:sp>
        <p:nvSpPr>
          <p:cNvPr id="896" name="Rectangle 16"/>
          <p:cNvSpPr/>
          <p:nvPr/>
        </p:nvSpPr>
        <p:spPr>
          <a:xfrm>
            <a:off x="4419719" y="2587680"/>
            <a:ext cx="4342031" cy="3685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i="1" spc="-1" dirty="0" err="1">
                <a:solidFill>
                  <a:srgbClr val="FF0000"/>
                </a:solidFill>
                <a:latin typeface="Comic Sans MS"/>
              </a:rPr>
              <a:t>Beispiele</a:t>
            </a:r>
            <a:r>
              <a:rPr lang="en-US" sz="2200" i="1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200" i="1" spc="-1" dirty="0" err="1">
                <a:solidFill>
                  <a:srgbClr val="FF0000"/>
                </a:solidFill>
                <a:latin typeface="Comic Sans MS"/>
              </a:rPr>
              <a:t>für</a:t>
            </a:r>
            <a:r>
              <a:rPr lang="en-US" sz="2200" i="1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200" i="1" spc="-1" dirty="0" err="1">
                <a:solidFill>
                  <a:srgbClr val="FF0000"/>
                </a:solidFill>
                <a:latin typeface="Comic Sans MS"/>
              </a:rPr>
              <a:t>Dienstmodelle</a:t>
            </a:r>
            <a:r>
              <a:rPr lang="en-US" sz="22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 </a:t>
            </a:r>
            <a:r>
              <a:rPr lang="en-US" sz="2200" b="0" i="1" strike="noStrike" spc="-1" dirty="0" err="1">
                <a:solidFill>
                  <a:srgbClr val="FF0000"/>
                </a:solidFill>
                <a:latin typeface="Comic Sans MS"/>
                <a:ea typeface="ＭＳ Ｐゴシック"/>
              </a:rPr>
              <a:t>für</a:t>
            </a:r>
            <a:r>
              <a:rPr lang="en-US" sz="22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 </a:t>
            </a:r>
            <a:r>
              <a:rPr lang="en-US" sz="2200" b="0" i="1" strike="noStrike" spc="-1" dirty="0" err="1">
                <a:solidFill>
                  <a:srgbClr val="FF0000"/>
                </a:solidFill>
                <a:latin typeface="Comic Sans MS"/>
                <a:ea typeface="ＭＳ Ｐゴシック"/>
              </a:rPr>
              <a:t>einen</a:t>
            </a:r>
            <a:r>
              <a:rPr lang="en-US" sz="2200" i="1" spc="-1" dirty="0">
                <a:solidFill>
                  <a:srgbClr val="FF0000"/>
                </a:solidFill>
                <a:latin typeface="Comic Sans MS"/>
                <a:ea typeface="ＭＳ Ｐゴシック"/>
              </a:rPr>
              <a:t> </a:t>
            </a:r>
            <a:r>
              <a:rPr lang="en-US" sz="2200" b="0" i="1" strike="noStrike" spc="-1" dirty="0" err="1">
                <a:solidFill>
                  <a:srgbClr val="FF0000"/>
                </a:solidFill>
                <a:latin typeface="Comic Sans MS"/>
                <a:ea typeface="ＭＳ Ｐゴシック"/>
              </a:rPr>
              <a:t>Paketfluss</a:t>
            </a:r>
            <a:r>
              <a:rPr lang="en-US" sz="22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:</a:t>
            </a:r>
            <a:endParaRPr lang="de-DE" sz="22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Korrekte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Reihenfolge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der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Zustellung</a:t>
            </a:r>
            <a:r>
              <a:rPr lang="en-US" sz="2200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der </a:t>
            </a:r>
            <a:r>
              <a:rPr lang="en-US" sz="2200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Datagramme</a:t>
            </a:r>
            <a:r>
              <a:rPr lang="en-US" sz="2200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endParaRPr lang="de-DE" sz="22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Garantierte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minimale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Bandbreite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für</a:t>
            </a:r>
            <a:r>
              <a:rPr lang="en-US" sz="2200" b="0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den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Fluss</a:t>
            </a:r>
            <a:endParaRPr lang="de-DE" sz="22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39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de-DE" sz="2200" b="0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Beibehaltung der Zeit-intervalle zwischen den </a:t>
            </a:r>
            <a:r>
              <a:rPr lang="en-US" sz="2200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Datagrammen</a:t>
            </a:r>
            <a:endParaRPr lang="de-DE" sz="2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2"/>
          <p:cNvSpPr>
            <a:spLocks noGrp="1"/>
          </p:cNvSpPr>
          <p:nvPr>
            <p:ph type="sldNum" idx="24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715A37-7E8F-4687-A151-431ADAA1ADD6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8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>
                <a:solidFill>
                  <a:srgbClr val="3333CC"/>
                </a:solidFill>
                <a:uFillTx/>
                <a:latin typeface="Comic Sans MS"/>
              </a:rPr>
              <a:t>Dienstmodelle auf Internetschicht:</a:t>
            </a:r>
            <a:endParaRPr lang="en-US" sz="36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00" name="Text Box 3"/>
          <p:cNvSpPr/>
          <p:nvPr/>
        </p:nvSpPr>
        <p:spPr>
          <a:xfrm>
            <a:off x="450720" y="1506600"/>
            <a:ext cx="1397160" cy="374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Netz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Architektur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Internet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ATM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ATM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ATM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ATM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901" name="Text Box 4"/>
          <p:cNvSpPr/>
          <p:nvPr/>
        </p:nvSpPr>
        <p:spPr>
          <a:xfrm>
            <a:off x="1968120" y="1506600"/>
            <a:ext cx="1307160" cy="374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Dienst-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modell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best effort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CBR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VBR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ABR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UBR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902" name="Text Box 5"/>
          <p:cNvSpPr/>
          <p:nvPr/>
        </p:nvSpPr>
        <p:spPr>
          <a:xfrm>
            <a:off x="3300120" y="1801800"/>
            <a:ext cx="1539000" cy="34437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Bandbr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.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nein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constant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rate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guaranteed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rate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guaranteed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minimum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keine</a:t>
            </a:r>
            <a:endParaRPr lang="de-DE" sz="2000" b="0" strike="noStrike" spc="-1" dirty="0">
              <a:latin typeface="Arial"/>
            </a:endParaRPr>
          </a:p>
        </p:txBody>
      </p:sp>
      <p:sp>
        <p:nvSpPr>
          <p:cNvPr id="903" name="Line 6"/>
          <p:cNvSpPr/>
          <p:nvPr/>
        </p:nvSpPr>
        <p:spPr>
          <a:xfrm>
            <a:off x="409320" y="2323800"/>
            <a:ext cx="8429760" cy="972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04" name="Line 7"/>
          <p:cNvSpPr/>
          <p:nvPr/>
        </p:nvSpPr>
        <p:spPr>
          <a:xfrm>
            <a:off x="514080" y="3057480"/>
            <a:ext cx="8429760" cy="936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05" name="Line 8"/>
          <p:cNvSpPr/>
          <p:nvPr/>
        </p:nvSpPr>
        <p:spPr>
          <a:xfrm>
            <a:off x="561960" y="3676320"/>
            <a:ext cx="8429400" cy="972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06" name="Line 9"/>
          <p:cNvSpPr/>
          <p:nvPr/>
        </p:nvSpPr>
        <p:spPr>
          <a:xfrm>
            <a:off x="561960" y="4305240"/>
            <a:ext cx="8429400" cy="936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07" name="Line 10"/>
          <p:cNvSpPr/>
          <p:nvPr/>
        </p:nvSpPr>
        <p:spPr>
          <a:xfrm>
            <a:off x="571320" y="4886280"/>
            <a:ext cx="8429760" cy="936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08" name="Text Box 11"/>
          <p:cNvSpPr/>
          <p:nvPr/>
        </p:nvSpPr>
        <p:spPr>
          <a:xfrm>
            <a:off x="4440960" y="1789200"/>
            <a:ext cx="964986" cy="3476421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Verlust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  ja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  ja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   ja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 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nein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mic Sans MS"/>
              </a:rPr>
              <a:t>   </a:t>
            </a:r>
            <a:r>
              <a:rPr lang="en-US" sz="2000" spc="-1" dirty="0" err="1">
                <a:solidFill>
                  <a:srgbClr val="000000"/>
                </a:solidFill>
                <a:latin typeface="Arial"/>
              </a:rPr>
              <a:t>nein</a:t>
            </a:r>
            <a:endParaRPr lang="de-DE" sz="2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Text Box 12"/>
          <p:cNvSpPr/>
          <p:nvPr/>
        </p:nvSpPr>
        <p:spPr>
          <a:xfrm>
            <a:off x="5424480" y="1811160"/>
            <a:ext cx="1171080" cy="374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Ordnung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nein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ja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ja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ja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ja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910" name="Text Box 13"/>
          <p:cNvSpPr/>
          <p:nvPr/>
        </p:nvSpPr>
        <p:spPr>
          <a:xfrm>
            <a:off x="6460560" y="1811160"/>
            <a:ext cx="942544" cy="3445643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Timing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nein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ja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ja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spc="-1" dirty="0" err="1">
                <a:solidFill>
                  <a:srgbClr val="000000"/>
                </a:solidFill>
                <a:latin typeface="Arial"/>
              </a:rPr>
              <a:t>nein</a:t>
            </a:r>
            <a:endParaRPr lang="de-DE" sz="200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r>
              <a:rPr lang="en-US" sz="2000" spc="-1" dirty="0" err="1">
                <a:solidFill>
                  <a:srgbClr val="000000"/>
                </a:solidFill>
                <a:latin typeface="Arial"/>
              </a:rPr>
              <a:t>nein</a:t>
            </a:r>
            <a:endParaRPr lang="de-DE" sz="2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Text Box 14"/>
          <p:cNvSpPr/>
          <p:nvPr/>
        </p:nvSpPr>
        <p:spPr>
          <a:xfrm>
            <a:off x="7281720" y="1525680"/>
            <a:ext cx="1863116" cy="3784198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Informationen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zur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Netzlast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Verzögerung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Paketverlust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Keine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Überlast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möglich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Keine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Überlast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möglich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ja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spc="-1" dirty="0" err="1">
                <a:solidFill>
                  <a:srgbClr val="000000"/>
                </a:solidFill>
                <a:latin typeface="Arial"/>
              </a:rPr>
              <a:t>nein</a:t>
            </a:r>
            <a:endParaRPr lang="de-DE" sz="2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Text Box 15"/>
          <p:cNvSpPr/>
          <p:nvPr/>
        </p:nvSpPr>
        <p:spPr>
          <a:xfrm>
            <a:off x="4671720" y="1374840"/>
            <a:ext cx="1510200" cy="394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Garantien ?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913" name="Line 16"/>
          <p:cNvSpPr/>
          <p:nvPr/>
        </p:nvSpPr>
        <p:spPr>
          <a:xfrm>
            <a:off x="3390840" y="1800000"/>
            <a:ext cx="3733560" cy="36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tabLst>
                <a:tab pos="0" algn="l"/>
              </a:tabLst>
            </a:pPr>
            <a:r>
              <a:rPr lang="en-US" sz="4000" u="sng" spc="-1" dirty="0" err="1">
                <a:solidFill>
                  <a:srgbClr val="3333CC"/>
                </a:solidFill>
                <a:latin typeface="Comic Sans MS"/>
              </a:rPr>
              <a:t>Virtuelle</a:t>
            </a:r>
            <a:r>
              <a:rPr lang="en-US" sz="4000" u="sng" spc="-1" dirty="0">
                <a:solidFill>
                  <a:srgbClr val="3333CC"/>
                </a:solidFill>
                <a:latin typeface="Comic Sans MS"/>
              </a:rPr>
              <a:t> </a:t>
            </a:r>
            <a:r>
              <a:rPr lang="en-US" sz="4000" u="sng" spc="-1" dirty="0" err="1">
                <a:solidFill>
                  <a:srgbClr val="3333CC"/>
                </a:solidFill>
                <a:latin typeface="Comic Sans MS"/>
              </a:rPr>
              <a:t>Leitungen</a:t>
            </a:r>
            <a:br>
              <a:rPr lang="en-US" sz="4000" u="sng" spc="-1" dirty="0">
                <a:solidFill>
                  <a:srgbClr val="3333CC"/>
                </a:solidFill>
                <a:latin typeface="Comic Sans MS"/>
              </a:rPr>
            </a:br>
            <a:endParaRPr lang="en-US" sz="4000" u="sng" spc="-1" dirty="0">
              <a:solidFill>
                <a:srgbClr val="3333CC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792012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2"/>
          <p:cNvSpPr>
            <a:spLocks noGrp="1"/>
          </p:cNvSpPr>
          <p:nvPr>
            <p:ph type="sldNum" idx="28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5F89FC-473A-41CA-B803-E94D9BDD61A7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10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title"/>
          </p:nvPr>
        </p:nvSpPr>
        <p:spPr>
          <a:xfrm>
            <a:off x="523800" y="33336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Virtuelle Leitungen (VCs)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22" name="PlaceHolder 4"/>
          <p:cNvSpPr>
            <a:spLocks noGrp="1"/>
          </p:cNvSpPr>
          <p:nvPr>
            <p:ph/>
          </p:nvPr>
        </p:nvSpPr>
        <p:spPr>
          <a:xfrm>
            <a:off x="647640" y="3495600"/>
            <a:ext cx="8287920" cy="22572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Expliziter Verbindungsaufbau vor Datenübertragung notwendig 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Jedes Paket trägt VC Kennung (Nicht die ID des Ziels)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000" b="0" i="1" strike="noStrike" spc="-1">
                <a:solidFill>
                  <a:srgbClr val="000000"/>
                </a:solidFill>
                <a:latin typeface="Comic Sans MS"/>
              </a:rPr>
              <a:t>Jeder 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 Router auf dem Pfad kennt die laufenden Verbindungen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Bei Verbindung auf Transportschicht: Nur die Endsysteme involviert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Link und Router Resourcen (Bandbreite, Puffer) können auf Basis der VCs zugewiesen werden -&gt; Leitungsähnlich</a:t>
            </a:r>
          </a:p>
        </p:txBody>
      </p:sp>
      <p:sp>
        <p:nvSpPr>
          <p:cNvPr id="923" name="PlaceHolder 5"/>
          <p:cNvSpPr>
            <a:spLocks noGrp="1"/>
          </p:cNvSpPr>
          <p:nvPr>
            <p:ph/>
          </p:nvPr>
        </p:nvSpPr>
        <p:spPr>
          <a:xfrm>
            <a:off x="876240" y="1504800"/>
            <a:ext cx="7743600" cy="18284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“Pfad zwische Quelle und Ziel verhält sich ähnlich wie eine Telefonleitung”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Bezüglich Performance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Bezüglich Netz-Verhalten entlang Pfad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24" name="Rectangle 6"/>
          <p:cNvSpPr/>
          <p:nvPr/>
        </p:nvSpPr>
        <p:spPr>
          <a:xfrm>
            <a:off x="666720" y="1457280"/>
            <a:ext cx="7676640" cy="1685520"/>
          </a:xfrm>
          <a:prstGeom prst="rect">
            <a:avLst/>
          </a:prstGeom>
          <a:noFill/>
          <a:ln w="1905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sldNum" idx="29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72F105-6368-42E0-8375-073FDA25285B}" type="slidenum">
              <a:rPr lang="en-US" sz="1400" b="0" strike="noStrike" spc="-1" smtClean="0">
                <a:solidFill>
                  <a:srgbClr val="000000"/>
                </a:solidFill>
                <a:latin typeface="Tahoma"/>
                <a:ea typeface="ＭＳ Ｐゴシック"/>
              </a:rPr>
              <a:t>11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926" name="PlaceHolder 2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VC Implementierung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/>
          </p:nvPr>
        </p:nvSpPr>
        <p:spPr>
          <a:xfrm>
            <a:off x="533520" y="1600200"/>
            <a:ext cx="777204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533520" indent="-53352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Eine VC besteht aus: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ZapfDingbats" charset="2"/>
              <a:buAutoNum type="arabicPeriod"/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FF0000"/>
                </a:solidFill>
                <a:latin typeface="Comic Sans MS"/>
              </a:rPr>
              <a:t>Pfad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 von Quelle zum Ziel</a:t>
            </a: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ZapfDingbats" charset="2"/>
              <a:buAutoNum type="arabicPeriod"/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FF0000"/>
                </a:solidFill>
                <a:latin typeface="Comic Sans MS"/>
              </a:rPr>
              <a:t>VC Nummern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, eine Nummer für jeden Link auf dem Pfad</a:t>
            </a: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ZapfDingbats" charset="2"/>
              <a:buAutoNum type="arabicPeriod"/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FF0000"/>
                </a:solidFill>
                <a:latin typeface="Comic Sans MS"/>
              </a:rPr>
              <a:t>Einträgen in den Forwarding Tabelle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 in den Routern auf dem Pfad</a:t>
            </a:r>
          </a:p>
          <a:p>
            <a:pPr marL="533520" indent="-53352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Wingdings" charset="2"/>
              <a:buChar char="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omic Sans MS"/>
              </a:rPr>
              <a:t>Zum VC zugehöriges Paket trägt VC Nummer (anstelle der Zieladresse)</a:t>
            </a:r>
          </a:p>
          <a:p>
            <a:pPr marL="533520" indent="-53352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Wingdings" charset="2"/>
              <a:buChar char="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omic Sans MS"/>
              </a:rPr>
              <a:t>VC Nummer kann bei jedem Link geändert werden.</a:t>
            </a: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Neue VC Nummer erhalten aus der Forwarding Tabelle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Picture 2" descr="D:\WORK\PEARSON\000 FOLIEN\4237_Computernetzweke\JPG\4237_eBook-342.jpg"/>
          <p:cNvPicPr/>
          <p:nvPr/>
        </p:nvPicPr>
        <p:blipFill>
          <a:blip r:embed="rId2"/>
          <a:stretch/>
        </p:blipFill>
        <p:spPr>
          <a:xfrm>
            <a:off x="4610880" y="1016280"/>
            <a:ext cx="4399920" cy="1889640"/>
          </a:xfrm>
          <a:prstGeom prst="rect">
            <a:avLst/>
          </a:prstGeom>
          <a:ln w="0">
            <a:noFill/>
          </a:ln>
        </p:spPr>
      </p:pic>
      <p:sp>
        <p:nvSpPr>
          <p:cNvPr id="930" name="PlaceHolder 1"/>
          <p:cNvSpPr>
            <a:spLocks noGrp="1"/>
          </p:cNvSpPr>
          <p:nvPr>
            <p:ph type="title"/>
          </p:nvPr>
        </p:nvSpPr>
        <p:spPr>
          <a:xfrm>
            <a:off x="369720" y="223920"/>
            <a:ext cx="7772040" cy="1002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40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VC </a:t>
            </a:r>
            <a:r>
              <a:rPr lang="en-US" sz="40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Weiterleitungstabelle</a:t>
            </a:r>
            <a:endParaRPr lang="en-US" sz="40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31" name="Line 126"/>
          <p:cNvSpPr/>
          <p:nvPr/>
        </p:nvSpPr>
        <p:spPr>
          <a:xfrm>
            <a:off x="5546520" y="1406880"/>
            <a:ext cx="272880" cy="360"/>
          </a:xfrm>
          <a:prstGeom prst="line">
            <a:avLst/>
          </a:prstGeom>
          <a:ln w="3810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32" name="Line 127"/>
          <p:cNvSpPr/>
          <p:nvPr/>
        </p:nvSpPr>
        <p:spPr>
          <a:xfrm>
            <a:off x="7704360" y="1406880"/>
            <a:ext cx="347400" cy="360"/>
          </a:xfrm>
          <a:prstGeom prst="line">
            <a:avLst/>
          </a:prstGeom>
          <a:ln w="3810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33" name="Line 128"/>
          <p:cNvSpPr/>
          <p:nvPr/>
        </p:nvSpPr>
        <p:spPr>
          <a:xfrm>
            <a:off x="6558120" y="1411560"/>
            <a:ext cx="429840" cy="360"/>
          </a:xfrm>
          <a:prstGeom prst="line">
            <a:avLst/>
          </a:prstGeom>
          <a:ln w="38100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34" name="Text Box 129"/>
          <p:cNvSpPr/>
          <p:nvPr/>
        </p:nvSpPr>
        <p:spPr>
          <a:xfrm>
            <a:off x="5479200" y="1137240"/>
            <a:ext cx="3790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CC0000"/>
                </a:solidFill>
                <a:latin typeface="Arial"/>
                <a:ea typeface="ＭＳ Ｐゴシック"/>
              </a:rPr>
              <a:t>12</a:t>
            </a:r>
            <a:endParaRPr lang="de-DE" sz="1400" b="0" strike="noStrike" spc="-1">
              <a:latin typeface="Arial"/>
            </a:endParaRPr>
          </a:p>
        </p:txBody>
      </p:sp>
      <p:sp>
        <p:nvSpPr>
          <p:cNvPr id="935" name="Text Box 130"/>
          <p:cNvSpPr/>
          <p:nvPr/>
        </p:nvSpPr>
        <p:spPr>
          <a:xfrm>
            <a:off x="6587640" y="1126800"/>
            <a:ext cx="3790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CC0000"/>
                </a:solidFill>
                <a:latin typeface="Arial"/>
                <a:ea typeface="ＭＳ Ｐゴシック"/>
              </a:rPr>
              <a:t>22</a:t>
            </a:r>
            <a:endParaRPr lang="de-DE" sz="1400" b="0" strike="noStrike" spc="-1" dirty="0">
              <a:latin typeface="Arial"/>
            </a:endParaRPr>
          </a:p>
        </p:txBody>
      </p:sp>
      <p:sp>
        <p:nvSpPr>
          <p:cNvPr id="936" name="Text Box 131"/>
          <p:cNvSpPr/>
          <p:nvPr/>
        </p:nvSpPr>
        <p:spPr>
          <a:xfrm>
            <a:off x="7705080" y="1139040"/>
            <a:ext cx="3790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CC0000"/>
                </a:solidFill>
                <a:latin typeface="Arial"/>
                <a:ea typeface="ＭＳ Ｐゴシック"/>
              </a:rPr>
              <a:t>32</a:t>
            </a:r>
            <a:endParaRPr lang="de-DE" sz="1400" b="0" strike="noStrike" spc="-1" dirty="0">
              <a:latin typeface="Arial"/>
            </a:endParaRPr>
          </a:p>
        </p:txBody>
      </p:sp>
      <p:sp>
        <p:nvSpPr>
          <p:cNvPr id="937" name="Text Box 135"/>
          <p:cNvSpPr/>
          <p:nvPr/>
        </p:nvSpPr>
        <p:spPr>
          <a:xfrm>
            <a:off x="3442395" y="1070424"/>
            <a:ext cx="1179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0000"/>
                </a:solidFill>
                <a:latin typeface="Comic Sans MS"/>
                <a:ea typeface="ＭＳ Ｐゴシック"/>
              </a:rPr>
              <a:t>VC Nummer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38" name="Line 137"/>
          <p:cNvSpPr/>
          <p:nvPr/>
        </p:nvSpPr>
        <p:spPr>
          <a:xfrm flipV="1">
            <a:off x="4857480" y="1275120"/>
            <a:ext cx="687600" cy="24840"/>
          </a:xfrm>
          <a:prstGeom prst="line">
            <a:avLst/>
          </a:prstGeom>
          <a:ln w="28575">
            <a:solidFill>
              <a:srgbClr val="CC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39" name="Text Box 138"/>
          <p:cNvSpPr/>
          <p:nvPr/>
        </p:nvSpPr>
        <p:spPr>
          <a:xfrm>
            <a:off x="2644060" y="1891045"/>
            <a:ext cx="1659240" cy="3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  <a:ea typeface="ＭＳ Ｐゴシック"/>
              </a:rPr>
              <a:t>Interface Nummer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40" name="Line 145"/>
          <p:cNvSpPr/>
          <p:nvPr/>
        </p:nvSpPr>
        <p:spPr>
          <a:xfrm>
            <a:off x="2609640" y="3093480"/>
            <a:ext cx="0" cy="237852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41" name="Text Box 148"/>
          <p:cNvSpPr/>
          <p:nvPr/>
        </p:nvSpPr>
        <p:spPr>
          <a:xfrm>
            <a:off x="977760" y="3825720"/>
            <a:ext cx="6325747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457200" indent="-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FF0000"/>
                </a:solidFill>
                <a:latin typeface="Arial"/>
                <a:ea typeface="ＭＳ Ｐゴシック"/>
              </a:rPr>
              <a:t>1                          12                               2                          22</a:t>
            </a:r>
            <a:endParaRPr lang="de-DE" sz="1800" b="0" strike="noStrike" spc="-1" dirty="0">
              <a:solidFill>
                <a:srgbClr val="FF0000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2                          63                               1                          18 </a:t>
            </a:r>
            <a:endParaRPr lang="de-DE" sz="1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3                           7                                2                          17</a:t>
            </a:r>
            <a:endParaRPr lang="de-DE" sz="1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1                          97                               3                          87</a:t>
            </a:r>
            <a:endParaRPr lang="de-DE" sz="1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…                         …                              …                         …</a:t>
            </a:r>
            <a:endParaRPr lang="de-DE" sz="1800" b="0" strike="noStrike" spc="-1" dirty="0">
              <a:latin typeface="Arial"/>
            </a:endParaRPr>
          </a:p>
        </p:txBody>
      </p:sp>
      <p:sp>
        <p:nvSpPr>
          <p:cNvPr id="942" name="Text Box 149"/>
          <p:cNvSpPr/>
          <p:nvPr/>
        </p:nvSpPr>
        <p:spPr>
          <a:xfrm>
            <a:off x="1289160" y="4237200"/>
            <a:ext cx="183960" cy="3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43" name="Text Box 151"/>
          <p:cNvSpPr/>
          <p:nvPr/>
        </p:nvSpPr>
        <p:spPr>
          <a:xfrm>
            <a:off x="547200" y="2295720"/>
            <a:ext cx="3521198" cy="7187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24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Forwarding </a:t>
            </a:r>
            <a:r>
              <a:rPr lang="en-US" sz="2400" b="0" i="1" strike="noStrike" spc="-1" dirty="0" err="1">
                <a:solidFill>
                  <a:srgbClr val="FF0000"/>
                </a:solidFill>
                <a:latin typeface="Comic Sans MS"/>
                <a:ea typeface="ＭＳ Ｐゴシック"/>
              </a:rPr>
              <a:t>Tabelle</a:t>
            </a:r>
            <a:r>
              <a:rPr lang="en-US" sz="24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 des</a:t>
            </a:r>
            <a:br>
              <a:rPr sz="2400" dirty="0"/>
            </a:br>
            <a:r>
              <a:rPr lang="en-US" sz="24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Routers R1:</a:t>
            </a:r>
            <a:endParaRPr lang="de-DE" sz="2400" b="0" strike="noStrike" spc="-1" dirty="0">
              <a:latin typeface="Arial"/>
            </a:endParaRPr>
          </a:p>
        </p:txBody>
      </p:sp>
      <p:sp>
        <p:nvSpPr>
          <p:cNvPr id="944" name="Text Box 152"/>
          <p:cNvSpPr/>
          <p:nvPr/>
        </p:nvSpPr>
        <p:spPr>
          <a:xfrm>
            <a:off x="369721" y="5569920"/>
            <a:ext cx="6859216" cy="829543"/>
          </a:xfrm>
          <a:prstGeom prst="rect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VC Router </a:t>
            </a:r>
            <a:r>
              <a:rPr lang="en-US" sz="2400" b="0" i="1" strike="noStrike" spc="-1" dirty="0" err="1">
                <a:solidFill>
                  <a:srgbClr val="FF0000"/>
                </a:solidFill>
                <a:latin typeface="Comic Sans MS"/>
                <a:ea typeface="ＭＳ Ｐゴシック"/>
              </a:rPr>
              <a:t>verwalten</a:t>
            </a:r>
            <a:r>
              <a:rPr lang="en-US" sz="24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 </a:t>
            </a:r>
            <a:r>
              <a:rPr lang="en-US" sz="2400" b="0" i="1" strike="noStrike" spc="-1" dirty="0" err="1">
                <a:solidFill>
                  <a:srgbClr val="FF0000"/>
                </a:solidFill>
                <a:latin typeface="Comic Sans MS"/>
                <a:ea typeface="ＭＳ Ｐゴシック"/>
              </a:rPr>
              <a:t>Statusinformationen</a:t>
            </a:r>
            <a:r>
              <a:rPr lang="en-US" sz="24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 der </a:t>
            </a:r>
            <a:r>
              <a:rPr lang="en-US" sz="2400" b="0" i="1" strike="noStrike" spc="-1" dirty="0" err="1">
                <a:solidFill>
                  <a:srgbClr val="FF0000"/>
                </a:solidFill>
                <a:latin typeface="Comic Sans MS"/>
                <a:ea typeface="ＭＳ Ｐゴシック"/>
              </a:rPr>
              <a:t>Verbindungen</a:t>
            </a:r>
            <a:r>
              <a:rPr lang="en-US" sz="24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!</a:t>
            </a:r>
            <a:endParaRPr lang="de-DE" sz="2400" b="0" strike="noStrike" spc="-1" dirty="0">
              <a:latin typeface="Arial"/>
            </a:endParaRPr>
          </a:p>
        </p:txBody>
      </p:sp>
      <p:sp>
        <p:nvSpPr>
          <p:cNvPr id="945" name="Line 153"/>
          <p:cNvSpPr/>
          <p:nvPr/>
        </p:nvSpPr>
        <p:spPr>
          <a:xfrm>
            <a:off x="612720" y="3679560"/>
            <a:ext cx="7494480" cy="36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46" name="Text Box 143"/>
          <p:cNvSpPr/>
          <p:nvPr/>
        </p:nvSpPr>
        <p:spPr>
          <a:xfrm>
            <a:off x="763920" y="3056760"/>
            <a:ext cx="15098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Eingehendes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Interface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47" name="Text Box 143"/>
          <p:cNvSpPr/>
          <p:nvPr/>
        </p:nvSpPr>
        <p:spPr>
          <a:xfrm>
            <a:off x="2832480" y="3061440"/>
            <a:ext cx="13957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Eingehende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VC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48" name="Text Box 143"/>
          <p:cNvSpPr/>
          <p:nvPr/>
        </p:nvSpPr>
        <p:spPr>
          <a:xfrm>
            <a:off x="6581880" y="3065760"/>
            <a:ext cx="14598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Ausgehende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VC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49" name="Text Box 143"/>
          <p:cNvSpPr/>
          <p:nvPr/>
        </p:nvSpPr>
        <p:spPr>
          <a:xfrm>
            <a:off x="4621320" y="3025440"/>
            <a:ext cx="15739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Ausgehendes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Interface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50" name="Line 145"/>
          <p:cNvSpPr/>
          <p:nvPr/>
        </p:nvSpPr>
        <p:spPr>
          <a:xfrm>
            <a:off x="4496040" y="3094560"/>
            <a:ext cx="0" cy="237852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51" name="Line 145"/>
          <p:cNvSpPr/>
          <p:nvPr/>
        </p:nvSpPr>
        <p:spPr>
          <a:xfrm>
            <a:off x="6382440" y="3093480"/>
            <a:ext cx="0" cy="237852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52" name="Line 137"/>
          <p:cNvSpPr/>
          <p:nvPr/>
        </p:nvSpPr>
        <p:spPr>
          <a:xfrm flipV="1">
            <a:off x="4789800" y="1702800"/>
            <a:ext cx="1317240" cy="37764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54" name="PlaceHolder 3"/>
          <p:cNvSpPr>
            <a:spLocks noGrp="1"/>
          </p:cNvSpPr>
          <p:nvPr>
            <p:ph type="sldNum" idx="32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829A83-891F-4AFE-9487-70A184C24B87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  <a:ea typeface="ＭＳ Ｐゴシック"/>
              </a:rPr>
              <a:t>12</a:t>
            </a:fld>
            <a:endParaRPr lang="de-DE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2"/>
          <p:cNvSpPr>
            <a:spLocks noGrp="1"/>
          </p:cNvSpPr>
          <p:nvPr>
            <p:ph type="sldNum" idx="34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467A11-1580-42E2-A4EA-1FE3E6C787A6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13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title"/>
          </p:nvPr>
        </p:nvSpPr>
        <p:spPr>
          <a:xfrm>
            <a:off x="320760" y="228600"/>
            <a:ext cx="862308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VC: </a:t>
            </a:r>
            <a:r>
              <a:rPr lang="en-US" sz="40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Signalisierungsprotokolle</a:t>
            </a:r>
            <a:endParaRPr lang="en-US" sz="40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59" name="PlaceHolder 4"/>
          <p:cNvSpPr>
            <a:spLocks noGrp="1"/>
          </p:cNvSpPr>
          <p:nvPr>
            <p:ph/>
          </p:nvPr>
        </p:nvSpPr>
        <p:spPr>
          <a:xfrm>
            <a:off x="590400" y="1685880"/>
            <a:ext cx="7654190" cy="3673104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3200" b="0" strike="noStrike" spc="-1" dirty="0" err="1">
                <a:solidFill>
                  <a:srgbClr val="000000"/>
                </a:solidFill>
                <a:latin typeface="Comic Sans MS"/>
              </a:rPr>
              <a:t>Verwendet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omic Sans MS"/>
              </a:rPr>
              <a:t>zur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omic Sans MS"/>
              </a:rPr>
              <a:t>Verwaltung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</a:rPr>
              <a:t> und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omic Sans MS"/>
              </a:rPr>
              <a:t>zum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</a:rPr>
              <a:t> Auf- und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omic Sans MS"/>
              </a:rPr>
              <a:t>Abbau</a:t>
            </a: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</a:rPr>
              <a:t> von VCs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3200" b="0" strike="noStrike" spc="-1" dirty="0">
                <a:solidFill>
                  <a:srgbClr val="000000"/>
                </a:solidFill>
                <a:latin typeface="Comic Sans MS"/>
              </a:rPr>
              <a:t>ATM, frame-relay, X.25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endParaRPr lang="en-US" sz="3200" b="0" strike="noStrike" spc="-1" dirty="0">
              <a:solidFill>
                <a:srgbClr val="000000"/>
              </a:solidFill>
              <a:latin typeface="Comic Sans MS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</a:pPr>
            <a:r>
              <a:rPr lang="en-US" sz="3200" b="0" strike="noStrike" spc="-1" dirty="0" err="1">
                <a:solidFill>
                  <a:srgbClr val="FF0000"/>
                </a:solidFill>
                <a:latin typeface="Comic Sans MS"/>
              </a:rPr>
              <a:t>Im</a:t>
            </a:r>
            <a:r>
              <a:rPr lang="en-US" sz="32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3200" b="0" strike="noStrike" spc="-1" dirty="0" err="1">
                <a:solidFill>
                  <a:srgbClr val="FF0000"/>
                </a:solidFill>
                <a:latin typeface="Comic Sans MS"/>
              </a:rPr>
              <a:t>heutigen</a:t>
            </a:r>
            <a:r>
              <a:rPr lang="en-US" sz="3200" b="0" strike="noStrike" spc="-1" dirty="0">
                <a:solidFill>
                  <a:srgbClr val="FF0000"/>
                </a:solidFill>
                <a:latin typeface="Comic Sans MS"/>
              </a:rPr>
              <a:t> Internet </a:t>
            </a:r>
            <a:r>
              <a:rPr lang="en-US" sz="3200" b="0" strike="noStrike" spc="-1" dirty="0" err="1">
                <a:solidFill>
                  <a:srgbClr val="FF0000"/>
                </a:solidFill>
                <a:latin typeface="Comic Sans MS"/>
              </a:rPr>
              <a:t>nicht</a:t>
            </a:r>
            <a:r>
              <a:rPr lang="en-US" sz="32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3200" b="0" strike="noStrike" spc="-1" dirty="0" err="1">
                <a:solidFill>
                  <a:srgbClr val="FF0000"/>
                </a:solidFill>
                <a:latin typeface="Comic Sans MS"/>
              </a:rPr>
              <a:t>mehr</a:t>
            </a:r>
            <a:r>
              <a:rPr lang="en-US" sz="32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3200" b="0" strike="noStrike" spc="-1" dirty="0" err="1">
                <a:solidFill>
                  <a:srgbClr val="FF0000"/>
                </a:solidFill>
                <a:latin typeface="Comic Sans MS"/>
              </a:rPr>
              <a:t>vorhanden</a:t>
            </a:r>
            <a:endParaRPr lang="en-US" sz="3200" b="0" strike="noStrike" spc="-1" dirty="0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Picture 2" descr="D:\WORK\PEARSON\000 FOLIEN\4237_Computernetzweke\JPG\4237_eBook-344.jpg"/>
          <p:cNvPicPr/>
          <p:nvPr/>
        </p:nvPicPr>
        <p:blipFill>
          <a:blip r:embed="rId2"/>
          <a:stretch/>
        </p:blipFill>
        <p:spPr>
          <a:xfrm>
            <a:off x="732960" y="3663720"/>
            <a:ext cx="7328520" cy="2970000"/>
          </a:xfrm>
          <a:prstGeom prst="rect">
            <a:avLst/>
          </a:prstGeom>
          <a:ln w="0">
            <a:noFill/>
          </a:ln>
        </p:spPr>
      </p:pic>
      <p:sp>
        <p:nvSpPr>
          <p:cNvPr id="962" name="PlaceHolder 2"/>
          <p:cNvSpPr>
            <a:spLocks noGrp="1"/>
          </p:cNvSpPr>
          <p:nvPr>
            <p:ph type="sldNum" idx="36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FC99D8-3C73-41B7-8160-F9BA075B3739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14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>
                <a:solidFill>
                  <a:srgbClr val="3333CC"/>
                </a:solidFill>
                <a:uFillTx/>
                <a:latin typeface="Comic Sans MS"/>
              </a:rPr>
              <a:t>Paketvermittelte Netze: das Netzmodell</a:t>
            </a:r>
            <a:endParaRPr lang="en-US" sz="36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64" name="PlaceHolder 4"/>
          <p:cNvSpPr>
            <a:spLocks noGrp="1"/>
          </p:cNvSpPr>
          <p:nvPr>
            <p:ph/>
          </p:nvPr>
        </p:nvSpPr>
        <p:spPr>
          <a:xfrm>
            <a:off x="581040" y="1333440"/>
            <a:ext cx="8562600" cy="22762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400" b="0" strike="noStrike" spc="-1">
                <a:solidFill>
                  <a:srgbClr val="000000"/>
                </a:solidFill>
                <a:latin typeface="Comic Sans MS"/>
              </a:rPr>
              <a:t>Kein Verbindungsaufbau auf Internetschicht</a:t>
            </a: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400" b="0" strike="noStrike" spc="-1">
                <a:solidFill>
                  <a:srgbClr val="000000"/>
                </a:solidFill>
                <a:latin typeface="Comic Sans MS"/>
              </a:rPr>
              <a:t>Router: Kein Wissen über Ende-zu-Ende Verbindungen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Konzept “Verbindung” auf Internetschicht unbekannt</a:t>
            </a: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400" b="0" strike="noStrike" spc="-1">
                <a:solidFill>
                  <a:srgbClr val="000000"/>
                </a:solidFill>
                <a:latin typeface="Comic Sans MS"/>
              </a:rPr>
              <a:t>Pakete werden anhand ihrer Zieladresse weitergeleitet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Pakete zwischen Host A und B können über unterschiedliche Pfade geleitet werden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Picture 2"/>
          <p:cNvPicPr/>
          <p:nvPr/>
        </p:nvPicPr>
        <p:blipFill>
          <a:blip r:embed="rId2"/>
          <a:stretch/>
        </p:blipFill>
        <p:spPr>
          <a:xfrm>
            <a:off x="508320" y="1262880"/>
            <a:ext cx="5847120" cy="5445720"/>
          </a:xfrm>
          <a:prstGeom prst="rect">
            <a:avLst/>
          </a:prstGeom>
          <a:ln w="0">
            <a:noFill/>
          </a:ln>
        </p:spPr>
      </p:pic>
      <p:sp>
        <p:nvSpPr>
          <p:cNvPr id="966" name="Textfeld 145"/>
          <p:cNvSpPr/>
          <p:nvPr/>
        </p:nvSpPr>
        <p:spPr>
          <a:xfrm>
            <a:off x="1812240" y="1446840"/>
            <a:ext cx="1492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rgbClr val="000000"/>
                </a:solidFill>
                <a:latin typeface="Arial"/>
              </a:rPr>
              <a:t>Routing Tabelle</a:t>
            </a:r>
            <a:endParaRPr lang="de-DE" sz="1400" b="0" strike="noStrike" spc="-1">
              <a:latin typeface="Arial"/>
            </a:endParaRPr>
          </a:p>
        </p:txBody>
      </p:sp>
      <p:sp>
        <p:nvSpPr>
          <p:cNvPr id="967" name="Textfeld 146"/>
          <p:cNvSpPr/>
          <p:nvPr/>
        </p:nvSpPr>
        <p:spPr>
          <a:xfrm>
            <a:off x="1398600" y="2068560"/>
            <a:ext cx="2266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</a:rPr>
              <a:t>Lokale Forwarding-Tabelle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968" name="Textfeld 147"/>
          <p:cNvSpPr/>
          <p:nvPr/>
        </p:nvSpPr>
        <p:spPr>
          <a:xfrm>
            <a:off x="1490760" y="2386800"/>
            <a:ext cx="99180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100" b="0" strike="noStrike" spc="-1">
                <a:solidFill>
                  <a:srgbClr val="000000"/>
                </a:solidFill>
                <a:latin typeface="Arial"/>
              </a:rPr>
              <a:t>Zieladresse</a:t>
            </a:r>
            <a:endParaRPr lang="de-DE" sz="1100" b="0" strike="noStrike" spc="-1">
              <a:latin typeface="Arial"/>
            </a:endParaRPr>
          </a:p>
        </p:txBody>
      </p:sp>
      <p:sp>
        <p:nvSpPr>
          <p:cNvPr id="969" name="Textfeld 148"/>
          <p:cNvSpPr/>
          <p:nvPr/>
        </p:nvSpPr>
        <p:spPr>
          <a:xfrm>
            <a:off x="2319840" y="2387160"/>
            <a:ext cx="129204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100" b="0" strike="noStrike" spc="-1">
                <a:solidFill>
                  <a:srgbClr val="000000"/>
                </a:solidFill>
                <a:latin typeface="Arial"/>
              </a:rPr>
              <a:t>Ausgangsleitung</a:t>
            </a:r>
            <a:endParaRPr lang="de-DE" sz="1100" b="0" strike="noStrike" spc="-1">
              <a:latin typeface="Arial"/>
            </a:endParaRPr>
          </a:p>
        </p:txBody>
      </p:sp>
      <p:graphicFrame>
        <p:nvGraphicFramePr>
          <p:cNvPr id="970" name="Tabelle 149"/>
          <p:cNvGraphicFramePr/>
          <p:nvPr>
            <p:extLst>
              <p:ext uri="{D42A27DB-BD31-4B8C-83A1-F6EECF244321}">
                <p14:modId xmlns:p14="http://schemas.microsoft.com/office/powerpoint/2010/main" val="2356053576"/>
              </p:ext>
            </p:extLst>
          </p:nvPr>
        </p:nvGraphicFramePr>
        <p:xfrm>
          <a:off x="1524600" y="2705400"/>
          <a:ext cx="2015640" cy="851452"/>
        </p:xfrm>
        <a:graphic>
          <a:graphicData uri="http://schemas.openxmlformats.org/drawingml/2006/table">
            <a:tbl>
              <a:tblPr/>
              <a:tblGrid>
                <a:gridCol w="895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63">
                <a:tc>
                  <a:txBody>
                    <a:bodyPr/>
                    <a:lstStyle/>
                    <a:p>
                      <a:pPr marL="53975">
                        <a:lnSpc>
                          <a:spcPts val="700"/>
                        </a:lnSpc>
                        <a:buNone/>
                      </a:pPr>
                      <a:r>
                        <a:rPr lang="de-DE" sz="7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Adressbereich 1</a:t>
                      </a:r>
                      <a:endParaRPr lang="de-DE" sz="7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3816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700"/>
                        </a:lnSpc>
                        <a:buNone/>
                      </a:pPr>
                      <a:r>
                        <a:rPr lang="de-DE" sz="7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lang="de-DE" sz="7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3816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63">
                <a:tc>
                  <a:txBody>
                    <a:bodyPr/>
                    <a:lstStyle/>
                    <a:p>
                      <a:pPr marL="53975">
                        <a:lnSpc>
                          <a:spcPts val="7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de-DE" sz="7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Adressbereich 2</a:t>
                      </a:r>
                      <a:endParaRPr lang="de-DE" sz="7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3816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700"/>
                        </a:lnSpc>
                        <a:buNone/>
                      </a:pPr>
                      <a:r>
                        <a:rPr lang="de-DE" sz="7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de-DE" sz="7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38160">
                      <a:noFill/>
                    </a:lnT>
                    <a:lnB w="1224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63">
                <a:tc>
                  <a:txBody>
                    <a:bodyPr/>
                    <a:lstStyle/>
                    <a:p>
                      <a:pPr marL="53975">
                        <a:lnSpc>
                          <a:spcPts val="700"/>
                        </a:lnSpc>
                        <a:buNone/>
                      </a:pPr>
                      <a:r>
                        <a:rPr lang="de-DE" sz="7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Adressbereich 3</a:t>
                      </a:r>
                      <a:endParaRPr lang="de-DE" sz="7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700"/>
                        </a:lnSpc>
                        <a:buNone/>
                      </a:pPr>
                      <a:r>
                        <a:rPr lang="de-DE" sz="7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de-DE" sz="7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63">
                <a:tc>
                  <a:txBody>
                    <a:bodyPr/>
                    <a:lstStyle/>
                    <a:p>
                      <a:pPr marL="53975">
                        <a:lnSpc>
                          <a:spcPts val="700"/>
                        </a:lnSpc>
                        <a:buNone/>
                      </a:pPr>
                      <a:r>
                        <a:rPr lang="de-DE" sz="7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Adressbereich 4</a:t>
                      </a:r>
                      <a:endParaRPr lang="de-DE" sz="7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700"/>
                        </a:lnSpc>
                        <a:buNone/>
                      </a:pPr>
                      <a:r>
                        <a:rPr lang="de-DE" sz="7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lang="de-DE" sz="7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72" name="PlaceHolder 2"/>
          <p:cNvSpPr>
            <a:spLocks noGrp="1"/>
          </p:cNvSpPr>
          <p:nvPr>
            <p:ph type="title"/>
          </p:nvPr>
        </p:nvSpPr>
        <p:spPr>
          <a:xfrm>
            <a:off x="533520" y="108000"/>
            <a:ext cx="7344720" cy="8632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Forwarding Tabelle (1)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grpSp>
        <p:nvGrpSpPr>
          <p:cNvPr id="973" name="Group 176"/>
          <p:cNvGrpSpPr/>
          <p:nvPr/>
        </p:nvGrpSpPr>
        <p:grpSpPr>
          <a:xfrm>
            <a:off x="2965599" y="1201680"/>
            <a:ext cx="6086241" cy="1865666"/>
            <a:chOff x="2399040" y="1201680"/>
            <a:chExt cx="6652800" cy="1944720"/>
          </a:xfrm>
        </p:grpSpPr>
        <p:sp>
          <p:nvSpPr>
            <p:cNvPr id="974" name="Text Box 174"/>
            <p:cNvSpPr/>
            <p:nvPr/>
          </p:nvSpPr>
          <p:spPr>
            <a:xfrm>
              <a:off x="5278320" y="1201680"/>
              <a:ext cx="3773520" cy="9128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85000"/>
                </a:lnSpc>
                <a:buNone/>
              </a:pPr>
              <a:r>
                <a:rPr lang="en-US" sz="16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4 </a:t>
              </a:r>
              <a:r>
                <a:rPr lang="en-US" sz="1600" b="0" strike="noStrike" spc="-1" dirty="0" err="1">
                  <a:solidFill>
                    <a:srgbClr val="000099"/>
                  </a:solidFill>
                  <a:latin typeface="Comic Sans MS"/>
                  <a:ea typeface="ＭＳ Ｐゴシック"/>
                </a:rPr>
                <a:t>Billionen</a:t>
              </a:r>
              <a:r>
                <a:rPr lang="en-US" sz="16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 IP </a:t>
              </a:r>
              <a:r>
                <a:rPr lang="en-US" sz="1600" b="0" strike="noStrike" spc="-1" dirty="0" err="1">
                  <a:solidFill>
                    <a:srgbClr val="000099"/>
                  </a:solidFill>
                  <a:latin typeface="Comic Sans MS"/>
                  <a:ea typeface="ＭＳ Ｐゴシック"/>
                </a:rPr>
                <a:t>Adressen</a:t>
              </a:r>
              <a:endParaRPr lang="de-DE" sz="1600" b="0" strike="noStrike" spc="-1" dirty="0" err="1">
                <a:latin typeface="Arial"/>
              </a:endParaRPr>
            </a:p>
            <a:p>
              <a:pPr marL="287655" indent="-287655">
                <a:lnSpc>
                  <a:spcPct val="85000"/>
                </a:lnSpc>
                <a:buNone/>
                <a:tabLst>
                  <a:tab pos="0" algn="l"/>
                </a:tabLst>
              </a:pPr>
              <a:r>
                <a:rPr lang="en-US" sz="16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→ </a:t>
              </a:r>
              <a:r>
                <a:rPr lang="en-US" sz="1400" b="0" strike="noStrike" spc="-1" err="1">
                  <a:solidFill>
                    <a:srgbClr val="000099"/>
                  </a:solidFill>
                  <a:latin typeface="Comic Sans MS"/>
                  <a:ea typeface="ＭＳ Ｐゴシック"/>
                </a:rPr>
                <a:t>Anstelle</a:t>
              </a:r>
              <a:r>
                <a:rPr lang="en-US" sz="14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400" b="0" strike="noStrike" spc="-1" err="1">
                  <a:solidFill>
                    <a:srgbClr val="000099"/>
                  </a:solidFill>
                  <a:latin typeface="Comic Sans MS"/>
                  <a:ea typeface="ＭＳ Ｐゴシック"/>
                </a:rPr>
                <a:t>individuelle</a:t>
              </a:r>
              <a:r>
                <a:rPr lang="en-US" sz="14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400" b="0" strike="noStrike" spc="-1" err="1">
                  <a:solidFill>
                    <a:srgbClr val="000099"/>
                  </a:solidFill>
                  <a:latin typeface="Comic Sans MS"/>
                  <a:ea typeface="ＭＳ Ｐゴシック"/>
                </a:rPr>
                <a:t>Zieladressen</a:t>
              </a:r>
              <a:r>
                <a:rPr lang="en-US" sz="14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400" b="0" strike="noStrike" spc="-1" err="1">
                  <a:solidFill>
                    <a:srgbClr val="000099"/>
                  </a:solidFill>
                  <a:latin typeface="Comic Sans MS"/>
                  <a:ea typeface="ＭＳ Ｐゴシック"/>
                </a:rPr>
                <a:t>ganze</a:t>
              </a:r>
              <a:r>
                <a:rPr lang="en-US" sz="14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400" b="0" i="1" strike="noStrike" spc="-1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Adressbereiche</a:t>
              </a:r>
              <a:r>
                <a:rPr lang="en-US" sz="14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400" b="0" strike="noStrike" spc="-1" err="1">
                  <a:solidFill>
                    <a:srgbClr val="000099"/>
                  </a:solidFill>
                  <a:latin typeface="Comic Sans MS"/>
                  <a:ea typeface="ＭＳ Ｐゴシック"/>
                </a:rPr>
                <a:t>auflisten</a:t>
              </a:r>
              <a:br>
                <a:rPr sz="1400" dirty="0"/>
              </a:br>
              <a:r>
                <a:rPr lang="en-US" sz="14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(</a:t>
              </a:r>
              <a:r>
                <a:rPr lang="en-US" sz="1400" b="0" strike="noStrike" spc="-1" err="1">
                  <a:solidFill>
                    <a:srgbClr val="000099"/>
                  </a:solidFill>
                  <a:latin typeface="Comic Sans MS"/>
                  <a:ea typeface="ＭＳ Ｐゴシック"/>
                </a:rPr>
                <a:t>aggregierte</a:t>
              </a:r>
              <a:r>
                <a:rPr lang="en-US" sz="14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400" b="0" strike="noStrike" spc="-1" err="1">
                  <a:solidFill>
                    <a:srgbClr val="000099"/>
                  </a:solidFill>
                  <a:latin typeface="Comic Sans MS"/>
                  <a:ea typeface="ＭＳ Ｐゴシック"/>
                </a:rPr>
                <a:t>Tabelleneinträge</a:t>
              </a:r>
              <a:r>
                <a:rPr lang="en-US" sz="1400" b="0" strike="noStrike" spc="-1" dirty="0">
                  <a:solidFill>
                    <a:srgbClr val="000099"/>
                  </a:solidFill>
                  <a:latin typeface="Comic Sans MS"/>
                  <a:ea typeface="ＭＳ Ｐゴシック"/>
                </a:rPr>
                <a:t>)</a:t>
              </a:r>
              <a:endParaRPr lang="de-DE" sz="1400" b="0" strike="noStrike" spc="-1" dirty="0">
                <a:latin typeface="Arial"/>
              </a:endParaRPr>
            </a:p>
          </p:txBody>
        </p:sp>
        <p:sp>
          <p:nvSpPr>
            <p:cNvPr id="975" name="Line 175"/>
            <p:cNvSpPr/>
            <p:nvPr/>
          </p:nvSpPr>
          <p:spPr>
            <a:xfrm flipH="1">
              <a:off x="2399040" y="1958760"/>
              <a:ext cx="2878920" cy="1187640"/>
            </a:xfrm>
            <a:prstGeom prst="line">
              <a:avLst/>
            </a:prstGeom>
            <a:ln w="28575">
              <a:solidFill>
                <a:srgbClr val="FF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976" name="Textfeld 150"/>
          <p:cNvSpPr/>
          <p:nvPr/>
        </p:nvSpPr>
        <p:spPr>
          <a:xfrm>
            <a:off x="0" y="3840480"/>
            <a:ext cx="226692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</a:rPr>
              <a:t>IP-Zieladresse im Header des</a:t>
            </a:r>
            <a:br>
              <a:rPr sz="1200"/>
            </a:br>
            <a:r>
              <a:rPr lang="de-DE" sz="1200" b="0" strike="noStrike" spc="-1">
                <a:solidFill>
                  <a:srgbClr val="000000"/>
                </a:solidFill>
                <a:latin typeface="Arial"/>
              </a:rPr>
              <a:t>ankommenden Pakets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38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05788F-25C5-4543-ABB9-E80D5DAEF8C4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  <a:ea typeface="ＭＳ Ｐゴシック"/>
              </a:rPr>
              <a:t>15</a:t>
            </a:fld>
            <a:endParaRPr lang="de-DE" sz="14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2"/>
          <p:cNvSpPr>
            <a:spLocks noGrp="1"/>
          </p:cNvSpPr>
          <p:nvPr>
            <p:ph type="sldNum" idx="40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D9C611-1242-4B0A-99B0-EE0B50515EE2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  <a:ea typeface="ＭＳ Ｐゴシック"/>
              </a:rPr>
              <a:t>16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980" name="Rectangle 3"/>
          <p:cNvSpPr/>
          <p:nvPr/>
        </p:nvSpPr>
        <p:spPr>
          <a:xfrm>
            <a:off x="618120" y="1395360"/>
            <a:ext cx="5256000" cy="423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Zieladressbereich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11001000 00010111 00010000 00000000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bis</a:t>
            </a:r>
            <a:r>
              <a:rPr lang="en-US" sz="1800" b="0" strike="noStrike" spc="-1">
                <a:solidFill>
                  <a:srgbClr val="000000"/>
                </a:solidFill>
                <a:latin typeface="Comic Sans MS"/>
                <a:ea typeface="ＭＳ Ｐゴシック"/>
              </a:rPr>
              <a:t>                                 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11001000 00010111 00010111 11111111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11001000 00010111 00011000 00000000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bis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11001000 00010111 00011000 11111111  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11001000 00010111 00011001 00000000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bis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11001000 00010111 00011111 11111111  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sonst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81" name="Rectangle 5"/>
          <p:cNvSpPr/>
          <p:nvPr/>
        </p:nvSpPr>
        <p:spPr>
          <a:xfrm>
            <a:off x="6055200" y="1434240"/>
            <a:ext cx="1551240" cy="447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Link Interface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 0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 1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 2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 3  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de-DE" sz="1800" b="0" strike="noStrike" spc="-1">
              <a:latin typeface="Arial"/>
            </a:endParaRPr>
          </a:p>
        </p:txBody>
      </p:sp>
      <p:sp>
        <p:nvSpPr>
          <p:cNvPr id="982" name="Rectangle 6"/>
          <p:cNvSpPr/>
          <p:nvPr/>
        </p:nvSpPr>
        <p:spPr>
          <a:xfrm>
            <a:off x="636480" y="1266840"/>
            <a:ext cx="7222680" cy="4525560"/>
          </a:xfrm>
          <a:prstGeom prst="rect">
            <a:avLst/>
          </a:prstGeom>
          <a:noFill/>
          <a:ln w="19050">
            <a:solidFill>
              <a:srgbClr val="0000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83" name="Line 7"/>
          <p:cNvSpPr/>
          <p:nvPr/>
        </p:nvSpPr>
        <p:spPr>
          <a:xfrm>
            <a:off x="625320" y="1873080"/>
            <a:ext cx="7223040" cy="36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84" name="Line 8"/>
          <p:cNvSpPr/>
          <p:nvPr/>
        </p:nvSpPr>
        <p:spPr>
          <a:xfrm>
            <a:off x="652320" y="2928600"/>
            <a:ext cx="7223040" cy="36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85" name="Line 9"/>
          <p:cNvSpPr/>
          <p:nvPr/>
        </p:nvSpPr>
        <p:spPr>
          <a:xfrm>
            <a:off x="645840" y="4051080"/>
            <a:ext cx="7223040" cy="36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86" name="Line 10"/>
          <p:cNvSpPr/>
          <p:nvPr/>
        </p:nvSpPr>
        <p:spPr>
          <a:xfrm>
            <a:off x="639720" y="5173560"/>
            <a:ext cx="7223040" cy="36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87" name="Line 11"/>
          <p:cNvSpPr/>
          <p:nvPr/>
        </p:nvSpPr>
        <p:spPr>
          <a:xfrm>
            <a:off x="5929200" y="1277640"/>
            <a:ext cx="360" cy="4515120"/>
          </a:xfrm>
          <a:prstGeom prst="line">
            <a:avLst/>
          </a:prstGeom>
          <a:ln w="1270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88" name="Text Box 12"/>
          <p:cNvSpPr/>
          <p:nvPr/>
        </p:nvSpPr>
        <p:spPr>
          <a:xfrm>
            <a:off x="1059120" y="5902200"/>
            <a:ext cx="595872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468000" indent="-468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F: </a:t>
            </a:r>
            <a:r>
              <a:rPr lang="en-US" sz="2400" b="0" i="1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Was 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passiert</a:t>
            </a:r>
            <a:r>
              <a:rPr lang="en-US" sz="2400" b="0" i="1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wenn</a:t>
            </a:r>
            <a:r>
              <a:rPr lang="en-US" sz="2400" b="0" i="1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die 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Adressbereiche</a:t>
            </a:r>
            <a:r>
              <a:rPr lang="en-US" sz="2400" b="0" i="1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sich</a:t>
            </a:r>
            <a:br>
              <a:rPr sz="2400" dirty="0"/>
            </a:br>
            <a:r>
              <a:rPr lang="en-US" sz="2400" b="0" i="1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nicht</a:t>
            </a:r>
            <a:r>
              <a:rPr lang="en-US" sz="2400" b="0" i="1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so 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leicht</a:t>
            </a:r>
            <a:r>
              <a:rPr lang="en-US" sz="2400" b="0" i="1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aufteilen</a:t>
            </a:r>
            <a:r>
              <a:rPr lang="en-US" sz="2400" b="0" i="1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r>
              <a:rPr lang="en-US" sz="2400" b="0" i="1" strike="noStrike" spc="-1" dirty="0" err="1">
                <a:solidFill>
                  <a:srgbClr val="000000"/>
                </a:solidFill>
                <a:latin typeface="Comic Sans MS"/>
                <a:ea typeface="ＭＳ Ｐゴシック"/>
              </a:rPr>
              <a:t>lassen</a:t>
            </a:r>
            <a:r>
              <a:rPr lang="en-US" sz="2400" b="0" i="1" strike="noStrike" spc="-1" dirty="0">
                <a:solidFill>
                  <a:srgbClr val="000000"/>
                </a:solidFill>
                <a:latin typeface="Comic Sans MS"/>
                <a:ea typeface="ＭＳ Ｐゴシック"/>
              </a:rPr>
              <a:t>?</a:t>
            </a:r>
            <a:endParaRPr lang="de-DE" sz="2400" b="0" strike="noStrike" spc="-1" dirty="0"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title"/>
          </p:nvPr>
        </p:nvSpPr>
        <p:spPr>
          <a:xfrm>
            <a:off x="533520" y="108000"/>
            <a:ext cx="8061480" cy="8632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Forwarding Tabelle (2)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Rectangle 20"/>
          <p:cNvSpPr/>
          <p:nvPr/>
        </p:nvSpPr>
        <p:spPr>
          <a:xfrm>
            <a:off x="434880" y="1335240"/>
            <a:ext cx="8000640" cy="137124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91" name="Rectangle 18"/>
          <p:cNvSpPr/>
          <p:nvPr/>
        </p:nvSpPr>
        <p:spPr>
          <a:xfrm>
            <a:off x="4276800" y="5673600"/>
            <a:ext cx="1636200" cy="269640"/>
          </a:xfrm>
          <a:prstGeom prst="rect">
            <a:avLst/>
          </a:prstGeom>
          <a:solidFill>
            <a:srgbClr val="33CC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92" name="Rectangle 17"/>
          <p:cNvSpPr/>
          <p:nvPr/>
        </p:nvSpPr>
        <p:spPr>
          <a:xfrm>
            <a:off x="4282920" y="6068880"/>
            <a:ext cx="1636200" cy="269640"/>
          </a:xfrm>
          <a:prstGeom prst="rect">
            <a:avLst/>
          </a:prstGeom>
          <a:solidFill>
            <a:srgbClr val="33CC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993" name="PlaceHolder 1"/>
          <p:cNvSpPr>
            <a:spLocks noGrp="1"/>
          </p:cNvSpPr>
          <p:nvPr>
            <p:ph type="title"/>
          </p:nvPr>
        </p:nvSpPr>
        <p:spPr>
          <a:xfrm>
            <a:off x="355680" y="95400"/>
            <a:ext cx="7772040" cy="9093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Longest Prefix Matching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94" name="Rectangle 5"/>
          <p:cNvSpPr/>
          <p:nvPr/>
        </p:nvSpPr>
        <p:spPr>
          <a:xfrm>
            <a:off x="1054800" y="2993400"/>
            <a:ext cx="5256000" cy="21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Zieladressbereich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11001000 00010111 00010*** ********* 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11001000 00010111 00011000 *********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11001000 00010111 00011*** *********</a:t>
            </a:r>
            <a:endParaRPr lang="de-DE" sz="18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sonst  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           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95" name="Rectangle 7"/>
          <p:cNvSpPr/>
          <p:nvPr/>
        </p:nvSpPr>
        <p:spPr>
          <a:xfrm>
            <a:off x="1008720" y="6027480"/>
            <a:ext cx="50410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DA: 11001000  00010111  00011000  10101010</a:t>
            </a:r>
            <a:r>
              <a:rPr lang="en-US" sz="1800" b="0" strike="noStrike" spc="-1">
                <a:solidFill>
                  <a:srgbClr val="000000"/>
                </a:solidFill>
                <a:latin typeface="Comic Sans MS"/>
                <a:ea typeface="ＭＳ Ｐゴシック"/>
              </a:rPr>
              <a:t> 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96" name="Text Box 8"/>
          <p:cNvSpPr/>
          <p:nvPr/>
        </p:nvSpPr>
        <p:spPr>
          <a:xfrm>
            <a:off x="425880" y="5272200"/>
            <a:ext cx="10346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  <a:ea typeface="ＭＳ Ｐゴシック"/>
              </a:rPr>
              <a:t>Beispiele</a:t>
            </a:r>
            <a:r>
              <a:rPr lang="en-US" sz="2000" b="0" strike="noStrike" spc="-1">
                <a:solidFill>
                  <a:srgbClr val="000099"/>
                </a:solidFill>
                <a:latin typeface="Comic Sans MS"/>
                <a:ea typeface="ＭＳ Ｐゴシック"/>
              </a:rPr>
              <a:t>: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997" name="Text Box 9"/>
          <p:cNvSpPr/>
          <p:nvPr/>
        </p:nvSpPr>
        <p:spPr>
          <a:xfrm>
            <a:off x="985680" y="5641920"/>
            <a:ext cx="5054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DA: 11001000  00010111  00010110  10100001 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98" name="Text Box 15"/>
          <p:cNvSpPr/>
          <p:nvPr/>
        </p:nvSpPr>
        <p:spPr>
          <a:xfrm>
            <a:off x="6627240" y="5640480"/>
            <a:ext cx="18817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FF0000"/>
                </a:solidFill>
                <a:latin typeface="Comic Sans MS"/>
                <a:ea typeface="ＭＳ Ｐゴシック"/>
              </a:rPr>
              <a:t>Welches Interface?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999" name="Text Box 16"/>
          <p:cNvSpPr/>
          <p:nvPr/>
        </p:nvSpPr>
        <p:spPr>
          <a:xfrm>
            <a:off x="6626520" y="5992920"/>
            <a:ext cx="18817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FF0000"/>
                </a:solidFill>
                <a:latin typeface="Comic Sans MS"/>
                <a:ea typeface="ＭＳ Ｐゴシック"/>
              </a:rPr>
              <a:t>Welches Interface?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1000" name="Text Box 19"/>
          <p:cNvSpPr/>
          <p:nvPr/>
        </p:nvSpPr>
        <p:spPr>
          <a:xfrm>
            <a:off x="581400" y="1575000"/>
            <a:ext cx="7799040" cy="67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80000"/>
              </a:lnSpc>
              <a:buNone/>
            </a:pPr>
            <a:r>
              <a:rPr lang="de-DE" sz="2400" b="0" strike="noStrike" spc="-1">
                <a:solidFill>
                  <a:srgbClr val="000000"/>
                </a:solidFill>
                <a:latin typeface="Comic Sans MS"/>
                <a:ea typeface="ＭＳ Ｐゴシック"/>
              </a:rPr>
              <a:t>Nutze beim Suchen nach einem Eintrag in der Weiterleitungstabelle den längsten Adresspräfix der der Zieladresse entspricht.</a:t>
            </a:r>
            <a:endParaRPr lang="de-DE" sz="2400" b="0" strike="noStrike" spc="-1">
              <a:latin typeface="Arial"/>
            </a:endParaRPr>
          </a:p>
        </p:txBody>
      </p:sp>
      <p:sp>
        <p:nvSpPr>
          <p:cNvPr id="1001" name="Text Box 22"/>
          <p:cNvSpPr/>
          <p:nvPr/>
        </p:nvSpPr>
        <p:spPr>
          <a:xfrm>
            <a:off x="986544" y="1119707"/>
            <a:ext cx="3115510" cy="39865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i="1" strike="noStrike" spc="-1" dirty="0">
                <a:solidFill>
                  <a:srgbClr val="FF0000"/>
                </a:solidFill>
                <a:latin typeface="Comic Sans MS"/>
                <a:ea typeface="ＭＳ Ｐゴシック"/>
              </a:rPr>
              <a:t>Longest Prefix Matching</a:t>
            </a:r>
            <a:endParaRPr lang="de-DE" sz="2000" b="0" strike="noStrike" spc="-1" dirty="0">
              <a:latin typeface="Arial"/>
            </a:endParaRPr>
          </a:p>
        </p:txBody>
      </p:sp>
      <p:sp>
        <p:nvSpPr>
          <p:cNvPr id="1002" name="Rectangle 24"/>
          <p:cNvSpPr/>
          <p:nvPr/>
        </p:nvSpPr>
        <p:spPr>
          <a:xfrm>
            <a:off x="992160" y="3022560"/>
            <a:ext cx="7459200" cy="2106360"/>
          </a:xfrm>
          <a:prstGeom prst="rect">
            <a:avLst/>
          </a:prstGeom>
          <a:noFill/>
          <a:ln w="19050">
            <a:solidFill>
              <a:srgbClr val="00009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003" name="Line 25"/>
          <p:cNvSpPr/>
          <p:nvPr/>
        </p:nvSpPr>
        <p:spPr>
          <a:xfrm>
            <a:off x="992160" y="3457440"/>
            <a:ext cx="7448400" cy="36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004" name="Line 26"/>
          <p:cNvSpPr/>
          <p:nvPr/>
        </p:nvSpPr>
        <p:spPr>
          <a:xfrm>
            <a:off x="1022040" y="3887640"/>
            <a:ext cx="7448760" cy="36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005" name="Line 27"/>
          <p:cNvSpPr/>
          <p:nvPr/>
        </p:nvSpPr>
        <p:spPr>
          <a:xfrm>
            <a:off x="996840" y="4306680"/>
            <a:ext cx="7448400" cy="36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006" name="Line 28"/>
          <p:cNvSpPr/>
          <p:nvPr/>
        </p:nvSpPr>
        <p:spPr>
          <a:xfrm>
            <a:off x="993600" y="4736880"/>
            <a:ext cx="7448400" cy="36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007" name="Line 29"/>
          <p:cNvSpPr/>
          <p:nvPr/>
        </p:nvSpPr>
        <p:spPr>
          <a:xfrm>
            <a:off x="6176880" y="3022560"/>
            <a:ext cx="360" cy="2117520"/>
          </a:xfrm>
          <a:prstGeom prst="line">
            <a:avLst/>
          </a:prstGeom>
          <a:ln w="19050">
            <a:solidFill>
              <a:srgbClr val="0000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008" name="Text Box 30"/>
          <p:cNvSpPr/>
          <p:nvPr/>
        </p:nvSpPr>
        <p:spPr>
          <a:xfrm>
            <a:off x="6484320" y="2965320"/>
            <a:ext cx="1551240" cy="21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Link Interface</a:t>
            </a:r>
            <a:endParaRPr lang="de-DE" sz="18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0</a:t>
            </a:r>
            <a:endParaRPr lang="de-DE" sz="18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1</a:t>
            </a:r>
            <a:endParaRPr lang="de-DE" sz="18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2</a:t>
            </a:r>
            <a:endParaRPr lang="de-DE" sz="18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3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42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7C7184-972E-4857-AE02-A383CD2C6DD9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  <a:ea typeface="ＭＳ Ｐゴシック"/>
              </a:rPr>
              <a:t>17</a:t>
            </a:fld>
            <a:endParaRPr lang="de-DE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2"/>
          <p:cNvSpPr>
            <a:spLocks noGrp="1"/>
          </p:cNvSpPr>
          <p:nvPr>
            <p:ph type="sldNum" idx="44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B3314A-FF3E-4E84-9956-D46B3DC094CA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18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8324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u="sng" strike="noStrike" spc="-1">
                <a:solidFill>
                  <a:srgbClr val="3333CC"/>
                </a:solidFill>
                <a:uFillTx/>
                <a:latin typeface="Comic Sans MS"/>
              </a:rPr>
              <a:t>Paketvermittelt oder VC-Basis?</a:t>
            </a:r>
            <a:endParaRPr lang="en-US" sz="32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14" name="PlaceHolder 4"/>
          <p:cNvSpPr>
            <a:spLocks noGrp="1"/>
          </p:cNvSpPr>
          <p:nvPr>
            <p:ph/>
          </p:nvPr>
        </p:nvSpPr>
        <p:spPr>
          <a:xfrm>
            <a:off x="542880" y="1476360"/>
            <a:ext cx="474300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Internet (Paket)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Datenaustausch zwischen Computern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“elastischer” Dienst, keine strengen Forderungen bzgl.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Timing ...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Viele verschiedende Leitungstypen 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de-DE" sz="1800" b="0" strike="noStrike" spc="-1">
                <a:solidFill>
                  <a:srgbClr val="000000"/>
                </a:solidFill>
                <a:latin typeface="Comic Sans MS"/>
              </a:rPr>
              <a:t>Verschiedene Charakteristiken</a:t>
            </a:r>
            <a:endParaRPr lang="en-US" sz="1800" b="0" strike="noStrike" spc="-1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Einheitlicher Dienst schwierig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Leistungsfähige Endsysteme (Computer)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Können sich anpassen und Fehlerbehandlung durchführen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>
                <a:solidFill>
                  <a:srgbClr val="FF0000"/>
                </a:solidFill>
                <a:latin typeface="Comic Sans MS"/>
              </a:rPr>
              <a:t>Netz einfach, Komplexe Endsysteme</a:t>
            </a:r>
            <a:endParaRPr lang="en-US" sz="1800" b="0" strike="noStrike" spc="-1">
              <a:solidFill>
                <a:srgbClr val="000000"/>
              </a:solidFill>
              <a:latin typeface="Comic Sans MS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15" name="PlaceHolder 5"/>
          <p:cNvSpPr>
            <a:spLocks noGrp="1"/>
          </p:cNvSpPr>
          <p:nvPr>
            <p:ph/>
          </p:nvPr>
        </p:nvSpPr>
        <p:spPr>
          <a:xfrm>
            <a:off x="5287317" y="1429488"/>
            <a:ext cx="38095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ATM (VC)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Stammt aus Telefonwelt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Menschliches Gespräch: 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Exaktes Timing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de-DE" sz="1800" b="0" strike="noStrike" spc="-1">
                <a:solidFill>
                  <a:srgbClr val="000000"/>
                </a:solidFill>
                <a:latin typeface="Comic Sans MS"/>
              </a:rPr>
              <a:t>A</a:t>
            </a: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nforderungen an Zuverlässigkeit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de-DE" sz="1800" b="0" strike="noStrike" spc="-1">
                <a:solidFill>
                  <a:srgbClr val="000000"/>
                </a:solidFill>
                <a:latin typeface="Comic Sans MS"/>
              </a:rPr>
              <a:t>B</a:t>
            </a: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enötigt garantierten Dienst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“Einfache” Endsysteme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Telefone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>
                <a:solidFill>
                  <a:srgbClr val="FF0000"/>
                </a:solidFill>
                <a:latin typeface="Comic Sans MS"/>
              </a:rPr>
              <a:t>Netz ist komplex</a:t>
            </a:r>
            <a:endParaRPr lang="en-US" sz="1800" b="0" strike="noStrike" spc="-1">
              <a:solidFill>
                <a:srgbClr val="000000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tabLst>
                <a:tab pos="0" algn="l"/>
              </a:tabLst>
            </a:pPr>
            <a:r>
              <a:rPr lang="en-US" sz="4000" u="sng" spc="-1" dirty="0">
                <a:solidFill>
                  <a:srgbClr val="3333CC"/>
                </a:solidFill>
                <a:latin typeface="Comic Sans MS"/>
              </a:rPr>
              <a:t>Routing und </a:t>
            </a:r>
            <a:r>
              <a:rPr lang="en-US" sz="4000" u="sng" spc="-1" dirty="0" err="1">
                <a:solidFill>
                  <a:srgbClr val="3333CC"/>
                </a:solidFill>
                <a:latin typeface="Comic Sans MS"/>
              </a:rPr>
              <a:t>Weiterleitung</a:t>
            </a:r>
            <a:endParaRPr lang="en-US" sz="4000" u="sng" spc="-1" dirty="0">
              <a:solidFill>
                <a:srgbClr val="3333CC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301126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Picture 2"/>
          <p:cNvPicPr/>
          <p:nvPr/>
        </p:nvPicPr>
        <p:blipFill>
          <a:blip r:embed="rId2"/>
          <a:stretch/>
        </p:blipFill>
        <p:spPr>
          <a:xfrm>
            <a:off x="508320" y="1262880"/>
            <a:ext cx="5847120" cy="5445720"/>
          </a:xfrm>
          <a:prstGeom prst="rect">
            <a:avLst/>
          </a:prstGeom>
          <a:ln w="0">
            <a:noFill/>
          </a:ln>
        </p:spPr>
      </p:pic>
      <p:sp>
        <p:nvSpPr>
          <p:cNvPr id="770" name="Textfeld 200"/>
          <p:cNvSpPr/>
          <p:nvPr/>
        </p:nvSpPr>
        <p:spPr>
          <a:xfrm>
            <a:off x="1812240" y="1446840"/>
            <a:ext cx="1492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400" b="0" strike="noStrike" spc="-1">
                <a:solidFill>
                  <a:srgbClr val="FF0000"/>
                </a:solidFill>
                <a:latin typeface="Arial"/>
              </a:rPr>
              <a:t>Routing Tabelle</a:t>
            </a:r>
            <a:endParaRPr lang="de-DE" sz="1400" b="0" strike="noStrike" spc="-1">
              <a:latin typeface="Arial"/>
            </a:endParaRPr>
          </a:p>
        </p:txBody>
      </p:sp>
      <p:sp>
        <p:nvSpPr>
          <p:cNvPr id="771" name="Textfeld 201"/>
          <p:cNvSpPr/>
          <p:nvPr/>
        </p:nvSpPr>
        <p:spPr>
          <a:xfrm>
            <a:off x="1398600" y="2068560"/>
            <a:ext cx="226692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FF0000"/>
                </a:solidFill>
                <a:latin typeface="Arial"/>
              </a:rPr>
              <a:t>Lokale Forwarding-Tabelle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772" name="Textfeld 202"/>
          <p:cNvSpPr/>
          <p:nvPr/>
        </p:nvSpPr>
        <p:spPr>
          <a:xfrm>
            <a:off x="1490760" y="2386800"/>
            <a:ext cx="99180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100" b="0" strike="noStrike" spc="-1">
                <a:solidFill>
                  <a:srgbClr val="000000"/>
                </a:solidFill>
                <a:latin typeface="Arial"/>
              </a:rPr>
              <a:t>Zieladresse</a:t>
            </a:r>
            <a:endParaRPr lang="de-DE" sz="1100" b="0" strike="noStrike" spc="-1">
              <a:latin typeface="Arial"/>
            </a:endParaRPr>
          </a:p>
        </p:txBody>
      </p:sp>
      <p:sp>
        <p:nvSpPr>
          <p:cNvPr id="773" name="Textfeld 203"/>
          <p:cNvSpPr/>
          <p:nvPr/>
        </p:nvSpPr>
        <p:spPr>
          <a:xfrm>
            <a:off x="2319840" y="2387160"/>
            <a:ext cx="1292040" cy="2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100" b="0" strike="noStrike" spc="-1">
                <a:solidFill>
                  <a:srgbClr val="000000"/>
                </a:solidFill>
                <a:latin typeface="Arial"/>
              </a:rPr>
              <a:t>Ausgangsleitung</a:t>
            </a:r>
            <a:endParaRPr lang="de-DE" sz="1100" b="0" strike="noStrike" spc="-1">
              <a:latin typeface="Arial"/>
            </a:endParaRPr>
          </a:p>
        </p:txBody>
      </p:sp>
      <p:graphicFrame>
        <p:nvGraphicFramePr>
          <p:cNvPr id="774" name="Tabelle 204"/>
          <p:cNvGraphicFramePr/>
          <p:nvPr>
            <p:extLst/>
          </p:nvPr>
        </p:nvGraphicFramePr>
        <p:xfrm>
          <a:off x="1524807" y="2709005"/>
          <a:ext cx="2419758" cy="794149"/>
        </p:xfrm>
        <a:graphic>
          <a:graphicData uri="http://schemas.openxmlformats.org/drawingml/2006/table">
            <a:tbl>
              <a:tblPr/>
              <a:tblGrid>
                <a:gridCol w="1074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99">
                <a:tc>
                  <a:txBody>
                    <a:bodyPr/>
                    <a:lstStyle/>
                    <a:p>
                      <a:pPr marL="54000">
                        <a:lnSpc>
                          <a:spcPts val="700"/>
                        </a:lnSpc>
                        <a:buNone/>
                      </a:pPr>
                      <a:r>
                        <a:rPr lang="de-DE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Adressen 1</a:t>
                      </a:r>
                      <a:endParaRPr lang="de-DE" sz="90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3816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ts val="700"/>
                        </a:lnSpc>
                        <a:buNone/>
                      </a:pPr>
                      <a:r>
                        <a:rPr lang="de-DE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lang="de-DE" sz="90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3816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417">
                <a:tc>
                  <a:txBody>
                    <a:bodyPr/>
                    <a:lstStyle/>
                    <a:p>
                      <a:pPr marL="54000">
                        <a:lnSpc>
                          <a:spcPts val="7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de-DE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Adressen 2</a:t>
                      </a:r>
                      <a:endParaRPr lang="de-DE" sz="90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3816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ts val="700"/>
                        </a:lnSpc>
                        <a:buNone/>
                      </a:pPr>
                      <a:r>
                        <a:rPr lang="de-DE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de-DE" sz="90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38160">
                      <a:noFill/>
                    </a:lnT>
                    <a:lnB w="1224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46">
                <a:tc>
                  <a:txBody>
                    <a:bodyPr/>
                    <a:lstStyle/>
                    <a:p>
                      <a:pPr marL="54000">
                        <a:lnSpc>
                          <a:spcPts val="700"/>
                        </a:lnSpc>
                        <a:buNone/>
                      </a:pPr>
                      <a:r>
                        <a:rPr lang="de-DE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Adressen 3</a:t>
                      </a:r>
                      <a:endParaRPr lang="de-DE" sz="90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ts val="700"/>
                        </a:lnSpc>
                        <a:buNone/>
                      </a:pPr>
                      <a:r>
                        <a:rPr lang="de-DE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de-DE" sz="90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234">
                <a:tc>
                  <a:txBody>
                    <a:bodyPr/>
                    <a:lstStyle/>
                    <a:p>
                      <a:pPr marL="54000">
                        <a:lnSpc>
                          <a:spcPts val="700"/>
                        </a:lnSpc>
                        <a:buNone/>
                      </a:pPr>
                      <a:r>
                        <a:rPr lang="de-DE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Adressen 4</a:t>
                      </a:r>
                      <a:endParaRPr lang="de-DE" sz="90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ts val="700"/>
                        </a:lnSpc>
                        <a:buNone/>
                      </a:pPr>
                      <a:r>
                        <a:rPr lang="de-DE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lang="de-DE" sz="90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5" name="Textfeld 205"/>
          <p:cNvSpPr/>
          <p:nvPr/>
        </p:nvSpPr>
        <p:spPr>
          <a:xfrm>
            <a:off x="0" y="3840480"/>
            <a:ext cx="226692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200" b="0" strike="noStrike" spc="-1" dirty="0">
                <a:solidFill>
                  <a:srgbClr val="000000"/>
                </a:solidFill>
                <a:latin typeface="Arial"/>
              </a:rPr>
              <a:t>IP-Zieladresse im Header des</a:t>
            </a:r>
            <a:br>
              <a:rPr sz="1200" dirty="0"/>
            </a:br>
            <a:r>
              <a:rPr lang="de-DE" sz="1200" b="0" strike="noStrike" spc="-1" dirty="0">
                <a:solidFill>
                  <a:srgbClr val="000000"/>
                </a:solidFill>
                <a:latin typeface="Arial"/>
              </a:rPr>
              <a:t>ankommenden Pakets</a:t>
            </a:r>
            <a:endParaRPr lang="de-DE" sz="1200" b="0" strike="noStrike" spc="-1" dirty="0">
              <a:latin typeface="Arial"/>
            </a:endParaRPr>
          </a:p>
        </p:txBody>
      </p:sp>
      <p:sp>
        <p:nvSpPr>
          <p:cNvPr id="777" name="PlaceHolder 2"/>
          <p:cNvSpPr>
            <a:spLocks noGrp="1"/>
          </p:cNvSpPr>
          <p:nvPr>
            <p:ph type="sldNum" idx="56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CBCE1E-66E3-46FE-8403-76E2A2A7E212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20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778" name="Text Box 168"/>
          <p:cNvSpPr/>
          <p:nvPr/>
        </p:nvSpPr>
        <p:spPr>
          <a:xfrm>
            <a:off x="1081800" y="403200"/>
            <a:ext cx="3768480" cy="5770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u="sng" strike="noStrike" spc="-1">
                <a:solidFill>
                  <a:srgbClr val="3333CC"/>
                </a:solidFill>
                <a:uFillTx/>
                <a:latin typeface="Comic Sans MS"/>
              </a:rPr>
              <a:t>Routing und Forwarding</a:t>
            </a:r>
            <a:endParaRPr lang="de-DE" sz="3200" b="0" strike="noStrike" spc="-1">
              <a:latin typeface="Arial"/>
            </a:endParaRPr>
          </a:p>
        </p:txBody>
      </p:sp>
      <p:grpSp>
        <p:nvGrpSpPr>
          <p:cNvPr id="779" name="Group 170"/>
          <p:cNvGrpSpPr/>
          <p:nvPr/>
        </p:nvGrpSpPr>
        <p:grpSpPr>
          <a:xfrm>
            <a:off x="3436920" y="1123560"/>
            <a:ext cx="4717800" cy="644877"/>
            <a:chOff x="3436920" y="1123560"/>
            <a:chExt cx="4717800" cy="644877"/>
          </a:xfrm>
        </p:grpSpPr>
        <p:sp>
          <p:nvSpPr>
            <p:cNvPr id="780" name="Line 171"/>
            <p:cNvSpPr/>
            <p:nvPr/>
          </p:nvSpPr>
          <p:spPr>
            <a:xfrm flipV="1">
              <a:off x="3436920" y="1468080"/>
              <a:ext cx="582480" cy="13824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781" name="Text Box 172"/>
            <p:cNvSpPr/>
            <p:nvPr/>
          </p:nvSpPr>
          <p:spPr>
            <a:xfrm>
              <a:off x="4084560" y="1123560"/>
              <a:ext cx="4070160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 dirty="0">
                  <a:solidFill>
                    <a:srgbClr val="FF0000"/>
                  </a:solidFill>
                  <a:latin typeface="Comic Sans MS"/>
                  <a:ea typeface="ＭＳ Ｐゴシック"/>
                </a:rPr>
                <a:t>Routing </a:t>
              </a:r>
              <a:r>
                <a:rPr lang="en-US" sz="1800" b="0" strike="noStrike" spc="-1" dirty="0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Algorithmus</a:t>
              </a:r>
              <a:r>
                <a:rPr lang="en-US" sz="1800" b="0" strike="noStrike" spc="-1" dirty="0">
                  <a:solidFill>
                    <a:srgbClr val="FF0000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800" b="0" strike="noStrike" spc="-1" dirty="0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bestimmt</a:t>
              </a:r>
              <a:endParaRPr lang="de-DE" sz="1800" b="0" strike="noStrike" spc="-1" dirty="0">
                <a:solidFill>
                  <a:srgbClr val="FF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 dirty="0">
                  <a:solidFill>
                    <a:srgbClr val="FF0000"/>
                  </a:solidFill>
                  <a:latin typeface="Comic Sans MS"/>
                  <a:ea typeface="ＭＳ Ｐゴシック"/>
                </a:rPr>
                <a:t>Ende-</a:t>
              </a:r>
              <a:r>
                <a:rPr lang="en-US" sz="1800" b="0" strike="noStrike" spc="-1" dirty="0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zu</a:t>
              </a:r>
              <a:r>
                <a:rPr lang="en-US" sz="1800" b="0" strike="noStrike" spc="-1" dirty="0">
                  <a:solidFill>
                    <a:srgbClr val="FF0000"/>
                  </a:solidFill>
                  <a:latin typeface="Comic Sans MS"/>
                  <a:ea typeface="ＭＳ Ｐゴシック"/>
                </a:rPr>
                <a:t>-Ende </a:t>
              </a:r>
              <a:r>
                <a:rPr lang="en-US" sz="1800" b="0" strike="noStrike" spc="-1" dirty="0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Pfad</a:t>
              </a:r>
              <a:r>
                <a:rPr lang="en-US" sz="1800" b="0" strike="noStrike" spc="-1" dirty="0">
                  <a:solidFill>
                    <a:srgbClr val="FF0000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800" b="0" strike="noStrike" spc="-1" dirty="0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durch</a:t>
              </a:r>
              <a:r>
                <a:rPr lang="en-US" sz="1800" b="0" strike="noStrike" spc="-1" dirty="0">
                  <a:solidFill>
                    <a:srgbClr val="FF0000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800" b="0" strike="noStrike" spc="-1" dirty="0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Netzwerk</a:t>
              </a:r>
              <a:endParaRPr lang="de-DE" sz="1800" b="0" strike="noStrike" spc="-1" dirty="0">
                <a:solidFill>
                  <a:srgbClr val="FF0000"/>
                </a:solidFill>
                <a:latin typeface="Arial"/>
              </a:endParaRPr>
            </a:p>
          </p:txBody>
        </p:sp>
      </p:grpSp>
      <p:grpSp>
        <p:nvGrpSpPr>
          <p:cNvPr id="782" name="Group 173"/>
          <p:cNvGrpSpPr/>
          <p:nvPr/>
        </p:nvGrpSpPr>
        <p:grpSpPr>
          <a:xfrm>
            <a:off x="3474000" y="1792800"/>
            <a:ext cx="4280040" cy="644877"/>
            <a:chOff x="3474000" y="1792800"/>
            <a:chExt cx="4280040" cy="644877"/>
          </a:xfrm>
        </p:grpSpPr>
        <p:sp>
          <p:nvSpPr>
            <p:cNvPr id="783" name="Line 174"/>
            <p:cNvSpPr/>
            <p:nvPr/>
          </p:nvSpPr>
          <p:spPr>
            <a:xfrm flipV="1">
              <a:off x="3474000" y="2138400"/>
              <a:ext cx="582840" cy="138240"/>
            </a:xfrm>
            <a:prstGeom prst="line">
              <a:avLst/>
            </a:prstGeom>
            <a:ln w="9525">
              <a:solidFill>
                <a:srgbClr val="CC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784" name="Text Box 175"/>
            <p:cNvSpPr/>
            <p:nvPr/>
          </p:nvSpPr>
          <p:spPr>
            <a:xfrm>
              <a:off x="4063320" y="1792800"/>
              <a:ext cx="3690720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 dirty="0">
                  <a:solidFill>
                    <a:srgbClr val="FF0000"/>
                  </a:solidFill>
                  <a:latin typeface="Comic Sans MS"/>
                  <a:ea typeface="ＭＳ Ｐゴシック"/>
                </a:rPr>
                <a:t>Forwarding </a:t>
              </a:r>
              <a:r>
                <a:rPr lang="en-US" sz="1800" b="0" strike="noStrike" spc="-1" dirty="0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Tabelle</a:t>
              </a:r>
              <a:r>
                <a:rPr lang="en-US" sz="1800" b="0" strike="noStrike" spc="-1" dirty="0">
                  <a:solidFill>
                    <a:srgbClr val="FF0000"/>
                  </a:solidFill>
                  <a:latin typeface="Comic Sans MS"/>
                  <a:ea typeface="ＭＳ Ｐゴシック"/>
                </a:rPr>
                <a:t> </a:t>
              </a:r>
              <a:r>
                <a:rPr lang="en-US" sz="1800" b="0" strike="noStrike" spc="-1" dirty="0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bestimmt</a:t>
              </a:r>
              <a:endParaRPr lang="de-DE" sz="1800" b="0" strike="noStrike" spc="-1" dirty="0">
                <a:solidFill>
                  <a:srgbClr val="FF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 dirty="0" err="1">
                  <a:solidFill>
                    <a:srgbClr val="FF0000"/>
                  </a:solidFill>
                  <a:latin typeface="Comic Sans MS"/>
                  <a:ea typeface="ＭＳ Ｐゴシック"/>
                </a:rPr>
                <a:t>lokales</a:t>
              </a:r>
              <a:r>
                <a:rPr lang="en-US" sz="1800" b="0" strike="noStrike" spc="-1" dirty="0">
                  <a:solidFill>
                    <a:srgbClr val="FF0000"/>
                  </a:solidFill>
                  <a:latin typeface="Comic Sans MS"/>
                  <a:ea typeface="ＭＳ Ｐゴシック"/>
                </a:rPr>
                <a:t> Forwarding an Router</a:t>
              </a:r>
              <a:endParaRPr lang="de-DE" sz="1800" b="0" strike="noStrike" spc="-1" dirty="0">
                <a:solidFill>
                  <a:srgbClr val="FF0000"/>
                </a:solidFill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"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2"/>
          <p:cNvSpPr>
            <a:spLocks noGrp="1"/>
          </p:cNvSpPr>
          <p:nvPr>
            <p:ph type="sldNum" idx="58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E0C00C-355E-406C-8E2D-3C041B4673B0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21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787" name="Text Box 72"/>
          <p:cNvSpPr/>
          <p:nvPr/>
        </p:nvSpPr>
        <p:spPr>
          <a:xfrm>
            <a:off x="476986" y="1793848"/>
            <a:ext cx="3536309" cy="1475873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b="0" strike="noStrike" spc="-1" dirty="0">
                <a:solidFill>
                  <a:srgbClr val="000000"/>
                </a:solidFill>
                <a:latin typeface="Comic Sans MS"/>
              </a:rPr>
              <a:t>Graph:</a:t>
            </a:r>
            <a:r>
              <a:rPr lang="de-DE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de-DE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strike="noStrike" spc="-1" dirty="0" err="1">
                <a:solidFill>
                  <a:srgbClr val="000000"/>
                </a:solidFill>
                <a:latin typeface="Comic Sans MS"/>
              </a:rPr>
              <a:t>Menge</a:t>
            </a:r>
            <a:r>
              <a:rPr lang="en-US" b="0" strike="noStrike" spc="-1" dirty="0">
                <a:solidFill>
                  <a:srgbClr val="000000"/>
                </a:solidFill>
                <a:latin typeface="Comic Sans MS"/>
              </a:rPr>
              <a:t> der Router</a:t>
            </a:r>
            <a:r>
              <a:rPr lang="en-US" b="0" strike="noStrike" spc="-1" dirty="0">
                <a:solidFill>
                  <a:srgbClr val="000000"/>
                </a:solidFill>
                <a:latin typeface="Arial"/>
              </a:rPr>
              <a:t>: </a:t>
            </a:r>
            <a:endParaRPr lang="de-DE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de-DE" b="0" strike="noStrike" spc="-1" dirty="0">
              <a:latin typeface="Arial"/>
            </a:endParaRPr>
          </a:p>
          <a:p>
            <a:pPr marL="900000" indent="-900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0" strike="noStrike" spc="-1" dirty="0" err="1">
                <a:solidFill>
                  <a:srgbClr val="000000"/>
                </a:solidFill>
                <a:latin typeface="Comic Sans MS"/>
              </a:rPr>
              <a:t>Menge</a:t>
            </a:r>
            <a:r>
              <a:rPr lang="en-US" b="0" strike="noStrike" spc="-1" dirty="0">
                <a:solidFill>
                  <a:srgbClr val="000000"/>
                </a:solidFill>
                <a:latin typeface="Comic Sans MS"/>
              </a:rPr>
              <a:t> der Links </a:t>
            </a:r>
            <a:r>
              <a:rPr lang="en-US" b="0" strike="noStrike" spc="-1" dirty="0" err="1">
                <a:solidFill>
                  <a:srgbClr val="000000"/>
                </a:solidFill>
                <a:latin typeface="Comic Sans MS"/>
              </a:rPr>
              <a:t>mit</a:t>
            </a:r>
            <a:r>
              <a:rPr lang="en-US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b="0" strike="noStrike" spc="-1" dirty="0" err="1">
                <a:solidFill>
                  <a:srgbClr val="000000"/>
                </a:solidFill>
                <a:latin typeface="Comic Sans MS"/>
              </a:rPr>
              <a:t>Kosten</a:t>
            </a:r>
            <a:r>
              <a:rPr lang="en-US" b="0" strike="noStrike" spc="-1" dirty="0">
                <a:solidFill>
                  <a:srgbClr val="000000"/>
                </a:solidFill>
                <a:latin typeface="Comic Sans MS"/>
              </a:rPr>
              <a:t>:</a:t>
            </a:r>
            <a:endParaRPr lang="de-DE" b="0" strike="noStrike" spc="-1" dirty="0">
              <a:latin typeface="Arial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Netz als Graph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89" name="Text Box 74"/>
          <p:cNvSpPr/>
          <p:nvPr/>
        </p:nvSpPr>
        <p:spPr>
          <a:xfrm>
            <a:off x="85499" y="4607594"/>
            <a:ext cx="8864291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Anmerkung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Graphabstraktion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ist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auch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in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anderen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Netzwerk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Kontexten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nützlich</a:t>
            </a:r>
            <a:endParaRPr lang="de-DE" sz="2400" spc="-1" dirty="0">
              <a:latin typeface="Arial"/>
            </a:endParaRPr>
          </a:p>
          <a:p>
            <a:pPr marL="290520" indent="-2905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z.B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. P2P: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Menge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der Peers und 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Menge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der TCP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Verbindungen</a:t>
            </a:r>
            <a:endParaRPr lang="de-DE" sz="2400" b="0" strike="noStrike" spc="-1" dirty="0">
              <a:latin typeface="Arial"/>
            </a:endParaRPr>
          </a:p>
        </p:txBody>
      </p:sp>
      <p:pic>
        <p:nvPicPr>
          <p:cNvPr id="790" name="Picture 2" descr="D:\WORK\PEARSON\000 FOLIEN\4237_Computernetzweke\JPG\4237_eBook-392.jpg"/>
          <p:cNvPicPr/>
          <p:nvPr/>
        </p:nvPicPr>
        <p:blipFill>
          <a:blip r:embed="rId2"/>
          <a:stretch/>
        </p:blipFill>
        <p:spPr>
          <a:xfrm>
            <a:off x="3956760" y="1253880"/>
            <a:ext cx="4993030" cy="2889242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2"/>
          <p:cNvSpPr>
            <a:spLocks noGrp="1"/>
          </p:cNvSpPr>
          <p:nvPr>
            <p:ph type="sldNum" idx="60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415977-DE55-43EC-97DD-D8AF4FFF151C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22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000" b="0" u="sng" strike="noStrike" spc="-1">
                <a:solidFill>
                  <a:srgbClr val="3333CC"/>
                </a:solidFill>
                <a:uFillTx/>
                <a:latin typeface="Comic Sans MS"/>
              </a:rPr>
              <a:t>Routing</a:t>
            </a:r>
            <a:endParaRPr lang="en-US" sz="40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794" name="PlaceHolder 4"/>
          <p:cNvSpPr>
            <a:spLocks noGrp="1"/>
          </p:cNvSpPr>
          <p:nvPr>
            <p:ph/>
          </p:nvPr>
        </p:nvSpPr>
        <p:spPr>
          <a:xfrm>
            <a:off x="369720" y="3076560"/>
            <a:ext cx="4765320" cy="34761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Graph dient als Abstraktion des Netzes für Routing Algorithmen: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Knoten = Router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Kanten = Leitungen (physische Netzverbindungen)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Kantenmarkierung = Kosten (z.B.: Verzögerung, Tarif, Auslastung)</a:t>
            </a:r>
          </a:p>
        </p:txBody>
      </p:sp>
      <p:sp>
        <p:nvSpPr>
          <p:cNvPr id="795" name="Text Box 5"/>
          <p:cNvSpPr/>
          <p:nvPr/>
        </p:nvSpPr>
        <p:spPr>
          <a:xfrm>
            <a:off x="558720" y="1789200"/>
            <a:ext cx="3709800" cy="10044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FF0000"/>
                </a:solidFill>
                <a:latin typeface="Comic Sans MS"/>
              </a:rPr>
              <a:t>Ziel: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 Einen “guten” Pfad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(Folge von Routern) von der Quelle zum Ziel finden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796" name="Rectangle 6"/>
          <p:cNvSpPr/>
          <p:nvPr/>
        </p:nvSpPr>
        <p:spPr>
          <a:xfrm>
            <a:off x="571680" y="1571760"/>
            <a:ext cx="3695400" cy="1257120"/>
          </a:xfrm>
          <a:prstGeom prst="rect">
            <a:avLst/>
          </a:prstGeom>
          <a:noFill/>
          <a:ln w="1905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grpSp>
        <p:nvGrpSpPr>
          <p:cNvPr id="797" name="Group 9"/>
          <p:cNvGrpSpPr/>
          <p:nvPr/>
        </p:nvGrpSpPr>
        <p:grpSpPr>
          <a:xfrm>
            <a:off x="781200" y="1332000"/>
            <a:ext cx="2352240" cy="455400"/>
            <a:chOff x="781200" y="1332000"/>
            <a:chExt cx="2352240" cy="455400"/>
          </a:xfrm>
        </p:grpSpPr>
        <p:sp>
          <p:nvSpPr>
            <p:cNvPr id="798" name="Rectangle 8"/>
            <p:cNvSpPr/>
            <p:nvPr/>
          </p:nvSpPr>
          <p:spPr>
            <a:xfrm>
              <a:off x="781200" y="1390680"/>
              <a:ext cx="2352240" cy="35208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799" name="Text Box 7"/>
            <p:cNvSpPr/>
            <p:nvPr/>
          </p:nvSpPr>
          <p:spPr>
            <a:xfrm>
              <a:off x="925560" y="1332000"/>
              <a:ext cx="2099880" cy="4554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FF0000"/>
                  </a:solidFill>
                  <a:latin typeface="Comic Sans MS"/>
                </a:rPr>
                <a:t>Routing Protokoll</a:t>
              </a:r>
              <a:endParaRPr lang="de-DE" sz="2400" b="0" strike="noStrike" spc="-1">
                <a:latin typeface="Arial"/>
              </a:endParaRPr>
            </a:p>
          </p:txBody>
        </p:sp>
      </p:grpSp>
      <p:sp>
        <p:nvSpPr>
          <p:cNvPr id="800" name="Rectangle 150"/>
          <p:cNvSpPr/>
          <p:nvPr/>
        </p:nvSpPr>
        <p:spPr>
          <a:xfrm>
            <a:off x="4876920" y="4295880"/>
            <a:ext cx="4079520" cy="17046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ZapfDingbats" charset="2"/>
              <a:buChar char=""/>
            </a:pPr>
            <a:r>
              <a:rPr lang="en-US" sz="2400" b="0" strike="noStrike" spc="-1">
                <a:solidFill>
                  <a:srgbClr val="000000"/>
                </a:solidFill>
                <a:latin typeface="Comic Sans MS"/>
              </a:rPr>
              <a:t>“guter” Pfad:</a:t>
            </a:r>
            <a:endParaRPr lang="de-DE" sz="2400" b="0" strike="noStrike" spc="-1"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Typischerweise der Pfad mit den geringsten Kosten</a:t>
            </a:r>
            <a:endParaRPr lang="de-DE" sz="2000" b="0" strike="noStrike" spc="-1"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Andere Definitionen denkbar</a:t>
            </a:r>
            <a:endParaRPr lang="de-DE" sz="2000" b="0" strike="noStrike" spc="-1">
              <a:latin typeface="Arial"/>
            </a:endParaRPr>
          </a:p>
        </p:txBody>
      </p:sp>
      <p:pic>
        <p:nvPicPr>
          <p:cNvPr id="801" name="Picture 2" descr="D:\WORK\PEARSON\000 FOLIEN\4237_Computernetzweke\JPG\4237_eBook-392.jpg"/>
          <p:cNvPicPr/>
          <p:nvPr/>
        </p:nvPicPr>
        <p:blipFill>
          <a:blip r:embed="rId2"/>
          <a:stretch/>
        </p:blipFill>
        <p:spPr>
          <a:xfrm>
            <a:off x="4783175" y="567293"/>
            <a:ext cx="4156920" cy="2440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2"/>
          <p:cNvSpPr>
            <a:spLocks noGrp="1"/>
          </p:cNvSpPr>
          <p:nvPr>
            <p:ph type="sldNum" idx="62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CD8020-F46E-4AF1-9D45-024BFF87050A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23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807192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>
                <a:solidFill>
                  <a:srgbClr val="3333CC"/>
                </a:solidFill>
                <a:uFillTx/>
                <a:latin typeface="Comic Sans MS"/>
              </a:rPr>
              <a:t>Routing Algorithmen: Klassifizierung</a:t>
            </a:r>
            <a:endParaRPr lang="en-US" sz="36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05" name="PlaceHolder 4"/>
          <p:cNvSpPr>
            <a:spLocks noGrp="1"/>
          </p:cNvSpPr>
          <p:nvPr>
            <p:ph/>
          </p:nvPr>
        </p:nvSpPr>
        <p:spPr>
          <a:xfrm>
            <a:off x="533520" y="1371600"/>
            <a:ext cx="440028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Globales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oder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lokales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Wissen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?</a:t>
            </a:r>
            <a:endParaRPr lang="en-US" sz="24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3333CC"/>
                </a:solidFill>
                <a:latin typeface="Comic Sans MS"/>
              </a:rPr>
              <a:t>Global: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Router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kennen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die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gesamte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Netztopologie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(Graph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mit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allen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Kanten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Markierung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)</a:t>
            </a: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FF0000"/>
                </a:solidFill>
                <a:latin typeface="Comic Sans MS"/>
              </a:rPr>
              <a:t>“link state” </a:t>
            </a:r>
            <a:r>
              <a:rPr lang="en-US" sz="2000" b="0" strike="noStrike" spc="-1" dirty="0" err="1">
                <a:solidFill>
                  <a:srgbClr val="FF0000"/>
                </a:solidFill>
                <a:latin typeface="Comic Sans MS"/>
              </a:rPr>
              <a:t>Algorithmen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3333CC"/>
                </a:solidFill>
                <a:latin typeface="Comic Sans MS"/>
              </a:rPr>
              <a:t>Lokal</a:t>
            </a:r>
            <a:r>
              <a:rPr lang="en-US" sz="2000" b="0" strike="noStrike" spc="-1" dirty="0">
                <a:solidFill>
                  <a:srgbClr val="3333CC"/>
                </a:solidFill>
                <a:latin typeface="Comic Sans MS"/>
              </a:rPr>
              <a:t>: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Router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kennt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seine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physischen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Nachbarn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und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Übertragungskosten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Router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tauschen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Informationen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über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ihre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Nachbarn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aus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FF0000"/>
                </a:solidFill>
                <a:latin typeface="Comic Sans MS"/>
              </a:rPr>
              <a:t>”Distance Vector” </a:t>
            </a:r>
            <a:r>
              <a:rPr lang="en-US" sz="2000" b="0" strike="noStrike" spc="-1" dirty="0" err="1">
                <a:solidFill>
                  <a:srgbClr val="FF0000"/>
                </a:solidFill>
                <a:latin typeface="Comic Sans MS"/>
              </a:rPr>
              <a:t>Algorithmen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06" name="PlaceHolder 5"/>
          <p:cNvSpPr>
            <a:spLocks noGrp="1"/>
          </p:cNvSpPr>
          <p:nvPr>
            <p:ph/>
          </p:nvPr>
        </p:nvSpPr>
        <p:spPr>
          <a:xfrm>
            <a:off x="4838760" y="1380960"/>
            <a:ext cx="401436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Statisch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oder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dynamisch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?</a:t>
            </a:r>
            <a:endParaRPr lang="en-US" sz="24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3333CC"/>
                </a:solidFill>
                <a:latin typeface="Comic Sans MS"/>
              </a:rPr>
              <a:t>Statisch</a:t>
            </a:r>
            <a:r>
              <a:rPr lang="en-US" sz="2000" b="0" strike="noStrike" spc="-1" dirty="0">
                <a:solidFill>
                  <a:srgbClr val="3333CC"/>
                </a:solidFill>
                <a:latin typeface="Comic Sans MS"/>
              </a:rPr>
              <a:t>: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Routen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ändern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sich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nur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langsam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über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die Zeit</a:t>
            </a: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3333CC"/>
                </a:solidFill>
                <a:latin typeface="Comic Sans MS"/>
              </a:rPr>
              <a:t>Dynamisch</a:t>
            </a:r>
            <a:r>
              <a:rPr lang="en-US" sz="2000" b="0" strike="noStrike" spc="-1" dirty="0">
                <a:solidFill>
                  <a:srgbClr val="3333CC"/>
                </a:solidFill>
                <a:latin typeface="Comic Sans MS"/>
              </a:rPr>
              <a:t>: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Routen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ändern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sich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schneller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Regelmäßiger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Abgleich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bei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Änderung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der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Kosten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einer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Leitung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tabLst>
                <a:tab pos="0" algn="l"/>
              </a:tabLst>
            </a:pPr>
            <a:r>
              <a:rPr lang="en-US" sz="4000" u="sng" spc="-1" dirty="0">
                <a:solidFill>
                  <a:srgbClr val="3333CC"/>
                </a:solidFill>
                <a:latin typeface="Comic Sans MS"/>
              </a:rPr>
              <a:t>Link State </a:t>
            </a:r>
            <a:r>
              <a:rPr lang="en-US" sz="4000" u="sng" spc="-1" dirty="0" err="1">
                <a:solidFill>
                  <a:srgbClr val="3333CC"/>
                </a:solidFill>
                <a:latin typeface="Comic Sans MS"/>
              </a:rPr>
              <a:t>Verfahren</a:t>
            </a:r>
            <a:endParaRPr lang="en-US" sz="4000" u="sng" spc="-1" dirty="0">
              <a:solidFill>
                <a:srgbClr val="3333CC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806443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2"/>
          <p:cNvSpPr>
            <a:spLocks noGrp="1"/>
          </p:cNvSpPr>
          <p:nvPr>
            <p:ph type="sldNum" idx="66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B85733-74C4-4D1B-9917-AB3E446A36CF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25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806580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>
                <a:solidFill>
                  <a:srgbClr val="3333CC"/>
                </a:solidFill>
                <a:uFillTx/>
                <a:latin typeface="Comic Sans MS"/>
              </a:rPr>
              <a:t>Ein Link State Routing Algorithmus</a:t>
            </a:r>
            <a:endParaRPr lang="en-US" sz="36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15" name="PlaceHolder 4"/>
          <p:cNvSpPr>
            <a:spLocks noGrp="1"/>
          </p:cNvSpPr>
          <p:nvPr>
            <p:ph/>
          </p:nvPr>
        </p:nvSpPr>
        <p:spPr>
          <a:xfrm>
            <a:off x="222120" y="1600200"/>
            <a:ext cx="453816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Dijkstra Algorithmus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Netztopologie und Leitungskosten sind allen Knoten bekannt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Wird durch “link state broadcast” erreicht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Alle Knoten habe gleiche Informationen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Bestimmung der kostengünstigsten Pfade von einem Knoten A (“Quelle”) zu allen anderen Knoten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Ergibt Routing-Tabelle für A 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Iterativ: Nach k Iterationen sind die günstigsten Pfade bekannt</a:t>
            </a:r>
          </a:p>
        </p:txBody>
      </p:sp>
      <p:sp>
        <p:nvSpPr>
          <p:cNvPr id="816" name="PlaceHolder 5"/>
          <p:cNvSpPr>
            <a:spLocks noGrp="1"/>
          </p:cNvSpPr>
          <p:nvPr>
            <p:ph/>
          </p:nvPr>
        </p:nvSpPr>
        <p:spPr>
          <a:xfrm>
            <a:off x="4824360" y="1592280"/>
            <a:ext cx="405900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Notation:</a:t>
            </a:r>
            <a:endParaRPr lang="en-US" sz="24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Leitungskosten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von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i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nach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j.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Unendlich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wenn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keine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direkte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Verbindung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Für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jede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Quelle:</a:t>
            </a: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Aktuelle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Kosten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von der Quelle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zum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Ziel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v</a:t>
            </a: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Nächster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auf dem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Weg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von der Quelle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zu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v</a:t>
            </a:r>
          </a:p>
          <a:p>
            <a:pPr marL="343080" indent="-343080">
              <a:lnSpc>
                <a:spcPct val="90000"/>
              </a:lnSpc>
              <a:spcBef>
                <a:spcPts val="479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Menge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von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für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die der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kostengünstigste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Pfad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bekannt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ist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2"/>
          <p:cNvSpPr>
            <a:spLocks noGrp="1"/>
          </p:cNvSpPr>
          <p:nvPr>
            <p:ph type="sldNum" idx="68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CE8661-8C97-45C3-BBE4-E0877408AE4B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26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Dijkstra </a:t>
            </a:r>
            <a:r>
              <a:rPr lang="en-US" sz="36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Algorithmus</a:t>
            </a:r>
            <a:r>
              <a:rPr lang="en-US" sz="36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 (Revisited)</a:t>
            </a:r>
            <a:endParaRPr lang="en-US" sz="36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20" name="Text Box 3"/>
          <p:cNvSpPr/>
          <p:nvPr/>
        </p:nvSpPr>
        <p:spPr>
          <a:xfrm>
            <a:off x="1221120" y="1459080"/>
            <a:ext cx="6030360" cy="46634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  </a:t>
            </a:r>
            <a:r>
              <a:rPr lang="en-US" sz="2000" b="1" i="1" strike="noStrike" spc="-1">
                <a:solidFill>
                  <a:srgbClr val="000000"/>
                </a:solidFill>
                <a:latin typeface="Arial"/>
              </a:rPr>
              <a:t>Initialization: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   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    for all nodes 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      if  adjacent to 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        then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        else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8   </a:t>
            </a:r>
            <a:r>
              <a:rPr lang="en-US" sz="2000" b="1" i="1" strike="noStrike" spc="-1">
                <a:solidFill>
                  <a:srgbClr val="000000"/>
                </a:solidFill>
                <a:latin typeface="Arial"/>
              </a:rPr>
              <a:t>Loop</a:t>
            </a:r>
            <a:r>
              <a:rPr lang="en-US" sz="2000" b="0" i="1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9     find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w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not in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N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such that  is a minimum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10    add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w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to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N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11    update for all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adjacent to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w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and not in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N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12     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">
                <a:solidFill>
                  <a:srgbClr val="FF0000"/>
                </a:solidFill>
                <a:latin typeface="Arial"/>
              </a:rPr>
              <a:t>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13    /* new cost to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is either old cost to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or known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14     shortest path cost to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w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plus cost from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w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to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*/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15  </a:t>
            </a:r>
            <a:r>
              <a:rPr lang="en-US" sz="2000" b="1" i="1" strike="noStrike" spc="-1">
                <a:solidFill>
                  <a:srgbClr val="000000"/>
                </a:solidFill>
                <a:latin typeface="Arial"/>
              </a:rPr>
              <a:t>until all nodes in </a:t>
            </a:r>
            <a:r>
              <a:rPr lang="en-US" sz="2000" b="1" strike="noStrike" spc="-1">
                <a:solidFill>
                  <a:srgbClr val="000000"/>
                </a:solidFill>
                <a:latin typeface="Cambria Math"/>
              </a:rPr>
              <a:t>N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 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21" name="Freeform 4"/>
          <p:cNvSpPr/>
          <p:nvPr/>
        </p:nvSpPr>
        <p:spPr>
          <a:xfrm>
            <a:off x="600120" y="3543480"/>
            <a:ext cx="799920" cy="2885760"/>
          </a:xfrm>
          <a:custGeom>
            <a:avLst/>
            <a:gdLst/>
            <a:ahLst/>
            <a:cxnLst/>
            <a:rect l="l" t="t" r="r" b="b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>
            <a:solidFill>
              <a:srgbClr val="3333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Picture 2" descr="D:\WORK\PEARSON\000 FOLIEN\4237_Computernetzweke\JPG\4237_eBook-392.jpg"/>
          <p:cNvPicPr/>
          <p:nvPr/>
        </p:nvPicPr>
        <p:blipFill>
          <a:blip r:embed="rId2"/>
          <a:stretch/>
        </p:blipFill>
        <p:spPr>
          <a:xfrm>
            <a:off x="2329560" y="3614040"/>
            <a:ext cx="4746600" cy="2786400"/>
          </a:xfrm>
          <a:prstGeom prst="rect">
            <a:avLst/>
          </a:prstGeom>
          <a:ln w="0">
            <a:noFill/>
          </a:ln>
        </p:spPr>
      </p:pic>
      <p:sp>
        <p:nvSpPr>
          <p:cNvPr id="824" name="PlaceHolder 2"/>
          <p:cNvSpPr>
            <a:spLocks noGrp="1"/>
          </p:cNvSpPr>
          <p:nvPr>
            <p:ph type="sldNum" idx="70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903716-CB74-4259-9CBA-633048343A23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27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>
                <a:solidFill>
                  <a:srgbClr val="3333CC"/>
                </a:solidFill>
                <a:uFillTx/>
                <a:latin typeface="Comic Sans MS"/>
              </a:rPr>
              <a:t>Dijkstra Algorithmus: Beispiel</a:t>
            </a:r>
            <a:endParaRPr lang="en-US" sz="36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26" name="Text Box 3"/>
          <p:cNvSpPr/>
          <p:nvPr/>
        </p:nvSpPr>
        <p:spPr>
          <a:xfrm>
            <a:off x="240840" y="1506600"/>
            <a:ext cx="703800" cy="22240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Step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0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endParaRPr lang="de-DE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27" name="Text Box 4"/>
          <p:cNvSpPr/>
          <p:nvPr/>
        </p:nvSpPr>
        <p:spPr>
          <a:xfrm>
            <a:off x="1232640" y="1515960"/>
            <a:ext cx="1019160" cy="22240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start N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u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ux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uxy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uxyv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uxyvw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uxyvwz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28" name="Text Box 5"/>
          <p:cNvSpPr/>
          <p:nvPr/>
        </p:nvSpPr>
        <p:spPr>
          <a:xfrm>
            <a:off x="2492640" y="1496880"/>
            <a:ext cx="1174680" cy="13093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D(v),p(v)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2,u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2,u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2,u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29" name="Text Box 6"/>
          <p:cNvSpPr/>
          <p:nvPr/>
        </p:nvSpPr>
        <p:spPr>
          <a:xfrm>
            <a:off x="3665880" y="1501920"/>
            <a:ext cx="1285920" cy="16142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D(w),p(w)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5,u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4,x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3,y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3,y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30" name="Text Box 7"/>
          <p:cNvSpPr/>
          <p:nvPr/>
        </p:nvSpPr>
        <p:spPr>
          <a:xfrm>
            <a:off x="5050080" y="1496880"/>
            <a:ext cx="1174680" cy="6994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D(x),p(x)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1,u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31" name="Text Box 8"/>
          <p:cNvSpPr/>
          <p:nvPr/>
        </p:nvSpPr>
        <p:spPr>
          <a:xfrm>
            <a:off x="6345720" y="1501920"/>
            <a:ext cx="1174680" cy="10044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D(y),p(y)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2,x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32" name="Text Box 9"/>
          <p:cNvSpPr/>
          <p:nvPr/>
        </p:nvSpPr>
        <p:spPr>
          <a:xfrm>
            <a:off x="7598160" y="1515960"/>
            <a:ext cx="1174680" cy="19191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D(z),p(z)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4,y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4,y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4,y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33" name="Line 10"/>
          <p:cNvSpPr/>
          <p:nvPr/>
        </p:nvSpPr>
        <p:spPr>
          <a:xfrm>
            <a:off x="361800" y="1857240"/>
            <a:ext cx="8505720" cy="9360"/>
          </a:xfrm>
          <a:prstGeom prst="line">
            <a:avLst/>
          </a:prstGeom>
          <a:ln w="28575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34" name="Line 11"/>
          <p:cNvSpPr/>
          <p:nvPr/>
        </p:nvSpPr>
        <p:spPr>
          <a:xfrm>
            <a:off x="518760" y="2162160"/>
            <a:ext cx="8296560" cy="36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35" name="Line 12"/>
          <p:cNvSpPr/>
          <p:nvPr/>
        </p:nvSpPr>
        <p:spPr>
          <a:xfrm>
            <a:off x="537840" y="2457360"/>
            <a:ext cx="8267760" cy="468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36" name="Line 13"/>
          <p:cNvSpPr/>
          <p:nvPr/>
        </p:nvSpPr>
        <p:spPr>
          <a:xfrm>
            <a:off x="547560" y="2766960"/>
            <a:ext cx="8253360" cy="936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37" name="Line 14"/>
          <p:cNvSpPr/>
          <p:nvPr/>
        </p:nvSpPr>
        <p:spPr>
          <a:xfrm>
            <a:off x="556920" y="3071520"/>
            <a:ext cx="8267760" cy="972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38" name="Line 15"/>
          <p:cNvSpPr/>
          <p:nvPr/>
        </p:nvSpPr>
        <p:spPr>
          <a:xfrm>
            <a:off x="571320" y="3385800"/>
            <a:ext cx="8263080" cy="504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39" name="Line 86"/>
          <p:cNvSpPr/>
          <p:nvPr/>
        </p:nvSpPr>
        <p:spPr>
          <a:xfrm>
            <a:off x="3624120" y="5133960"/>
            <a:ext cx="452880" cy="33228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40" name="Line 87"/>
          <p:cNvSpPr/>
          <p:nvPr/>
        </p:nvSpPr>
        <p:spPr>
          <a:xfrm flipV="1">
            <a:off x="4485960" y="5576760"/>
            <a:ext cx="609840" cy="468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41" name="Line 88"/>
          <p:cNvSpPr/>
          <p:nvPr/>
        </p:nvSpPr>
        <p:spPr>
          <a:xfrm flipV="1">
            <a:off x="3624120" y="4600440"/>
            <a:ext cx="452880" cy="33228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42" name="Line 89"/>
          <p:cNvSpPr/>
          <p:nvPr/>
        </p:nvSpPr>
        <p:spPr>
          <a:xfrm flipV="1">
            <a:off x="5331240" y="4600440"/>
            <a:ext cx="360" cy="8478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43" name="Line 90"/>
          <p:cNvSpPr/>
          <p:nvPr/>
        </p:nvSpPr>
        <p:spPr>
          <a:xfrm flipV="1">
            <a:off x="5505120" y="5133960"/>
            <a:ext cx="452880" cy="33336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44" name="Line 91"/>
          <p:cNvSpPr/>
          <p:nvPr/>
        </p:nvSpPr>
        <p:spPr>
          <a:xfrm>
            <a:off x="171360" y="2028600"/>
            <a:ext cx="514440" cy="360"/>
          </a:xfrm>
          <a:prstGeom prst="line">
            <a:avLst/>
          </a:prstGeom>
          <a:ln w="38100">
            <a:solidFill>
              <a:srgbClr val="FF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45" name="Line 92"/>
          <p:cNvSpPr/>
          <p:nvPr/>
        </p:nvSpPr>
        <p:spPr>
          <a:xfrm>
            <a:off x="171360" y="2304720"/>
            <a:ext cx="514440" cy="360"/>
          </a:xfrm>
          <a:prstGeom prst="line">
            <a:avLst/>
          </a:prstGeom>
          <a:ln w="38100">
            <a:solidFill>
              <a:srgbClr val="FF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46" name="Line 93"/>
          <p:cNvSpPr/>
          <p:nvPr/>
        </p:nvSpPr>
        <p:spPr>
          <a:xfrm>
            <a:off x="161640" y="2638080"/>
            <a:ext cx="514440" cy="360"/>
          </a:xfrm>
          <a:prstGeom prst="line">
            <a:avLst/>
          </a:prstGeom>
          <a:ln w="38100">
            <a:solidFill>
              <a:srgbClr val="FF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47" name="Line 94"/>
          <p:cNvSpPr/>
          <p:nvPr/>
        </p:nvSpPr>
        <p:spPr>
          <a:xfrm>
            <a:off x="171360" y="2943000"/>
            <a:ext cx="514440" cy="360"/>
          </a:xfrm>
          <a:prstGeom prst="line">
            <a:avLst/>
          </a:prstGeom>
          <a:ln w="38100">
            <a:solidFill>
              <a:srgbClr val="FF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48" name="Line 95"/>
          <p:cNvSpPr/>
          <p:nvPr/>
        </p:nvSpPr>
        <p:spPr>
          <a:xfrm>
            <a:off x="180720" y="3247920"/>
            <a:ext cx="514440" cy="360"/>
          </a:xfrm>
          <a:prstGeom prst="line">
            <a:avLst/>
          </a:prstGeom>
          <a:ln w="38100">
            <a:solidFill>
              <a:srgbClr val="FF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"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5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4"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3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4" grpId="0" animBg="1"/>
      <p:bldP spid="84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ftr" idx="71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omic Sans MS"/>
              </a:rPr>
              <a:t>Internetschicht</a:t>
            </a:r>
            <a:endParaRPr lang="de-DE" sz="1400" b="0" strike="noStrike" spc="-1">
              <a:latin typeface="Times New Roman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 type="sldNum" idx="72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905415-8777-4BE7-8989-85BED5EA91A5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28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>
                <a:solidFill>
                  <a:srgbClr val="3333CC"/>
                </a:solidFill>
                <a:uFillTx/>
                <a:latin typeface="Comic Sans MS"/>
              </a:rPr>
              <a:t>Dijkstra Algorithmus: Diskussion</a:t>
            </a:r>
            <a:endParaRPr lang="en-US" sz="3600" b="0" strike="noStrike" spc="-1">
              <a:solidFill>
                <a:srgbClr val="000000"/>
              </a:solidFill>
              <a:latin typeface="Comic Sans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2" name="PlaceHolder 4"/>
              <p:cNvSpPr>
                <a:spLocks noGrp="1"/>
              </p:cNvSpPr>
              <p:nvPr>
                <p:ph/>
              </p:nvPr>
            </p:nvSpPr>
            <p:spPr>
              <a:xfrm>
                <a:off x="561960" y="1371600"/>
                <a:ext cx="8419680" cy="1857122"/>
              </a:xfrm>
              <a:prstGeom prst="rect">
                <a:avLst/>
              </a:prstGeom>
              <a:noFill/>
              <a:ln w="9360">
                <a:noFill/>
              </a:ln>
            </p:spPr>
            <p:txBody>
              <a:bodyPr numCol="1" spcCol="0" anchor="t">
                <a:noAutofit/>
              </a:bodyPr>
              <a:lstStyle/>
              <a:p>
                <a:pPr marL="343080" indent="-343080">
                  <a:lnSpc>
                    <a:spcPct val="100000"/>
                  </a:lnSpc>
                  <a:spcBef>
                    <a:spcPts val="479"/>
                  </a:spcBef>
                  <a:buNone/>
                  <a:tabLst>
                    <a:tab pos="0" algn="l"/>
                  </a:tabLst>
                </a:pPr>
                <a:r>
                  <a:rPr lang="en-US" sz="2400" b="0" strike="noStrike" spc="-1" dirty="0">
                    <a:solidFill>
                      <a:srgbClr val="FF0000"/>
                    </a:solidFill>
                    <a:latin typeface="Comic Sans MS"/>
                  </a:rPr>
                  <a:t>Komplexität: 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ambria Math"/>
                  </a:rPr>
                  <a:t>n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Iterationen</a:t>
                </a:r>
                <a:endParaRPr lang="en-US" sz="2400" b="0" strike="noStrike" spc="-1" dirty="0">
                  <a:solidFill>
                    <a:srgbClr val="000000"/>
                  </a:solidFill>
                  <a:latin typeface="Comic Sans MS"/>
                </a:endParaRPr>
              </a:p>
              <a:p>
                <a:pPr marL="343080" indent="-343080">
                  <a:lnSpc>
                    <a:spcPct val="100000"/>
                  </a:lnSpc>
                  <a:spcBef>
                    <a:spcPts val="561"/>
                  </a:spcBef>
                  <a:buClr>
                    <a:srgbClr val="3333CC"/>
                  </a:buClr>
                  <a:buSzPct val="85000"/>
                  <a:buFont typeface="ZapfDingbats" charset="2"/>
                  <a:buChar char=""/>
                  <a:tabLst>
                    <a:tab pos="0" algn="l"/>
                  </a:tabLst>
                </a:pP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Pro Iteration: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Alle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Knoten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ambria Math"/>
                  </a:rPr>
                  <a:t>w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, die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nicht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in </a:t>
                </a:r>
                <a:r>
                  <a:rPr lang="en-US" sz="2800" b="0" strike="noStrike" spc="-1" dirty="0">
                    <a:solidFill>
                      <a:srgbClr val="000000"/>
                    </a:solidFill>
                    <a:latin typeface="Cambria Math"/>
                  </a:rPr>
                  <a:t>N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sind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prüfen</a:t>
                </a:r>
                <a:endParaRPr lang="en-US" sz="2400" b="0" strike="noStrike" spc="-1" dirty="0">
                  <a:solidFill>
                    <a:srgbClr val="000000"/>
                  </a:solidFill>
                  <a:latin typeface="Comic Sans MS"/>
                </a:endParaRPr>
              </a:p>
              <a:p>
                <a:pPr marL="343080" indent="-343080">
                  <a:lnSpc>
                    <a:spcPct val="100000"/>
                  </a:lnSpc>
                  <a:spcBef>
                    <a:spcPts val="479"/>
                  </a:spcBef>
                  <a:buClr>
                    <a:srgbClr val="3333CC"/>
                  </a:buClr>
                  <a:buSzPct val="85000"/>
                  <a:buFont typeface="ZapfDingbats" charset="2"/>
                  <a:buChar char=""/>
                  <a:tabLst>
                    <a:tab pos="0" algn="l"/>
                  </a:tabLst>
                </a:pPr>
                <a:r>
                  <a:rPr lang="en-US" sz="2400" b="0" strike="noStrike" spc="-1" dirty="0">
                    <a:solidFill>
                      <a:srgbClr val="FF0000"/>
                    </a:solidFill>
                    <a:latin typeface="Comic Sans MS"/>
                  </a:rPr>
                  <a:t>#Vergleiche: </a:t>
                </a:r>
                <a:r>
                  <a:rPr lang="en-US" sz="2400" spc="-1" dirty="0">
                    <a:solidFill>
                      <a:srgbClr val="FF0000"/>
                    </a:solidFill>
                    <a:latin typeface="Comic Sans MS"/>
                  </a:rPr>
                  <a:t>??</a:t>
                </a:r>
                <a:endParaRPr lang="en-US" sz="2400" spc="-1" dirty="0">
                  <a:solidFill>
                    <a:srgbClr val="000000"/>
                  </a:solidFill>
                  <a:latin typeface="Comic Sans MS"/>
                </a:endParaRPr>
              </a:p>
              <a:p>
                <a:pPr marL="343080" indent="-343080">
                  <a:lnSpc>
                    <a:spcPct val="100000"/>
                  </a:lnSpc>
                  <a:spcBef>
                    <a:spcPts val="479"/>
                  </a:spcBef>
                  <a:buClr>
                    <a:srgbClr val="3333CC"/>
                  </a:buClr>
                  <a:buSzPct val="85000"/>
                  <a:buFont typeface="ZapfDingbats" charset="2"/>
                  <a:buChar char=""/>
                  <a:tabLst>
                    <a:tab pos="0" algn="l"/>
                  </a:tabLst>
                </a:pP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Effizientere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Implementierung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möglich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: </a:t>
                </a:r>
                <a14:m>
                  <m:oMath xmlns:m="http://schemas.openxmlformats.org/officeDocument/2006/math">
                    <m:r>
                      <a:rPr lang="de-DE" sz="2400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sz="2400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𝑛𝑙𝑜𝑔𝑛</m:t>
                    </m:r>
                    <m:r>
                      <a:rPr lang="de-DE" sz="2400" b="0" i="1" strike="noStrike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strike="noStrike" spc="-1" dirty="0">
                  <a:solidFill>
                    <a:srgbClr val="000000"/>
                  </a:solidFill>
                  <a:latin typeface="Comic Sans MS"/>
                </a:endParaRPr>
              </a:p>
              <a:p>
                <a:pPr marL="343080" indent="-343080">
                  <a:lnSpc>
                    <a:spcPct val="100000"/>
                  </a:lnSpc>
                  <a:spcBef>
                    <a:spcPts val="961"/>
                  </a:spcBef>
                  <a:buNone/>
                  <a:tabLst>
                    <a:tab pos="0" algn="l"/>
                  </a:tabLst>
                </a:pPr>
                <a:r>
                  <a:rPr lang="en-US" sz="2400" b="0" strike="noStrike" spc="-1" dirty="0" err="1">
                    <a:solidFill>
                      <a:srgbClr val="FF0000"/>
                    </a:solidFill>
                    <a:latin typeface="Comic Sans MS"/>
                  </a:rPr>
                  <a:t>Oszillationen</a:t>
                </a:r>
                <a:r>
                  <a:rPr lang="en-US" sz="2400" b="0" strike="noStrike" spc="-1" dirty="0">
                    <a:solidFill>
                      <a:srgbClr val="FF0000"/>
                    </a:solidFill>
                    <a:latin typeface="Comic Sans MS"/>
                  </a:rPr>
                  <a:t> </a:t>
                </a:r>
                <a:r>
                  <a:rPr lang="en-US" sz="2400" b="0" strike="noStrike" spc="-1" dirty="0" err="1">
                    <a:solidFill>
                      <a:srgbClr val="FF0000"/>
                    </a:solidFill>
                    <a:latin typeface="Comic Sans MS"/>
                  </a:rPr>
                  <a:t>möglich</a:t>
                </a:r>
                <a:r>
                  <a:rPr lang="en-US" sz="2400" b="0" strike="noStrike" spc="-1" dirty="0">
                    <a:solidFill>
                      <a:srgbClr val="FF0000"/>
                    </a:solidFill>
                    <a:latin typeface="Comic Sans MS"/>
                  </a:rPr>
                  <a:t>:</a:t>
                </a:r>
                <a:endParaRPr lang="en-US" sz="2400" b="0" strike="noStrike" spc="-1" dirty="0">
                  <a:solidFill>
                    <a:srgbClr val="000000"/>
                  </a:solidFill>
                  <a:latin typeface="Comic Sans MS"/>
                </a:endParaRPr>
              </a:p>
              <a:p>
                <a:pPr marL="343080" indent="-343080">
                  <a:lnSpc>
                    <a:spcPct val="100000"/>
                  </a:lnSpc>
                  <a:spcBef>
                    <a:spcPts val="479"/>
                  </a:spcBef>
                  <a:buClr>
                    <a:srgbClr val="3333CC"/>
                  </a:buClr>
                  <a:buSzPct val="85000"/>
                  <a:buFont typeface="ZapfDingbats" charset="2"/>
                  <a:buChar char=""/>
                  <a:tabLst>
                    <a:tab pos="0" algn="l"/>
                  </a:tabLst>
                </a:pP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Bsp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.: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Leitungskosten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=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Anzahl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der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beförderten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latin typeface="Comic Sans MS"/>
                  </a:rPr>
                  <a:t> </a:t>
                </a:r>
                <a:r>
                  <a:rPr lang="en-US" sz="2400" b="0" strike="noStrike" spc="-1" dirty="0" err="1">
                    <a:solidFill>
                      <a:srgbClr val="000000"/>
                    </a:solidFill>
                    <a:latin typeface="Comic Sans MS"/>
                  </a:rPr>
                  <a:t>Pakete</a:t>
                </a:r>
                <a:endParaRPr lang="en-US" sz="2400" b="0" strike="noStrike" spc="-1" dirty="0">
                  <a:solidFill>
                    <a:srgbClr val="000000"/>
                  </a:solidFill>
                  <a:latin typeface="Comic Sans MS"/>
                </a:endParaRPr>
              </a:p>
            </p:txBody>
          </p:sp>
        </mc:Choice>
        <mc:Fallback xmlns="">
          <p:sp>
            <p:nvSpPr>
              <p:cNvPr id="852" name="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561960" y="1371600"/>
                <a:ext cx="8419680" cy="1857122"/>
              </a:xfrm>
              <a:prstGeom prst="rect">
                <a:avLst/>
              </a:prstGeom>
              <a:blipFill>
                <a:blip r:embed="rId3"/>
                <a:stretch>
                  <a:fillRect l="-2172" t="-5246" b="-52459"/>
                </a:stretch>
              </a:blipFill>
              <a:ln w="936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3" name="Text Box 310"/>
          <p:cNvSpPr/>
          <p:nvPr/>
        </p:nvSpPr>
        <p:spPr>
          <a:xfrm>
            <a:off x="1356840" y="5942160"/>
            <a:ext cx="638280" cy="394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Start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54" name="Text Box 311"/>
          <p:cNvSpPr/>
          <p:nvPr/>
        </p:nvSpPr>
        <p:spPr>
          <a:xfrm>
            <a:off x="3160440" y="5799240"/>
            <a:ext cx="1133640" cy="6994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… Erneut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Berechnen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55" name="Text Box 312"/>
          <p:cNvSpPr/>
          <p:nvPr/>
        </p:nvSpPr>
        <p:spPr>
          <a:xfrm>
            <a:off x="5179680" y="5808600"/>
            <a:ext cx="1133640" cy="6994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… Erneut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Berechnen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856" name="Text Box 313"/>
          <p:cNvSpPr/>
          <p:nvPr/>
        </p:nvSpPr>
        <p:spPr>
          <a:xfrm>
            <a:off x="7170480" y="5789520"/>
            <a:ext cx="1133640" cy="6994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… Erneut</a:t>
            </a:r>
            <a:endParaRPr lang="de-DE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Berechnen</a:t>
            </a:r>
            <a:endParaRPr lang="de-DE" sz="2000" b="0" strike="noStrike" spc="-1">
              <a:latin typeface="Arial"/>
            </a:endParaRPr>
          </a:p>
        </p:txBody>
      </p:sp>
      <p:pic>
        <p:nvPicPr>
          <p:cNvPr id="857" name="Grafik 2"/>
          <p:cNvPicPr/>
          <p:nvPr/>
        </p:nvPicPr>
        <p:blipFill>
          <a:blip r:embed="rId4"/>
          <a:stretch/>
        </p:blipFill>
        <p:spPr>
          <a:xfrm>
            <a:off x="771120" y="4222440"/>
            <a:ext cx="1809000" cy="1631160"/>
          </a:xfrm>
          <a:prstGeom prst="rect">
            <a:avLst/>
          </a:prstGeom>
          <a:ln w="0">
            <a:noFill/>
          </a:ln>
        </p:spPr>
      </p:pic>
      <p:pic>
        <p:nvPicPr>
          <p:cNvPr id="858" name="Grafik 4"/>
          <p:cNvPicPr/>
          <p:nvPr/>
        </p:nvPicPr>
        <p:blipFill>
          <a:blip r:embed="rId5"/>
          <a:stretch/>
        </p:blipFill>
        <p:spPr>
          <a:xfrm>
            <a:off x="2762640" y="4191840"/>
            <a:ext cx="1809000" cy="1625760"/>
          </a:xfrm>
          <a:prstGeom prst="rect">
            <a:avLst/>
          </a:prstGeom>
          <a:ln w="0">
            <a:noFill/>
          </a:ln>
        </p:spPr>
      </p:pic>
      <p:pic>
        <p:nvPicPr>
          <p:cNvPr id="859" name="Grafik 6"/>
          <p:cNvPicPr/>
          <p:nvPr/>
        </p:nvPicPr>
        <p:blipFill>
          <a:blip r:embed="rId6"/>
          <a:stretch/>
        </p:blipFill>
        <p:spPr>
          <a:xfrm>
            <a:off x="4753800" y="4145040"/>
            <a:ext cx="1809000" cy="1670760"/>
          </a:xfrm>
          <a:prstGeom prst="rect">
            <a:avLst/>
          </a:prstGeom>
          <a:ln w="0">
            <a:noFill/>
          </a:ln>
        </p:spPr>
      </p:pic>
      <p:pic>
        <p:nvPicPr>
          <p:cNvPr id="860" name="Grafik 8"/>
          <p:cNvPicPr/>
          <p:nvPr/>
        </p:nvPicPr>
        <p:blipFill>
          <a:blip r:embed="rId7"/>
          <a:stretch/>
        </p:blipFill>
        <p:spPr>
          <a:xfrm>
            <a:off x="6739560" y="4157280"/>
            <a:ext cx="1821240" cy="1670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tabLst>
                <a:tab pos="0" algn="l"/>
              </a:tabLst>
            </a:pPr>
            <a:r>
              <a:rPr lang="en-US" sz="4000" u="sng" spc="-1" dirty="0" err="1">
                <a:solidFill>
                  <a:srgbClr val="3333CC"/>
                </a:solidFill>
                <a:latin typeface="Comic Sans MS"/>
              </a:rPr>
              <a:t>Distanzvektor</a:t>
            </a:r>
            <a:r>
              <a:rPr lang="en-US" sz="4000" u="sng" spc="-1" dirty="0">
                <a:solidFill>
                  <a:srgbClr val="3333CC"/>
                </a:solidFill>
                <a:latin typeface="Comic Sans MS"/>
              </a:rPr>
              <a:t> </a:t>
            </a:r>
            <a:r>
              <a:rPr lang="en-US" sz="4000" u="sng" spc="-1" dirty="0" err="1">
                <a:solidFill>
                  <a:srgbClr val="3333CC"/>
                </a:solidFill>
                <a:latin typeface="Comic Sans MS"/>
              </a:rPr>
              <a:t>Verfahren</a:t>
            </a:r>
            <a:endParaRPr lang="en-US" sz="4000" u="sng" spc="-1" dirty="0">
              <a:solidFill>
                <a:srgbClr val="3333CC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11219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2"/>
          <p:cNvSpPr>
            <a:spLocks noGrp="1"/>
          </p:cNvSpPr>
          <p:nvPr>
            <p:ph type="sldNum" idx="78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97FF4B-3782-4107-9308-9C12BFBF8DE2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30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Distance Vector Routing (revisited)</a:t>
            </a:r>
            <a:endParaRPr lang="en-US" sz="32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73" name="PlaceHolder 4"/>
          <p:cNvSpPr>
            <a:spLocks noGrp="1"/>
          </p:cNvSpPr>
          <p:nvPr>
            <p:ph/>
          </p:nvPr>
        </p:nvSpPr>
        <p:spPr>
          <a:xfrm>
            <a:off x="561960" y="1362240"/>
            <a:ext cx="35413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Iterativ: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Läuft solange Knoten Informationen austauschen.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000000"/>
                </a:solidFill>
                <a:latin typeface="Comic Sans MS"/>
              </a:rPr>
              <a:t>selbst-terminierend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: Kein Stop-Signal von außen</a:t>
            </a: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Asynchron: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Knoten müssen sich nicht synchronisieren</a:t>
            </a: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Verteilt: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Knoten kommunizieren mit ihren direkten Nachbarn, keine zentrale Instanz</a:t>
            </a: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74" name="PlaceHolder 5"/>
          <p:cNvSpPr>
            <a:spLocks noGrp="1"/>
          </p:cNvSpPr>
          <p:nvPr>
            <p:ph/>
          </p:nvPr>
        </p:nvSpPr>
        <p:spPr>
          <a:xfrm>
            <a:off x="4009320" y="1362240"/>
            <a:ext cx="4935240" cy="25524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Datenstruktur </a:t>
            </a:r>
            <a:r>
              <a:rPr lang="en-US" sz="2400" b="0" i="1" strike="noStrike" spc="-1">
                <a:solidFill>
                  <a:srgbClr val="FF0000"/>
                </a:solidFill>
                <a:latin typeface="Comic Sans MS"/>
              </a:rPr>
              <a:t>Distanz-Tabelle</a:t>
            </a:r>
            <a:endParaRPr lang="en-US" sz="24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Pro Knoten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Eine Zeile pro mögliches Ziel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Spalte für jeden direkten Nachbarn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Bsp.: Auf Knoten X nach Ziel Y über Nachbar Z:</a:t>
            </a:r>
          </a:p>
        </p:txBody>
      </p:sp>
      <p:grpSp>
        <p:nvGrpSpPr>
          <p:cNvPr id="975" name="Group 15"/>
          <p:cNvGrpSpPr/>
          <p:nvPr/>
        </p:nvGrpSpPr>
        <p:grpSpPr>
          <a:xfrm>
            <a:off x="4307400" y="4535640"/>
            <a:ext cx="4249800" cy="1360800"/>
            <a:chOff x="4307400" y="4535640"/>
            <a:chExt cx="4249800" cy="1360800"/>
          </a:xfrm>
        </p:grpSpPr>
        <p:grpSp>
          <p:nvGrpSpPr>
            <p:cNvPr id="976" name="Group 7"/>
            <p:cNvGrpSpPr/>
            <p:nvPr/>
          </p:nvGrpSpPr>
          <p:grpSpPr>
            <a:xfrm>
              <a:off x="4307400" y="4792680"/>
              <a:ext cx="1126080" cy="645840"/>
              <a:chOff x="4307400" y="4792680"/>
              <a:chExt cx="1126080" cy="645840"/>
            </a:xfrm>
          </p:grpSpPr>
          <p:sp>
            <p:nvSpPr>
              <p:cNvPr id="977" name="Text Box 5"/>
              <p:cNvSpPr/>
              <p:nvPr/>
            </p:nvSpPr>
            <p:spPr>
              <a:xfrm>
                <a:off x="4307400" y="4983120"/>
                <a:ext cx="1126080" cy="45540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400" b="0" strike="noStrike" spc="-1">
                    <a:solidFill>
                      <a:srgbClr val="000000"/>
                    </a:solidFill>
                    <a:latin typeface="Arial"/>
                  </a:rPr>
                  <a:t>D (Y,Z)</a:t>
                </a:r>
                <a:endParaRPr lang="de-DE" sz="2400" b="0" strike="noStrike" spc="-1">
                  <a:latin typeface="Arial"/>
                </a:endParaRPr>
              </a:p>
            </p:txBody>
          </p:sp>
          <p:sp>
            <p:nvSpPr>
              <p:cNvPr id="978" name="Text Box 6"/>
              <p:cNvSpPr/>
              <p:nvPr/>
            </p:nvSpPr>
            <p:spPr>
              <a:xfrm>
                <a:off x="4491000" y="4792680"/>
                <a:ext cx="35028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000" b="0" strike="noStrike" spc="-1">
                    <a:solidFill>
                      <a:srgbClr val="000000"/>
                    </a:solidFill>
                    <a:latin typeface="Arial"/>
                  </a:rPr>
                  <a:t>X</a:t>
                </a:r>
                <a:endParaRPr lang="de-DE" sz="2000" b="0" strike="noStrike" spc="-1">
                  <a:latin typeface="Arial"/>
                </a:endParaRPr>
              </a:p>
            </p:txBody>
          </p:sp>
        </p:grpSp>
        <p:sp>
          <p:nvSpPr>
            <p:cNvPr id="979" name="Text Box 8"/>
            <p:cNvSpPr/>
            <p:nvPr/>
          </p:nvSpPr>
          <p:spPr>
            <a:xfrm>
              <a:off x="5816880" y="4535640"/>
              <a:ext cx="2566080" cy="699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Entfernung von X zu</a:t>
              </a:r>
              <a:endParaRPr lang="de-DE" sz="20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Y, mit Z als Next-Hop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80" name="Text Box 9"/>
            <p:cNvSpPr/>
            <p:nvPr/>
          </p:nvSpPr>
          <p:spPr>
            <a:xfrm>
              <a:off x="5785200" y="5354640"/>
              <a:ext cx="277200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c(X,Z) + min  {D  (Y,w)}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81" name="Text Box 10"/>
            <p:cNvSpPr/>
            <p:nvPr/>
          </p:nvSpPr>
          <p:spPr>
            <a:xfrm>
              <a:off x="7575120" y="5227560"/>
              <a:ext cx="32112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Z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82" name="Text Box 11"/>
            <p:cNvSpPr/>
            <p:nvPr/>
          </p:nvSpPr>
          <p:spPr>
            <a:xfrm>
              <a:off x="7146720" y="5532480"/>
              <a:ext cx="34560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w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83" name="Text Box 12"/>
            <p:cNvSpPr/>
            <p:nvPr/>
          </p:nvSpPr>
          <p:spPr>
            <a:xfrm>
              <a:off x="5478840" y="4745160"/>
              <a:ext cx="3304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84" name="Text Box 13"/>
            <p:cNvSpPr/>
            <p:nvPr/>
          </p:nvSpPr>
          <p:spPr>
            <a:xfrm>
              <a:off x="5469120" y="5392800"/>
              <a:ext cx="3304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2000" b="0" strike="noStrike" spc="-1">
                <a:latin typeface="Arial"/>
              </a:endParaRPr>
            </a:p>
          </p:txBody>
        </p:sp>
      </p:grpSp>
      <p:sp>
        <p:nvSpPr>
          <p:cNvPr id="985" name="Rectangle 16"/>
          <p:cNvSpPr/>
          <p:nvPr/>
        </p:nvSpPr>
        <p:spPr>
          <a:xfrm>
            <a:off x="4257720" y="4438800"/>
            <a:ext cx="4438440" cy="1590480"/>
          </a:xfrm>
          <a:prstGeom prst="rect">
            <a:avLst/>
          </a:prstGeom>
          <a:noFill/>
          <a:ln w="1905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2"/>
          <p:cNvSpPr>
            <a:spLocks noGrp="1"/>
          </p:cNvSpPr>
          <p:nvPr>
            <p:ph type="sldNum" idx="76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744E3D-B7F0-43F6-BE76-197362927661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31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>
                <a:solidFill>
                  <a:srgbClr val="3333CC"/>
                </a:solidFill>
                <a:uFillTx/>
                <a:latin typeface="Comic Sans MS"/>
              </a:rPr>
              <a:t>Beispiel: Distanz-Tabelle</a:t>
            </a:r>
            <a:endParaRPr lang="en-US" sz="36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869" name="Freeform 4"/>
          <p:cNvSpPr/>
          <p:nvPr/>
        </p:nvSpPr>
        <p:spPr>
          <a:xfrm>
            <a:off x="971640" y="1542960"/>
            <a:ext cx="2788920" cy="1825200"/>
          </a:xfrm>
          <a:custGeom>
            <a:avLst/>
            <a:gdLst/>
            <a:ahLst/>
            <a:cxnLst/>
            <a:rect l="l" t="t" r="r" b="b"/>
            <a:pathLst>
              <a:path w="1757" h="1150">
                <a:moveTo>
                  <a:pt x="108" y="402"/>
                </a:moveTo>
                <a:cubicBezTo>
                  <a:pt x="161" y="324"/>
                  <a:pt x="275" y="278"/>
                  <a:pt x="390" y="216"/>
                </a:cubicBezTo>
                <a:cubicBezTo>
                  <a:pt x="505" y="154"/>
                  <a:pt x="642" y="54"/>
                  <a:pt x="801" y="27"/>
                </a:cubicBezTo>
                <a:cubicBezTo>
                  <a:pt x="960" y="0"/>
                  <a:pt x="1208" y="35"/>
                  <a:pt x="1341" y="54"/>
                </a:cubicBezTo>
                <a:cubicBezTo>
                  <a:pt x="1474" y="73"/>
                  <a:pt x="1548" y="68"/>
                  <a:pt x="1602" y="141"/>
                </a:cubicBezTo>
                <a:cubicBezTo>
                  <a:pt x="1656" y="214"/>
                  <a:pt x="1658" y="339"/>
                  <a:pt x="1665" y="489"/>
                </a:cubicBezTo>
                <a:cubicBezTo>
                  <a:pt x="1672" y="639"/>
                  <a:pt x="1757" y="938"/>
                  <a:pt x="1644" y="1044"/>
                </a:cubicBezTo>
                <a:cubicBezTo>
                  <a:pt x="1531" y="1150"/>
                  <a:pt x="1168" y="1121"/>
                  <a:pt x="984" y="1125"/>
                </a:cubicBezTo>
                <a:cubicBezTo>
                  <a:pt x="800" y="1129"/>
                  <a:pt x="692" y="1141"/>
                  <a:pt x="540" y="1068"/>
                </a:cubicBezTo>
                <a:cubicBezTo>
                  <a:pt x="388" y="995"/>
                  <a:pt x="144" y="795"/>
                  <a:pt x="72" y="684"/>
                </a:cubicBezTo>
                <a:cubicBezTo>
                  <a:pt x="0" y="573"/>
                  <a:pt x="55" y="480"/>
                  <a:pt x="108" y="402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0" name="Freeform 5"/>
          <p:cNvSpPr/>
          <p:nvPr/>
        </p:nvSpPr>
        <p:spPr>
          <a:xfrm>
            <a:off x="1533600" y="2038320"/>
            <a:ext cx="542520" cy="294840"/>
          </a:xfrm>
          <a:custGeom>
            <a:avLst/>
            <a:gdLst/>
            <a:ahLst/>
            <a:cxnLst/>
            <a:rect l="l" t="t" r="r" b="b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1" name="Oval 6"/>
          <p:cNvSpPr/>
          <p:nvPr/>
        </p:nvSpPr>
        <p:spPr>
          <a:xfrm>
            <a:off x="1120680" y="2422440"/>
            <a:ext cx="496440" cy="12816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2" name="Line 7"/>
          <p:cNvSpPr/>
          <p:nvPr/>
        </p:nvSpPr>
        <p:spPr>
          <a:xfrm>
            <a:off x="1120680" y="2411280"/>
            <a:ext cx="144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3" name="Line 8"/>
          <p:cNvSpPr/>
          <p:nvPr/>
        </p:nvSpPr>
        <p:spPr>
          <a:xfrm>
            <a:off x="1617480" y="2411280"/>
            <a:ext cx="144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4" name="Rectangle 9"/>
          <p:cNvSpPr/>
          <p:nvPr/>
        </p:nvSpPr>
        <p:spPr>
          <a:xfrm>
            <a:off x="1120680" y="2411280"/>
            <a:ext cx="491760" cy="77400"/>
          </a:xfrm>
          <a:prstGeom prst="rect">
            <a:avLst/>
          </a:prstGeom>
          <a:solidFill>
            <a:schemeClr val="hlink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5" name="Oval 10"/>
          <p:cNvSpPr/>
          <p:nvPr/>
        </p:nvSpPr>
        <p:spPr>
          <a:xfrm>
            <a:off x="1116000" y="2317680"/>
            <a:ext cx="496440" cy="15048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6" name="Oval 16"/>
          <p:cNvSpPr/>
          <p:nvPr/>
        </p:nvSpPr>
        <p:spPr>
          <a:xfrm>
            <a:off x="1866960" y="1941480"/>
            <a:ext cx="496440" cy="12816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7" name="Line 17"/>
          <p:cNvSpPr/>
          <p:nvPr/>
        </p:nvSpPr>
        <p:spPr>
          <a:xfrm>
            <a:off x="1866600" y="1930320"/>
            <a:ext cx="180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8" name="Line 18"/>
          <p:cNvSpPr/>
          <p:nvPr/>
        </p:nvSpPr>
        <p:spPr>
          <a:xfrm>
            <a:off x="2363760" y="1930320"/>
            <a:ext cx="1440" cy="7920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79" name="Rectangle 19"/>
          <p:cNvSpPr/>
          <p:nvPr/>
        </p:nvSpPr>
        <p:spPr>
          <a:xfrm>
            <a:off x="1866960" y="1930320"/>
            <a:ext cx="491760" cy="77400"/>
          </a:xfrm>
          <a:prstGeom prst="rect">
            <a:avLst/>
          </a:prstGeom>
          <a:solidFill>
            <a:schemeClr val="hlink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0" name="Oval 20"/>
          <p:cNvSpPr/>
          <p:nvPr/>
        </p:nvSpPr>
        <p:spPr>
          <a:xfrm>
            <a:off x="1862280" y="1836720"/>
            <a:ext cx="496440" cy="15048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1" name="Oval 21"/>
          <p:cNvSpPr/>
          <p:nvPr/>
        </p:nvSpPr>
        <p:spPr>
          <a:xfrm>
            <a:off x="2951280" y="1935000"/>
            <a:ext cx="495000" cy="12816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2" name="Line 22"/>
          <p:cNvSpPr/>
          <p:nvPr/>
        </p:nvSpPr>
        <p:spPr>
          <a:xfrm>
            <a:off x="2950920" y="1923840"/>
            <a:ext cx="1800" cy="795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3" name="Line 23"/>
          <p:cNvSpPr/>
          <p:nvPr/>
        </p:nvSpPr>
        <p:spPr>
          <a:xfrm>
            <a:off x="3446280" y="1923840"/>
            <a:ext cx="1440" cy="795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4" name="Rectangle 24"/>
          <p:cNvSpPr/>
          <p:nvPr/>
        </p:nvSpPr>
        <p:spPr>
          <a:xfrm>
            <a:off x="2951280" y="1924200"/>
            <a:ext cx="490320" cy="77400"/>
          </a:xfrm>
          <a:prstGeom prst="rect">
            <a:avLst/>
          </a:prstGeom>
          <a:solidFill>
            <a:schemeClr val="hlink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5" name="Oval 25"/>
          <p:cNvSpPr/>
          <p:nvPr/>
        </p:nvSpPr>
        <p:spPr>
          <a:xfrm>
            <a:off x="2955960" y="1835280"/>
            <a:ext cx="495000" cy="15048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6" name="Freeform 36"/>
          <p:cNvSpPr/>
          <p:nvPr/>
        </p:nvSpPr>
        <p:spPr>
          <a:xfrm>
            <a:off x="3214800" y="2081160"/>
            <a:ext cx="74160" cy="861480"/>
          </a:xfrm>
          <a:custGeom>
            <a:avLst/>
            <a:gdLst/>
            <a:ahLst/>
            <a:cxnLst/>
            <a:rect l="l" t="t" r="r" b="b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7" name="Freeform 37"/>
          <p:cNvSpPr/>
          <p:nvPr/>
        </p:nvSpPr>
        <p:spPr>
          <a:xfrm>
            <a:off x="2114640" y="2090880"/>
            <a:ext cx="1080" cy="852120"/>
          </a:xfrm>
          <a:custGeom>
            <a:avLst/>
            <a:gdLst/>
            <a:ahLst/>
            <a:cxnLst/>
            <a:rect l="l" t="t" r="r" b="b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8" name="Freeform 40"/>
          <p:cNvSpPr/>
          <p:nvPr/>
        </p:nvSpPr>
        <p:spPr>
          <a:xfrm>
            <a:off x="2386080" y="3067200"/>
            <a:ext cx="580680" cy="1080"/>
          </a:xfrm>
          <a:custGeom>
            <a:avLst/>
            <a:gdLst/>
            <a:ahLst/>
            <a:cxnLst/>
            <a:rect l="l" t="t" r="r" b="b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89" name="Freeform 41"/>
          <p:cNvSpPr/>
          <p:nvPr/>
        </p:nvSpPr>
        <p:spPr>
          <a:xfrm>
            <a:off x="1447920" y="2552760"/>
            <a:ext cx="437760" cy="418680"/>
          </a:xfrm>
          <a:custGeom>
            <a:avLst/>
            <a:gdLst/>
            <a:ahLst/>
            <a:cxnLst/>
            <a:rect l="l" t="t" r="r" b="b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890" name="Freeform 42"/>
          <p:cNvSpPr/>
          <p:nvPr/>
        </p:nvSpPr>
        <p:spPr>
          <a:xfrm>
            <a:off x="2376360" y="1971720"/>
            <a:ext cx="580680" cy="1080"/>
          </a:xfrm>
          <a:custGeom>
            <a:avLst/>
            <a:gdLst/>
            <a:ahLst/>
            <a:cxnLst/>
            <a:rect l="l" t="t" r="r" b="b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grpSp>
        <p:nvGrpSpPr>
          <p:cNvPr id="891" name="Group 45"/>
          <p:cNvGrpSpPr/>
          <p:nvPr/>
        </p:nvGrpSpPr>
        <p:grpSpPr>
          <a:xfrm>
            <a:off x="1191240" y="2241720"/>
            <a:ext cx="339480" cy="394560"/>
            <a:chOff x="1191240" y="2241720"/>
            <a:chExt cx="339480" cy="394560"/>
          </a:xfrm>
        </p:grpSpPr>
        <p:sp>
          <p:nvSpPr>
            <p:cNvPr id="892" name="Rectangle 46"/>
            <p:cNvSpPr/>
            <p:nvPr/>
          </p:nvSpPr>
          <p:spPr>
            <a:xfrm>
              <a:off x="1242000" y="2338560"/>
              <a:ext cx="225360" cy="20916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893" name="Text Box 47"/>
            <p:cNvSpPr/>
            <p:nvPr/>
          </p:nvSpPr>
          <p:spPr>
            <a:xfrm>
              <a:off x="1191240" y="2241720"/>
              <a:ext cx="3394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Comic Sans MS"/>
                </a:rPr>
                <a:t>A</a:t>
              </a:r>
              <a:endParaRPr lang="de-DE" sz="2000" b="0" strike="noStrike" spc="-1">
                <a:latin typeface="Arial"/>
              </a:endParaRPr>
            </a:p>
          </p:txBody>
        </p:sp>
      </p:grpSp>
      <p:grpSp>
        <p:nvGrpSpPr>
          <p:cNvPr id="894" name="Group 74"/>
          <p:cNvGrpSpPr/>
          <p:nvPr/>
        </p:nvGrpSpPr>
        <p:grpSpPr>
          <a:xfrm>
            <a:off x="1876320" y="2832120"/>
            <a:ext cx="501840" cy="394560"/>
            <a:chOff x="1876320" y="2832120"/>
            <a:chExt cx="501840" cy="394560"/>
          </a:xfrm>
        </p:grpSpPr>
        <p:sp>
          <p:nvSpPr>
            <p:cNvPr id="895" name="Oval 26"/>
            <p:cNvSpPr/>
            <p:nvPr/>
          </p:nvSpPr>
          <p:spPr>
            <a:xfrm>
              <a:off x="1881360" y="3013200"/>
              <a:ext cx="496440" cy="12816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896" name="Line 27"/>
            <p:cNvSpPr/>
            <p:nvPr/>
          </p:nvSpPr>
          <p:spPr>
            <a:xfrm>
              <a:off x="1881000" y="30016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897" name="Line 28"/>
            <p:cNvSpPr/>
            <p:nvPr/>
          </p:nvSpPr>
          <p:spPr>
            <a:xfrm>
              <a:off x="2377800" y="300168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898" name="Rectangle 29"/>
            <p:cNvSpPr/>
            <p:nvPr/>
          </p:nvSpPr>
          <p:spPr>
            <a:xfrm>
              <a:off x="1881360" y="3002040"/>
              <a:ext cx="491760" cy="77400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899" name="Oval 30"/>
            <p:cNvSpPr/>
            <p:nvPr/>
          </p:nvSpPr>
          <p:spPr>
            <a:xfrm>
              <a:off x="1876320" y="2908440"/>
              <a:ext cx="496440" cy="15048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900" name="Group 48"/>
            <p:cNvGrpSpPr/>
            <p:nvPr/>
          </p:nvGrpSpPr>
          <p:grpSpPr>
            <a:xfrm>
              <a:off x="1962000" y="2832120"/>
              <a:ext cx="339480" cy="394560"/>
              <a:chOff x="1962000" y="2832120"/>
              <a:chExt cx="339480" cy="394560"/>
            </a:xfrm>
          </p:grpSpPr>
          <p:sp>
            <p:nvSpPr>
              <p:cNvPr id="901" name="Rectangle 49"/>
              <p:cNvSpPr/>
              <p:nvPr/>
            </p:nvSpPr>
            <p:spPr>
              <a:xfrm>
                <a:off x="2013840" y="2928960"/>
                <a:ext cx="225000" cy="20916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902" name="Text Box 50"/>
              <p:cNvSpPr/>
              <p:nvPr/>
            </p:nvSpPr>
            <p:spPr>
              <a:xfrm>
                <a:off x="1962000" y="2832120"/>
                <a:ext cx="33948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000" b="0" strike="noStrike" spc="-1">
                    <a:solidFill>
                      <a:srgbClr val="000000"/>
                    </a:solidFill>
                    <a:latin typeface="Comic Sans MS"/>
                  </a:rPr>
                  <a:t>E</a:t>
                </a:r>
                <a:endParaRPr lang="de-DE" sz="2000" b="0" strike="noStrike" spc="-1">
                  <a:latin typeface="Arial"/>
                </a:endParaRPr>
              </a:p>
            </p:txBody>
          </p:sp>
        </p:grpSp>
      </p:grpSp>
      <p:grpSp>
        <p:nvGrpSpPr>
          <p:cNvPr id="903" name="Group 73"/>
          <p:cNvGrpSpPr/>
          <p:nvPr/>
        </p:nvGrpSpPr>
        <p:grpSpPr>
          <a:xfrm>
            <a:off x="2973240" y="2865600"/>
            <a:ext cx="501840" cy="394560"/>
            <a:chOff x="2973240" y="2865600"/>
            <a:chExt cx="501840" cy="394560"/>
          </a:xfrm>
        </p:grpSpPr>
        <p:sp>
          <p:nvSpPr>
            <p:cNvPr id="904" name="Oval 11"/>
            <p:cNvSpPr/>
            <p:nvPr/>
          </p:nvSpPr>
          <p:spPr>
            <a:xfrm>
              <a:off x="2978280" y="3056040"/>
              <a:ext cx="496440" cy="12816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05" name="Line 12"/>
            <p:cNvSpPr/>
            <p:nvPr/>
          </p:nvSpPr>
          <p:spPr>
            <a:xfrm>
              <a:off x="2977920" y="30445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06" name="Line 13"/>
            <p:cNvSpPr/>
            <p:nvPr/>
          </p:nvSpPr>
          <p:spPr>
            <a:xfrm>
              <a:off x="3474720" y="3044520"/>
              <a:ext cx="360" cy="795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07" name="Rectangle 14"/>
            <p:cNvSpPr/>
            <p:nvPr/>
          </p:nvSpPr>
          <p:spPr>
            <a:xfrm>
              <a:off x="2978280" y="3044880"/>
              <a:ext cx="491760" cy="77400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08" name="Oval 15"/>
            <p:cNvSpPr/>
            <p:nvPr/>
          </p:nvSpPr>
          <p:spPr>
            <a:xfrm>
              <a:off x="2973240" y="2951280"/>
              <a:ext cx="496440" cy="150480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grpSp>
          <p:nvGrpSpPr>
            <p:cNvPr id="909" name="Group 51"/>
            <p:cNvGrpSpPr/>
            <p:nvPr/>
          </p:nvGrpSpPr>
          <p:grpSpPr>
            <a:xfrm>
              <a:off x="3062880" y="2865600"/>
              <a:ext cx="359280" cy="394560"/>
              <a:chOff x="3062880" y="2865600"/>
              <a:chExt cx="359280" cy="394560"/>
            </a:xfrm>
          </p:grpSpPr>
          <p:sp>
            <p:nvSpPr>
              <p:cNvPr id="910" name="Rectangle 52"/>
              <p:cNvSpPr/>
              <p:nvPr/>
            </p:nvSpPr>
            <p:spPr>
              <a:xfrm>
                <a:off x="3123360" y="2962440"/>
                <a:ext cx="225360" cy="209160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911" name="Text Box 53"/>
              <p:cNvSpPr/>
              <p:nvPr/>
            </p:nvSpPr>
            <p:spPr>
              <a:xfrm>
                <a:off x="3062880" y="2865600"/>
                <a:ext cx="35928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000" b="0" strike="noStrike" spc="-1">
                    <a:solidFill>
                      <a:srgbClr val="000000"/>
                    </a:solidFill>
                    <a:latin typeface="Comic Sans MS"/>
                  </a:rPr>
                  <a:t>D</a:t>
                </a:r>
                <a:endParaRPr lang="de-DE" sz="2000" b="0" strike="noStrike" spc="-1">
                  <a:latin typeface="Arial"/>
                </a:endParaRPr>
              </a:p>
            </p:txBody>
          </p:sp>
        </p:grpSp>
      </p:grpSp>
      <p:grpSp>
        <p:nvGrpSpPr>
          <p:cNvPr id="912" name="Group 54"/>
          <p:cNvGrpSpPr/>
          <p:nvPr/>
        </p:nvGrpSpPr>
        <p:grpSpPr>
          <a:xfrm>
            <a:off x="3051360" y="1755720"/>
            <a:ext cx="313560" cy="394560"/>
            <a:chOff x="3051360" y="1755720"/>
            <a:chExt cx="313560" cy="394560"/>
          </a:xfrm>
        </p:grpSpPr>
        <p:sp>
          <p:nvSpPr>
            <p:cNvPr id="913" name="Rectangle 55"/>
            <p:cNvSpPr/>
            <p:nvPr/>
          </p:nvSpPr>
          <p:spPr>
            <a:xfrm>
              <a:off x="3090240" y="1852560"/>
              <a:ext cx="225000" cy="20916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14" name="Text Box 56"/>
            <p:cNvSpPr/>
            <p:nvPr/>
          </p:nvSpPr>
          <p:spPr>
            <a:xfrm>
              <a:off x="3051360" y="1755720"/>
              <a:ext cx="31356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Comic Sans MS"/>
                </a:rPr>
                <a:t>C</a:t>
              </a:r>
              <a:endParaRPr lang="de-DE" sz="2000" b="0" strike="noStrike" spc="-1">
                <a:latin typeface="Arial"/>
              </a:endParaRPr>
            </a:p>
          </p:txBody>
        </p:sp>
      </p:grpSp>
      <p:grpSp>
        <p:nvGrpSpPr>
          <p:cNvPr id="915" name="Group 57"/>
          <p:cNvGrpSpPr/>
          <p:nvPr/>
        </p:nvGrpSpPr>
        <p:grpSpPr>
          <a:xfrm>
            <a:off x="1956600" y="1755720"/>
            <a:ext cx="333360" cy="394560"/>
            <a:chOff x="1956600" y="1755720"/>
            <a:chExt cx="333360" cy="394560"/>
          </a:xfrm>
        </p:grpSpPr>
        <p:sp>
          <p:nvSpPr>
            <p:cNvPr id="916" name="Rectangle 58"/>
            <p:cNvSpPr/>
            <p:nvPr/>
          </p:nvSpPr>
          <p:spPr>
            <a:xfrm>
              <a:off x="2004120" y="1852560"/>
              <a:ext cx="225000" cy="209160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17" name="Text Box 59"/>
            <p:cNvSpPr/>
            <p:nvPr/>
          </p:nvSpPr>
          <p:spPr>
            <a:xfrm>
              <a:off x="1956600" y="1755720"/>
              <a:ext cx="33336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Comic Sans MS"/>
                </a:rPr>
                <a:t>B</a:t>
              </a:r>
              <a:endParaRPr lang="de-DE" sz="2000" b="0" strike="noStrike" spc="-1">
                <a:latin typeface="Arial"/>
              </a:endParaRPr>
            </a:p>
          </p:txBody>
        </p:sp>
      </p:grpSp>
      <p:sp>
        <p:nvSpPr>
          <p:cNvPr id="918" name="Text Box 63"/>
          <p:cNvSpPr/>
          <p:nvPr/>
        </p:nvSpPr>
        <p:spPr>
          <a:xfrm>
            <a:off x="1540080" y="1960560"/>
            <a:ext cx="281520" cy="3639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7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19" name="Text Box 64"/>
          <p:cNvSpPr/>
          <p:nvPr/>
        </p:nvSpPr>
        <p:spPr>
          <a:xfrm>
            <a:off x="2092680" y="2308320"/>
            <a:ext cx="281520" cy="3639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8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20" name="Text Box 65"/>
          <p:cNvSpPr/>
          <p:nvPr/>
        </p:nvSpPr>
        <p:spPr>
          <a:xfrm>
            <a:off x="1401120" y="2646360"/>
            <a:ext cx="281520" cy="3639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1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21" name="Text Box 67"/>
          <p:cNvSpPr/>
          <p:nvPr/>
        </p:nvSpPr>
        <p:spPr>
          <a:xfrm>
            <a:off x="2602080" y="3017880"/>
            <a:ext cx="281520" cy="3639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2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22" name="Text Box 71"/>
          <p:cNvSpPr/>
          <p:nvPr/>
        </p:nvSpPr>
        <p:spPr>
          <a:xfrm>
            <a:off x="2534760" y="1665360"/>
            <a:ext cx="281520" cy="3639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1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23" name="Text Box 75"/>
          <p:cNvSpPr/>
          <p:nvPr/>
        </p:nvSpPr>
        <p:spPr>
          <a:xfrm>
            <a:off x="3249720" y="2298600"/>
            <a:ext cx="281520" cy="3639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2</a:t>
            </a:r>
            <a:endParaRPr lang="de-DE" sz="1800" b="0" strike="noStrike" spc="-1">
              <a:latin typeface="Arial"/>
            </a:endParaRPr>
          </a:p>
        </p:txBody>
      </p:sp>
      <p:grpSp>
        <p:nvGrpSpPr>
          <p:cNvPr id="924" name="Group 90"/>
          <p:cNvGrpSpPr/>
          <p:nvPr/>
        </p:nvGrpSpPr>
        <p:grpSpPr>
          <a:xfrm>
            <a:off x="5312160" y="1414440"/>
            <a:ext cx="3021840" cy="3862080"/>
            <a:chOff x="5312160" y="1414440"/>
            <a:chExt cx="3021840" cy="3862080"/>
          </a:xfrm>
        </p:grpSpPr>
        <p:sp>
          <p:nvSpPr>
            <p:cNvPr id="925" name="Text Box 77"/>
            <p:cNvSpPr/>
            <p:nvPr/>
          </p:nvSpPr>
          <p:spPr>
            <a:xfrm>
              <a:off x="5565600" y="1859040"/>
              <a:ext cx="775440" cy="3381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D  ()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A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B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C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D</a:t>
              </a:r>
              <a:endParaRPr lang="de-DE" sz="2400" b="0" strike="noStrike" spc="-1">
                <a:latin typeface="Arial"/>
              </a:endParaRPr>
            </a:p>
          </p:txBody>
        </p:sp>
        <p:sp>
          <p:nvSpPr>
            <p:cNvPr id="926" name="Text Box 78"/>
            <p:cNvSpPr/>
            <p:nvPr/>
          </p:nvSpPr>
          <p:spPr>
            <a:xfrm>
              <a:off x="6508440" y="1868400"/>
              <a:ext cx="383760" cy="3381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A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1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7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6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4</a:t>
              </a:r>
              <a:endParaRPr lang="de-DE" sz="2400" b="0" strike="noStrike" spc="-1">
                <a:latin typeface="Arial"/>
              </a:endParaRPr>
            </a:p>
          </p:txBody>
        </p:sp>
        <p:sp>
          <p:nvSpPr>
            <p:cNvPr id="927" name="Text Box 79"/>
            <p:cNvSpPr/>
            <p:nvPr/>
          </p:nvSpPr>
          <p:spPr>
            <a:xfrm>
              <a:off x="7096320" y="1878120"/>
              <a:ext cx="519480" cy="3381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B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14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8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9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11</a:t>
              </a:r>
              <a:endParaRPr lang="de-DE" sz="2400" b="0" strike="noStrike" spc="-1">
                <a:latin typeface="Arial"/>
              </a:endParaRPr>
            </a:p>
          </p:txBody>
        </p:sp>
        <p:sp>
          <p:nvSpPr>
            <p:cNvPr id="928" name="Text Box 80"/>
            <p:cNvSpPr/>
            <p:nvPr/>
          </p:nvSpPr>
          <p:spPr>
            <a:xfrm>
              <a:off x="7882200" y="1887480"/>
              <a:ext cx="400680" cy="338148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D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5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5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4</a:t>
              </a: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endParaRPr lang="de-DE" sz="2400" b="0" strike="noStrike" spc="-1">
                <a:latin typeface="Arial"/>
              </a:endParaRPr>
            </a:p>
            <a:p>
              <a:pPr algn="r">
                <a:lnSpc>
                  <a:spcPct val="100000"/>
                </a:lnSpc>
                <a:buNone/>
              </a:pPr>
              <a:r>
                <a:rPr lang="en-US" sz="2400" b="0" strike="noStrike" spc="-1">
                  <a:solidFill>
                    <a:srgbClr val="000000"/>
                  </a:solidFill>
                  <a:latin typeface="Arial"/>
                </a:rPr>
                <a:t>2</a:t>
              </a:r>
              <a:endParaRPr lang="de-DE" sz="2400" b="0" strike="noStrike" spc="-1">
                <a:latin typeface="Arial"/>
              </a:endParaRPr>
            </a:p>
          </p:txBody>
        </p:sp>
        <p:sp>
          <p:nvSpPr>
            <p:cNvPr id="929" name="Line 81"/>
            <p:cNvSpPr/>
            <p:nvPr/>
          </p:nvSpPr>
          <p:spPr>
            <a:xfrm>
              <a:off x="5771880" y="2409480"/>
              <a:ext cx="2514600" cy="9720"/>
            </a:xfrm>
            <a:prstGeom prst="line">
              <a:avLst/>
            </a:prstGeom>
            <a:ln w="19050">
              <a:solidFill>
                <a:srgbClr val="3333C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30" name="Line 82"/>
            <p:cNvSpPr/>
            <p:nvPr/>
          </p:nvSpPr>
          <p:spPr>
            <a:xfrm>
              <a:off x="6438600" y="2066760"/>
              <a:ext cx="360" cy="3133800"/>
            </a:xfrm>
            <a:prstGeom prst="line">
              <a:avLst/>
            </a:prstGeom>
            <a:ln w="19050">
              <a:solidFill>
                <a:srgbClr val="3333C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31" name="Oval 83"/>
            <p:cNvSpPr/>
            <p:nvPr/>
          </p:nvSpPr>
          <p:spPr>
            <a:xfrm>
              <a:off x="6486480" y="2619360"/>
              <a:ext cx="456840" cy="4474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32" name="Oval 84"/>
            <p:cNvSpPr/>
            <p:nvPr/>
          </p:nvSpPr>
          <p:spPr>
            <a:xfrm>
              <a:off x="7858080" y="3371760"/>
              <a:ext cx="456840" cy="4474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33" name="Oval 85"/>
            <p:cNvSpPr/>
            <p:nvPr/>
          </p:nvSpPr>
          <p:spPr>
            <a:xfrm>
              <a:off x="7877160" y="4095720"/>
              <a:ext cx="456840" cy="4474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34" name="Oval 86"/>
            <p:cNvSpPr/>
            <p:nvPr/>
          </p:nvSpPr>
          <p:spPr>
            <a:xfrm>
              <a:off x="7877160" y="4829040"/>
              <a:ext cx="456840" cy="4474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35" name="Text Box 87"/>
            <p:cNvSpPr/>
            <p:nvPr/>
          </p:nvSpPr>
          <p:spPr>
            <a:xfrm>
              <a:off x="5778360" y="1741320"/>
              <a:ext cx="33336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r"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E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36" name="Text Box 88"/>
            <p:cNvSpPr/>
            <p:nvPr/>
          </p:nvSpPr>
          <p:spPr>
            <a:xfrm>
              <a:off x="6270840" y="1414440"/>
              <a:ext cx="191844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r"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3333CC"/>
                  </a:solidFill>
                  <a:latin typeface="Comic Sans MS"/>
                </a:rPr>
                <a:t>Kosten zum Ziel über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37" name="Text Box 89"/>
            <p:cNvSpPr/>
            <p:nvPr/>
          </p:nvSpPr>
          <p:spPr>
            <a:xfrm rot="16233600">
              <a:off x="5239080" y="3492000"/>
              <a:ext cx="51444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r"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3333CC"/>
                  </a:solidFill>
                  <a:latin typeface="Comic Sans MS"/>
                </a:rPr>
                <a:t>Ziel</a:t>
              </a:r>
              <a:endParaRPr lang="de-DE" sz="1800" b="0" strike="noStrike" spc="-1">
                <a:latin typeface="Arial"/>
              </a:endParaRPr>
            </a:p>
          </p:txBody>
        </p:sp>
      </p:grpSp>
      <p:grpSp>
        <p:nvGrpSpPr>
          <p:cNvPr id="938" name="Group 105"/>
          <p:cNvGrpSpPr/>
          <p:nvPr/>
        </p:nvGrpSpPr>
        <p:grpSpPr>
          <a:xfrm>
            <a:off x="588960" y="3525840"/>
            <a:ext cx="4303080" cy="1004040"/>
            <a:chOff x="588960" y="3525840"/>
            <a:chExt cx="4303080" cy="1004040"/>
          </a:xfrm>
        </p:grpSpPr>
        <p:grpSp>
          <p:nvGrpSpPr>
            <p:cNvPr id="939" name="Group 104"/>
            <p:cNvGrpSpPr/>
            <p:nvPr/>
          </p:nvGrpSpPr>
          <p:grpSpPr>
            <a:xfrm>
              <a:off x="588960" y="3525840"/>
              <a:ext cx="1214280" cy="655560"/>
              <a:chOff x="588960" y="3525840"/>
              <a:chExt cx="1214280" cy="655560"/>
            </a:xfrm>
          </p:grpSpPr>
          <p:sp>
            <p:nvSpPr>
              <p:cNvPr id="940" name="Text Box 94"/>
              <p:cNvSpPr/>
              <p:nvPr/>
            </p:nvSpPr>
            <p:spPr>
              <a:xfrm>
                <a:off x="588960" y="3726000"/>
                <a:ext cx="1214280" cy="45540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400" b="0" strike="noStrike" spc="-1">
                    <a:solidFill>
                      <a:srgbClr val="000000"/>
                    </a:solidFill>
                    <a:latin typeface="Arial"/>
                  </a:rPr>
                  <a:t>D (C,D)</a:t>
                </a:r>
                <a:endParaRPr lang="de-DE" sz="2400" b="0" strike="noStrike" spc="-1">
                  <a:latin typeface="Arial"/>
                </a:endParaRPr>
              </a:p>
            </p:txBody>
          </p:sp>
          <p:sp>
            <p:nvSpPr>
              <p:cNvPr id="941" name="Text Box 95"/>
              <p:cNvSpPr/>
              <p:nvPr/>
            </p:nvSpPr>
            <p:spPr>
              <a:xfrm>
                <a:off x="785520" y="3525840"/>
                <a:ext cx="35028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000" b="0" strike="noStrike" spc="-1">
                    <a:solidFill>
                      <a:srgbClr val="000000"/>
                    </a:solidFill>
                    <a:latin typeface="Arial"/>
                  </a:rPr>
                  <a:t>E</a:t>
                </a:r>
                <a:endParaRPr lang="de-DE" sz="2000" b="0" strike="noStrike" spc="-1">
                  <a:latin typeface="Arial"/>
                </a:endParaRPr>
              </a:p>
            </p:txBody>
          </p:sp>
        </p:grpSp>
        <p:sp>
          <p:nvSpPr>
            <p:cNvPr id="942" name="Text Box 97"/>
            <p:cNvSpPr/>
            <p:nvPr/>
          </p:nvSpPr>
          <p:spPr>
            <a:xfrm>
              <a:off x="2045520" y="3754440"/>
              <a:ext cx="284652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c(E,D) + min  {D  (C,w)}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43" name="Text Box 98"/>
            <p:cNvSpPr/>
            <p:nvPr/>
          </p:nvSpPr>
          <p:spPr>
            <a:xfrm>
              <a:off x="3879720" y="3618000"/>
              <a:ext cx="34560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D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44" name="Text Box 99"/>
            <p:cNvSpPr/>
            <p:nvPr/>
          </p:nvSpPr>
          <p:spPr>
            <a:xfrm>
              <a:off x="3422520" y="3932280"/>
              <a:ext cx="34560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w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45" name="Text Box 101"/>
            <p:cNvSpPr/>
            <p:nvPr/>
          </p:nvSpPr>
          <p:spPr>
            <a:xfrm>
              <a:off x="1744920" y="3792600"/>
              <a:ext cx="3304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46" name="Text Box 102"/>
            <p:cNvSpPr/>
            <p:nvPr/>
          </p:nvSpPr>
          <p:spPr>
            <a:xfrm>
              <a:off x="1744920" y="4125960"/>
              <a:ext cx="3304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47" name="Text Box 103"/>
            <p:cNvSpPr/>
            <p:nvPr/>
          </p:nvSpPr>
          <p:spPr>
            <a:xfrm>
              <a:off x="2039040" y="4135320"/>
              <a:ext cx="111384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2+2  = 4</a:t>
              </a:r>
              <a:endParaRPr lang="de-DE" sz="2000" b="0" strike="noStrike" spc="-1">
                <a:latin typeface="Arial"/>
              </a:endParaRPr>
            </a:p>
          </p:txBody>
        </p:sp>
      </p:grpSp>
      <p:grpSp>
        <p:nvGrpSpPr>
          <p:cNvPr id="948" name="Group 106"/>
          <p:cNvGrpSpPr/>
          <p:nvPr/>
        </p:nvGrpSpPr>
        <p:grpSpPr>
          <a:xfrm>
            <a:off x="605880" y="4392720"/>
            <a:ext cx="4280760" cy="1004040"/>
            <a:chOff x="605880" y="4392720"/>
            <a:chExt cx="4280760" cy="1004040"/>
          </a:xfrm>
        </p:grpSpPr>
        <p:grpSp>
          <p:nvGrpSpPr>
            <p:cNvPr id="949" name="Group 107"/>
            <p:cNvGrpSpPr/>
            <p:nvPr/>
          </p:nvGrpSpPr>
          <p:grpSpPr>
            <a:xfrm>
              <a:off x="605880" y="4392720"/>
              <a:ext cx="1197720" cy="655200"/>
              <a:chOff x="605880" y="4392720"/>
              <a:chExt cx="1197720" cy="655200"/>
            </a:xfrm>
          </p:grpSpPr>
          <p:sp>
            <p:nvSpPr>
              <p:cNvPr id="950" name="Text Box 108"/>
              <p:cNvSpPr/>
              <p:nvPr/>
            </p:nvSpPr>
            <p:spPr>
              <a:xfrm>
                <a:off x="605880" y="4592520"/>
                <a:ext cx="1197720" cy="45540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400" b="0" strike="noStrike" spc="-1">
                    <a:solidFill>
                      <a:srgbClr val="000000"/>
                    </a:solidFill>
                    <a:latin typeface="Arial"/>
                  </a:rPr>
                  <a:t>D (A,D)</a:t>
                </a:r>
                <a:endParaRPr lang="de-DE" sz="2400" b="0" strike="noStrike" spc="-1">
                  <a:latin typeface="Arial"/>
                </a:endParaRPr>
              </a:p>
            </p:txBody>
          </p:sp>
          <p:sp>
            <p:nvSpPr>
              <p:cNvPr id="951" name="Text Box 109"/>
              <p:cNvSpPr/>
              <p:nvPr/>
            </p:nvSpPr>
            <p:spPr>
              <a:xfrm>
                <a:off x="795240" y="4392720"/>
                <a:ext cx="35028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000" b="0" strike="noStrike" spc="-1">
                    <a:solidFill>
                      <a:srgbClr val="000000"/>
                    </a:solidFill>
                    <a:latin typeface="Arial"/>
                  </a:rPr>
                  <a:t>E</a:t>
                </a:r>
                <a:endParaRPr lang="de-DE" sz="2000" b="0" strike="noStrike" spc="-1">
                  <a:latin typeface="Arial"/>
                </a:endParaRPr>
              </a:p>
            </p:txBody>
          </p:sp>
        </p:grpSp>
        <p:sp>
          <p:nvSpPr>
            <p:cNvPr id="952" name="Text Box 110"/>
            <p:cNvSpPr/>
            <p:nvPr/>
          </p:nvSpPr>
          <p:spPr>
            <a:xfrm>
              <a:off x="2055240" y="4621320"/>
              <a:ext cx="283140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c(E,D) + min  {D  (A,w)}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53" name="Text Box 111"/>
            <p:cNvSpPr/>
            <p:nvPr/>
          </p:nvSpPr>
          <p:spPr>
            <a:xfrm>
              <a:off x="3889080" y="4484520"/>
              <a:ext cx="34560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D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54" name="Text Box 112"/>
            <p:cNvSpPr/>
            <p:nvPr/>
          </p:nvSpPr>
          <p:spPr>
            <a:xfrm>
              <a:off x="3431880" y="4799160"/>
              <a:ext cx="34560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w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55" name="Text Box 113"/>
            <p:cNvSpPr/>
            <p:nvPr/>
          </p:nvSpPr>
          <p:spPr>
            <a:xfrm>
              <a:off x="1754640" y="4659480"/>
              <a:ext cx="3304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56" name="Text Box 114"/>
            <p:cNvSpPr/>
            <p:nvPr/>
          </p:nvSpPr>
          <p:spPr>
            <a:xfrm>
              <a:off x="1754640" y="4992840"/>
              <a:ext cx="3304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57" name="Text Box 115"/>
            <p:cNvSpPr/>
            <p:nvPr/>
          </p:nvSpPr>
          <p:spPr>
            <a:xfrm>
              <a:off x="2048760" y="5002200"/>
              <a:ext cx="111384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2+3  = 5</a:t>
              </a:r>
              <a:endParaRPr lang="de-DE" sz="2000" b="0" strike="noStrike" spc="-1">
                <a:latin typeface="Arial"/>
              </a:endParaRPr>
            </a:p>
          </p:txBody>
        </p:sp>
      </p:grpSp>
      <p:grpSp>
        <p:nvGrpSpPr>
          <p:cNvPr id="958" name="Group 116"/>
          <p:cNvGrpSpPr/>
          <p:nvPr/>
        </p:nvGrpSpPr>
        <p:grpSpPr>
          <a:xfrm>
            <a:off x="623160" y="5278320"/>
            <a:ext cx="4258440" cy="1004400"/>
            <a:chOff x="623160" y="5278320"/>
            <a:chExt cx="4258440" cy="1004400"/>
          </a:xfrm>
        </p:grpSpPr>
        <p:grpSp>
          <p:nvGrpSpPr>
            <p:cNvPr id="959" name="Group 117"/>
            <p:cNvGrpSpPr/>
            <p:nvPr/>
          </p:nvGrpSpPr>
          <p:grpSpPr>
            <a:xfrm>
              <a:off x="623160" y="5278320"/>
              <a:ext cx="1180800" cy="655560"/>
              <a:chOff x="623160" y="5278320"/>
              <a:chExt cx="1180800" cy="655560"/>
            </a:xfrm>
          </p:grpSpPr>
          <p:sp>
            <p:nvSpPr>
              <p:cNvPr id="960" name="Text Box 118"/>
              <p:cNvSpPr/>
              <p:nvPr/>
            </p:nvSpPr>
            <p:spPr>
              <a:xfrm>
                <a:off x="623160" y="5478480"/>
                <a:ext cx="1180800" cy="45540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400" b="0" strike="noStrike" spc="-1">
                    <a:solidFill>
                      <a:srgbClr val="000000"/>
                    </a:solidFill>
                    <a:latin typeface="Arial"/>
                  </a:rPr>
                  <a:t>D (A,B)</a:t>
                </a:r>
                <a:endParaRPr lang="de-DE" sz="2400" b="0" strike="noStrike" spc="-1">
                  <a:latin typeface="Arial"/>
                </a:endParaRPr>
              </a:p>
            </p:txBody>
          </p:sp>
          <p:sp>
            <p:nvSpPr>
              <p:cNvPr id="961" name="Text Box 119"/>
              <p:cNvSpPr/>
              <p:nvPr/>
            </p:nvSpPr>
            <p:spPr>
              <a:xfrm>
                <a:off x="804600" y="5278320"/>
                <a:ext cx="350280" cy="3945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2000" b="0" strike="noStrike" spc="-1">
                    <a:solidFill>
                      <a:srgbClr val="000000"/>
                    </a:solidFill>
                    <a:latin typeface="Arial"/>
                  </a:rPr>
                  <a:t>E</a:t>
                </a:r>
                <a:endParaRPr lang="de-DE" sz="2000" b="0" strike="noStrike" spc="-1">
                  <a:latin typeface="Arial"/>
                </a:endParaRPr>
              </a:p>
            </p:txBody>
          </p:sp>
        </p:grpSp>
        <p:sp>
          <p:nvSpPr>
            <p:cNvPr id="962" name="Text Box 120"/>
            <p:cNvSpPr/>
            <p:nvPr/>
          </p:nvSpPr>
          <p:spPr>
            <a:xfrm>
              <a:off x="2065320" y="5506920"/>
              <a:ext cx="28162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c(E,B) + min  {D  (A,w)}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63" name="Text Box 121"/>
            <p:cNvSpPr/>
            <p:nvPr/>
          </p:nvSpPr>
          <p:spPr>
            <a:xfrm>
              <a:off x="3898800" y="5370480"/>
              <a:ext cx="33336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B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64" name="Text Box 122"/>
            <p:cNvSpPr/>
            <p:nvPr/>
          </p:nvSpPr>
          <p:spPr>
            <a:xfrm>
              <a:off x="3441600" y="5684760"/>
              <a:ext cx="34560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w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965" name="Text Box 123"/>
            <p:cNvSpPr/>
            <p:nvPr/>
          </p:nvSpPr>
          <p:spPr>
            <a:xfrm>
              <a:off x="1764000" y="5545080"/>
              <a:ext cx="3304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66" name="Text Box 124"/>
            <p:cNvSpPr/>
            <p:nvPr/>
          </p:nvSpPr>
          <p:spPr>
            <a:xfrm>
              <a:off x="1764000" y="5878440"/>
              <a:ext cx="3304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2000" b="0" strike="noStrike" spc="-1">
                <a:latin typeface="Arial"/>
              </a:endParaRPr>
            </a:p>
          </p:txBody>
        </p:sp>
        <p:sp>
          <p:nvSpPr>
            <p:cNvPr id="967" name="Text Box 125"/>
            <p:cNvSpPr/>
            <p:nvPr/>
          </p:nvSpPr>
          <p:spPr>
            <a:xfrm>
              <a:off x="2058120" y="5888160"/>
              <a:ext cx="1255680" cy="3945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8+6  = 14</a:t>
              </a:r>
              <a:endParaRPr lang="de-DE" sz="2000" b="0" strike="noStrike" spc="-1">
                <a:latin typeface="Arial"/>
              </a:endParaRPr>
            </a:p>
          </p:txBody>
        </p:sp>
      </p:grpSp>
      <p:sp>
        <p:nvSpPr>
          <p:cNvPr id="968" name="Text Box 127"/>
          <p:cNvSpPr/>
          <p:nvPr/>
        </p:nvSpPr>
        <p:spPr>
          <a:xfrm>
            <a:off x="3304800" y="5116680"/>
            <a:ext cx="856080" cy="3639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0000"/>
                </a:solidFill>
                <a:latin typeface="Comic Sans MS"/>
              </a:rPr>
              <a:t>Schleife!</a:t>
            </a:r>
            <a:endParaRPr lang="de-DE" sz="1800" b="0" strike="noStrike" spc="-1">
              <a:latin typeface="Arial"/>
            </a:endParaRPr>
          </a:p>
        </p:txBody>
      </p:sp>
      <p:sp>
        <p:nvSpPr>
          <p:cNvPr id="969" name="Text Box 128"/>
          <p:cNvSpPr/>
          <p:nvPr/>
        </p:nvSpPr>
        <p:spPr>
          <a:xfrm>
            <a:off x="3391920" y="6070680"/>
            <a:ext cx="856080" cy="3639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0000"/>
                </a:solidFill>
                <a:latin typeface="Comic Sans MS"/>
              </a:rPr>
              <a:t>Schleife!</a:t>
            </a:r>
            <a:endParaRPr lang="de-DE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2"/>
          <p:cNvSpPr>
            <a:spLocks noGrp="1"/>
          </p:cNvSpPr>
          <p:nvPr>
            <p:ph type="sldNum" idx="80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B93985-864D-40F9-BB57-225A25E9C030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32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u="sng" strike="noStrike" spc="-1">
                <a:solidFill>
                  <a:srgbClr val="3333CC"/>
                </a:solidFill>
                <a:uFillTx/>
                <a:latin typeface="Comic Sans MS"/>
              </a:rPr>
              <a:t>Distance Vector Routing: Überblick</a:t>
            </a:r>
            <a:endParaRPr lang="en-US" sz="32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89" name="PlaceHolder 4"/>
          <p:cNvSpPr>
            <a:spLocks noGrp="1"/>
          </p:cNvSpPr>
          <p:nvPr>
            <p:ph/>
          </p:nvPr>
        </p:nvSpPr>
        <p:spPr>
          <a:xfrm>
            <a:off x="561960" y="1362240"/>
            <a:ext cx="43081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8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Iterativ, asynchron: </a:t>
            </a: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Lokale Iteration hervorgerufen durch: </a:t>
            </a: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Änderung lokaler Leitungskosten </a:t>
            </a: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Nachricht von Nachbarknoten: Änderung bei günstigsten Pfaden</a:t>
            </a: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FF0000"/>
                </a:solidFill>
                <a:latin typeface="Comic Sans MS"/>
              </a:rPr>
              <a:t>Verteilt:</a:t>
            </a:r>
            <a:endParaRPr lang="en-US" sz="2000" b="0" strike="noStrike" spc="-1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Ein Knoten benachrichtigt seine Nachbarn nur wenn sein kostengünstigster Pfad zu einem Ziel ändern</a:t>
            </a:r>
          </a:p>
          <a:p>
            <a:pPr marL="743040" lvl="1" indent="-285840">
              <a:lnSpc>
                <a:spcPct val="8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Nachbarn verbreiten Information wiederum, wenn sich dadurch ihr </a:t>
            </a:r>
            <a:r>
              <a:rPr lang="en-US" sz="1800" b="0" strike="noStrike" spc="-1">
                <a:solidFill>
                  <a:srgbClr val="000000"/>
                </a:solidFill>
                <a:latin typeface="Comic Sans MS"/>
              </a:rPr>
              <a:t>kostengünstigster Pfad ändert</a:t>
            </a:r>
          </a:p>
        </p:txBody>
      </p:sp>
      <p:grpSp>
        <p:nvGrpSpPr>
          <p:cNvPr id="990" name="Group 20"/>
          <p:cNvGrpSpPr/>
          <p:nvPr/>
        </p:nvGrpSpPr>
        <p:grpSpPr>
          <a:xfrm>
            <a:off x="5229360" y="1762200"/>
            <a:ext cx="3552480" cy="4306320"/>
            <a:chOff x="5229360" y="1762200"/>
            <a:chExt cx="3552480" cy="4306320"/>
          </a:xfrm>
        </p:grpSpPr>
        <p:sp>
          <p:nvSpPr>
            <p:cNvPr id="991" name="Text Box 16"/>
            <p:cNvSpPr/>
            <p:nvPr/>
          </p:nvSpPr>
          <p:spPr>
            <a:xfrm>
              <a:off x="5257800" y="1762200"/>
              <a:ext cx="3524040" cy="430632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199"/>
                </a:spcBef>
                <a:buNone/>
              </a:pPr>
              <a:endParaRPr lang="de-DE" sz="2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lang="en-US" sz="2400" b="0" i="1" strike="noStrike" spc="-1">
                  <a:solidFill>
                    <a:srgbClr val="3333CC"/>
                  </a:solidFill>
                  <a:latin typeface="Arial"/>
                </a:rPr>
                <a:t>wait</a:t>
              </a: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 for (change in local link cost of msg from neighbor)</a:t>
              </a:r>
              <a:endParaRPr lang="de-DE" sz="20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001"/>
                </a:spcBef>
                <a:buNone/>
              </a:pPr>
              <a:endParaRPr lang="de-DE" sz="20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lang="en-US" sz="2400" b="0" i="1" strike="noStrike" spc="-1">
                  <a:solidFill>
                    <a:srgbClr val="3333CC"/>
                  </a:solidFill>
                  <a:latin typeface="Arial"/>
                </a:rPr>
                <a:t>recompute</a:t>
              </a: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 distance table</a:t>
              </a:r>
              <a:endParaRPr lang="de-DE" sz="20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001"/>
                </a:spcBef>
                <a:buNone/>
              </a:pPr>
              <a:endParaRPr lang="de-DE" sz="20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99"/>
                </a:spcBef>
                <a:buNone/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if least cost path to any dest has changed, </a:t>
              </a:r>
              <a:r>
                <a:rPr lang="en-US" sz="2400" b="0" i="1" strike="noStrike" spc="-1">
                  <a:solidFill>
                    <a:srgbClr val="3333CC"/>
                  </a:solidFill>
                  <a:latin typeface="Arial"/>
                </a:rPr>
                <a:t>notify</a:t>
              </a:r>
              <a:r>
                <a:rPr lang="en-US" sz="2000" b="0" strike="noStrike" spc="-1">
                  <a:solidFill>
                    <a:srgbClr val="000000"/>
                  </a:solidFill>
                  <a:latin typeface="Arial"/>
                </a:rPr>
                <a:t> neighbors </a:t>
              </a:r>
              <a:endParaRPr lang="de-DE" sz="2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  <a:spcBef>
                  <a:spcPts val="1199"/>
                </a:spcBef>
                <a:buNone/>
              </a:pPr>
              <a:endParaRPr lang="de-DE" sz="2400" b="0" strike="noStrike" spc="-1">
                <a:latin typeface="Arial"/>
              </a:endParaRPr>
            </a:p>
          </p:txBody>
        </p:sp>
        <p:sp>
          <p:nvSpPr>
            <p:cNvPr id="992" name="Line 17"/>
            <p:cNvSpPr/>
            <p:nvPr/>
          </p:nvSpPr>
          <p:spPr>
            <a:xfrm>
              <a:off x="6800760" y="3066840"/>
              <a:ext cx="360" cy="590760"/>
            </a:xfrm>
            <a:prstGeom prst="line">
              <a:avLst/>
            </a:prstGeom>
            <a:ln w="19050">
              <a:solidFill>
                <a:srgbClr val="3333C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93" name="Line 18"/>
            <p:cNvSpPr/>
            <p:nvPr/>
          </p:nvSpPr>
          <p:spPr>
            <a:xfrm>
              <a:off x="6791040" y="4086000"/>
              <a:ext cx="360" cy="590760"/>
            </a:xfrm>
            <a:prstGeom prst="line">
              <a:avLst/>
            </a:prstGeom>
            <a:ln w="19050">
              <a:solidFill>
                <a:srgbClr val="3333C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94" name="Freeform 19"/>
            <p:cNvSpPr/>
            <p:nvPr/>
          </p:nvSpPr>
          <p:spPr>
            <a:xfrm>
              <a:off x="5229360" y="2171880"/>
              <a:ext cx="1552320" cy="3580920"/>
            </a:xfrm>
            <a:custGeom>
              <a:avLst/>
              <a:gdLst/>
              <a:ahLst/>
              <a:cxnLst/>
              <a:rect l="l" t="t" r="r" b="b"/>
              <a:pathLst>
                <a:path w="978" h="2256">
                  <a:moveTo>
                    <a:pt x="960" y="2010"/>
                  </a:moveTo>
                  <a:lnTo>
                    <a:pt x="961" y="2256"/>
                  </a:lnTo>
                  <a:lnTo>
                    <a:pt x="0" y="2256"/>
                  </a:lnTo>
                  <a:lnTo>
                    <a:pt x="0" y="0"/>
                  </a:lnTo>
                  <a:lnTo>
                    <a:pt x="978" y="0"/>
                  </a:lnTo>
                  <a:lnTo>
                    <a:pt x="978" y="155"/>
                  </a:lnTo>
                </a:path>
              </a:pathLst>
            </a:custGeom>
            <a:noFill/>
            <a:ln w="19050">
              <a:solidFill>
                <a:srgbClr val="3333CC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995" name="Text Box 21"/>
          <p:cNvSpPr/>
          <p:nvPr/>
        </p:nvSpPr>
        <p:spPr>
          <a:xfrm>
            <a:off x="4981680" y="1379520"/>
            <a:ext cx="1504080" cy="4554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Pro Knoten:</a:t>
            </a:r>
            <a:endParaRPr lang="de-DE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2"/>
          <p:cNvSpPr>
            <a:spLocks noGrp="1"/>
          </p:cNvSpPr>
          <p:nvPr>
            <p:ph type="sldNum" idx="82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1FEAB8-E22D-4DEF-8038-284EDD0F772D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33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>
                <a:solidFill>
                  <a:srgbClr val="3333CC"/>
                </a:solidFill>
                <a:uFillTx/>
                <a:latin typeface="Comic Sans MS"/>
              </a:rPr>
              <a:t>Distance Vector Algorithmus (1):</a:t>
            </a:r>
            <a:endParaRPr lang="en-US" sz="36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999" name="Text Box 3"/>
          <p:cNvSpPr/>
          <p:nvPr/>
        </p:nvSpPr>
        <p:spPr>
          <a:xfrm>
            <a:off x="1482480" y="2192400"/>
            <a:ext cx="6771240" cy="19191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  Initialization: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    for all adjacent nodes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      /* the * operator means "for all rows" */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   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    for all destinations,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y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       send  to each neighbor  /*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w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over all </a:t>
            </a:r>
            <a:r>
              <a:rPr lang="en-US" sz="2000" b="0" strike="noStrike" spc="-1">
                <a:solidFill>
                  <a:srgbClr val="000000"/>
                </a:solidFill>
                <a:latin typeface="Cambria Math"/>
              </a:rPr>
              <a:t>X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's neighbors */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1000" name="Text Box 8"/>
          <p:cNvSpPr/>
          <p:nvPr/>
        </p:nvSpPr>
        <p:spPr>
          <a:xfrm>
            <a:off x="533880" y="1569960"/>
            <a:ext cx="2508120" cy="4554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3333CC"/>
                </a:solidFill>
                <a:latin typeface="Comic Sans MS"/>
              </a:rPr>
              <a:t>Auf jedem Knoten </a:t>
            </a:r>
            <a:r>
              <a:rPr lang="en-US" sz="2400" b="0" strike="noStrike" spc="-1">
                <a:solidFill>
                  <a:srgbClr val="3333CC"/>
                </a:solidFill>
                <a:latin typeface="Cambria Math"/>
                <a:ea typeface="Cambria Math"/>
              </a:rPr>
              <a:t>X</a:t>
            </a:r>
            <a:r>
              <a:rPr lang="en-US" sz="2400" b="0" strike="noStrike" spc="-1">
                <a:solidFill>
                  <a:srgbClr val="3333CC"/>
                </a:solidFill>
                <a:latin typeface="Comic Sans MS"/>
                <a:ea typeface="Cambria Math"/>
              </a:rPr>
              <a:t>:</a:t>
            </a:r>
            <a:endParaRPr lang="de-DE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2"/>
          <p:cNvSpPr>
            <a:spLocks noGrp="1"/>
          </p:cNvSpPr>
          <p:nvPr>
            <p:ph type="sldNum" idx="84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6233A9-84D0-4CDD-A8B8-65AD3407824C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34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title"/>
          </p:nvPr>
        </p:nvSpPr>
        <p:spPr>
          <a:xfrm>
            <a:off x="257040" y="152280"/>
            <a:ext cx="7772040" cy="8092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u="sng" strike="noStrike" spc="-1">
                <a:solidFill>
                  <a:srgbClr val="3333CC"/>
                </a:solidFill>
                <a:uFillTx/>
                <a:latin typeface="Comic Sans MS"/>
              </a:rPr>
              <a:t>Distance Vector Algorithmus (2):</a:t>
            </a:r>
            <a:endParaRPr lang="en-US" sz="3200" b="0" strike="noStrike" spc="-1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04" name="Text Box 3"/>
          <p:cNvSpPr/>
          <p:nvPr/>
        </p:nvSpPr>
        <p:spPr>
          <a:xfrm>
            <a:off x="1487195" y="822600"/>
            <a:ext cx="6486840" cy="58831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8 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loop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9   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wait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(until I see a link cost change to neighbor 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10         or until I receive update from neighbor </a:t>
            </a:r>
            <a:r>
              <a:rPr lang="en-US" sz="2000" b="0" strike="noStrike" spc="-1" dirty="0">
                <a:solidFill>
                  <a:srgbClr val="000000"/>
                </a:solidFill>
                <a:latin typeface="Cambria Math"/>
              </a:rPr>
              <a:t>V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)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11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12 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if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( changes by </a:t>
            </a:r>
            <a:r>
              <a:rPr lang="en-US" sz="2000" b="0" strike="noStrike" spc="-1" dirty="0">
                <a:solidFill>
                  <a:srgbClr val="000000"/>
                </a:solidFill>
                <a:latin typeface="Cambria Math"/>
              </a:rPr>
              <a:t>d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)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13     </a:t>
            </a:r>
            <a:r>
              <a:rPr lang="en-US" sz="2000" b="0" strike="noStrike" spc="-1" dirty="0">
                <a:solidFill>
                  <a:srgbClr val="2D2DB9"/>
                </a:solidFill>
                <a:latin typeface="Arial"/>
              </a:rPr>
              <a:t>/* change cost to all </a:t>
            </a:r>
            <a:r>
              <a:rPr lang="en-US" sz="2000" b="0" strike="noStrike" spc="-1" dirty="0" err="1">
                <a:solidFill>
                  <a:srgbClr val="2D2DB9"/>
                </a:solidFill>
                <a:latin typeface="Arial"/>
              </a:rPr>
              <a:t>dest's</a:t>
            </a:r>
            <a:r>
              <a:rPr lang="en-US" sz="2000" b="0" strike="noStrike" spc="-1" dirty="0">
                <a:solidFill>
                  <a:srgbClr val="2D2DB9"/>
                </a:solidFill>
                <a:latin typeface="Arial"/>
              </a:rPr>
              <a:t> via neighbor </a:t>
            </a:r>
            <a:r>
              <a:rPr lang="en-US" sz="2000" b="0" strike="noStrike" spc="-1" dirty="0">
                <a:solidFill>
                  <a:srgbClr val="2D2DB9"/>
                </a:solidFill>
                <a:latin typeface="Cambria Math"/>
              </a:rPr>
              <a:t>v</a:t>
            </a:r>
            <a:r>
              <a:rPr lang="en-US" sz="2000" b="0" strike="noStrike" spc="-1" dirty="0">
                <a:solidFill>
                  <a:srgbClr val="2D2DB9"/>
                </a:solidFill>
                <a:latin typeface="Arial"/>
              </a:rPr>
              <a:t> by </a:t>
            </a:r>
            <a:r>
              <a:rPr lang="en-US" sz="2000" b="0" strike="noStrike" spc="-1" dirty="0">
                <a:solidFill>
                  <a:srgbClr val="2D2DB9"/>
                </a:solidFill>
                <a:latin typeface="Cambria Math"/>
              </a:rPr>
              <a:t>d</a:t>
            </a:r>
            <a:r>
              <a:rPr lang="en-US" sz="2000" b="0" strike="noStrike" spc="-1" dirty="0">
                <a:solidFill>
                  <a:srgbClr val="2D2DB9"/>
                </a:solidFill>
                <a:latin typeface="Arial"/>
              </a:rPr>
              <a:t> */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14     /* note: </a:t>
            </a:r>
            <a:r>
              <a:rPr lang="en-US" sz="2000" b="0" strike="noStrike" spc="-1" dirty="0">
                <a:solidFill>
                  <a:srgbClr val="000000"/>
                </a:solidFill>
                <a:latin typeface="Cambria Math"/>
              </a:rPr>
              <a:t>d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could be positive or negative */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15     for all destinations </a:t>
            </a:r>
            <a:r>
              <a:rPr lang="en-US" sz="2000" b="0" strike="noStrike" spc="-1" dirty="0">
                <a:solidFill>
                  <a:srgbClr val="000000"/>
                </a:solidFill>
                <a:latin typeface="Cambria Math"/>
              </a:rPr>
              <a:t>y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: 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16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17 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else if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(update received from </a:t>
            </a:r>
            <a:r>
              <a:rPr lang="en-US" sz="2000" b="0" strike="noStrike" spc="-1" dirty="0">
                <a:solidFill>
                  <a:srgbClr val="000000"/>
                </a:solidFill>
                <a:latin typeface="Cambria Math"/>
              </a:rPr>
              <a:t>V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wrt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. destination </a:t>
            </a:r>
            <a:r>
              <a:rPr lang="en-US" sz="2000" b="0" strike="noStrike" spc="-1" dirty="0">
                <a:solidFill>
                  <a:srgbClr val="000000"/>
                </a:solidFill>
                <a:latin typeface="Cambria Math"/>
              </a:rPr>
              <a:t>Y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)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18     </a:t>
            </a:r>
            <a:r>
              <a:rPr lang="en-US" sz="2000" b="0" strike="noStrike" spc="-1" dirty="0">
                <a:solidFill>
                  <a:srgbClr val="2D2DB9"/>
                </a:solidFill>
                <a:latin typeface="Arial"/>
              </a:rPr>
              <a:t>/* shortest path from </a:t>
            </a:r>
            <a:r>
              <a:rPr lang="en-US" sz="2000" b="0" strike="noStrike" spc="-1" dirty="0">
                <a:solidFill>
                  <a:srgbClr val="2D2DB9"/>
                </a:solidFill>
                <a:latin typeface="Cambria Math"/>
              </a:rPr>
              <a:t>V</a:t>
            </a:r>
            <a:r>
              <a:rPr lang="en-US" sz="2000" b="0" strike="noStrike" spc="-1" dirty="0">
                <a:solidFill>
                  <a:srgbClr val="2D2DB9"/>
                </a:solidFill>
                <a:latin typeface="Arial"/>
              </a:rPr>
              <a:t> to some </a:t>
            </a:r>
            <a:r>
              <a:rPr lang="en-US" sz="2000" b="0" strike="noStrike" spc="-1" dirty="0">
                <a:solidFill>
                  <a:srgbClr val="2D2DB9"/>
                </a:solidFill>
                <a:latin typeface="Cambria Math"/>
              </a:rPr>
              <a:t>Y</a:t>
            </a:r>
            <a:r>
              <a:rPr lang="en-US" sz="2000" b="0" strike="noStrike" spc="-1" dirty="0">
                <a:solidFill>
                  <a:srgbClr val="2D2DB9"/>
                </a:solidFill>
                <a:latin typeface="Arial"/>
              </a:rPr>
              <a:t> has changed  */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19     /* </a:t>
            </a:r>
            <a:r>
              <a:rPr lang="en-US" sz="2000" b="0" strike="noStrike" spc="-1" dirty="0">
                <a:solidFill>
                  <a:srgbClr val="000000"/>
                </a:solidFill>
                <a:latin typeface="Cambria Math"/>
              </a:rPr>
              <a:t>V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has sent a new value for its  */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20     /* call this received new value is </a:t>
            </a:r>
            <a:r>
              <a:rPr lang="en-US" sz="2000" b="0" i="1" strike="noStrike" spc="-1" dirty="0" err="1">
                <a:solidFill>
                  <a:srgbClr val="000000"/>
                </a:solidFill>
                <a:latin typeface="Cambria Math"/>
              </a:rPr>
              <a:t>NewVal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    */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21     for the single destination </a:t>
            </a:r>
            <a:r>
              <a:rPr lang="en-US" sz="2000" b="0" strike="noStrike" spc="-1" dirty="0">
                <a:solidFill>
                  <a:srgbClr val="000000"/>
                </a:solidFill>
                <a:latin typeface="Cambria Math"/>
              </a:rPr>
              <a:t>y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: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22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23 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if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we have a new  for any destination </a:t>
            </a:r>
            <a:r>
              <a:rPr lang="en-US" sz="2000" b="0" strike="noStrike" spc="-1" dirty="0">
                <a:solidFill>
                  <a:srgbClr val="000000"/>
                </a:solidFill>
                <a:latin typeface="Cambria Math"/>
              </a:rPr>
              <a:t>Y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24      send new value of  to all neighbors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25 </a:t>
            </a:r>
            <a:endParaRPr lang="de-DE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26 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forever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de-DE" sz="2000" b="0" strike="noStrike" spc="-1" dirty="0">
              <a:latin typeface="Arial"/>
            </a:endParaRPr>
          </a:p>
        </p:txBody>
      </p:sp>
      <p:sp>
        <p:nvSpPr>
          <p:cNvPr id="1005" name="Freeform 11"/>
          <p:cNvSpPr/>
          <p:nvPr/>
        </p:nvSpPr>
        <p:spPr>
          <a:xfrm>
            <a:off x="685800" y="1028880"/>
            <a:ext cx="475920" cy="5714640"/>
          </a:xfrm>
          <a:custGeom>
            <a:avLst/>
            <a:gdLst/>
            <a:ahLst/>
            <a:cxnLst/>
            <a:rect l="l" t="t" r="r" b="b"/>
            <a:pathLst>
              <a:path w="300" h="3600">
                <a:moveTo>
                  <a:pt x="300" y="3546"/>
                </a:moveTo>
                <a:lnTo>
                  <a:pt x="300" y="3600"/>
                </a:lnTo>
                <a:lnTo>
                  <a:pt x="0" y="3594"/>
                </a:ln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19050">
            <a:solidFill>
              <a:srgbClr val="3333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rafik 2"/>
          <p:cNvPicPr/>
          <p:nvPr/>
        </p:nvPicPr>
        <p:blipFill>
          <a:blip r:embed="rId2"/>
          <a:stretch/>
        </p:blipFill>
        <p:spPr>
          <a:xfrm>
            <a:off x="57960" y="2343600"/>
            <a:ext cx="2360160" cy="1091520"/>
          </a:xfrm>
          <a:prstGeom prst="rect">
            <a:avLst/>
          </a:prstGeom>
          <a:ln w="0">
            <a:noFill/>
          </a:ln>
        </p:spPr>
      </p:pic>
      <p:sp>
        <p:nvSpPr>
          <p:cNvPr id="1018" name="PlaceHolder 2"/>
          <p:cNvSpPr>
            <a:spLocks noGrp="1"/>
          </p:cNvSpPr>
          <p:nvPr>
            <p:ph type="sldNum" idx="88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55744B-0188-4F13-85D5-61DB492F5085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35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7720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Distance Vector: </a:t>
            </a:r>
            <a:r>
              <a:rPr lang="en-US" sz="36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Beispiel</a:t>
            </a:r>
            <a:r>
              <a:rPr lang="en-US" sz="36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 (1)</a:t>
            </a:r>
            <a:endParaRPr lang="en-US" sz="36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pic>
        <p:nvPicPr>
          <p:cNvPr id="1020" name="Picture 38" descr="dvexampl2"/>
          <p:cNvPicPr/>
          <p:nvPr/>
        </p:nvPicPr>
        <p:blipFill>
          <a:blip r:embed="rId3"/>
          <a:stretch/>
        </p:blipFill>
        <p:spPr>
          <a:xfrm>
            <a:off x="2467080" y="1214280"/>
            <a:ext cx="3696840" cy="4847760"/>
          </a:xfrm>
          <a:prstGeom prst="rect">
            <a:avLst/>
          </a:prstGeom>
          <a:ln w="9525">
            <a:noFill/>
          </a:ln>
        </p:spPr>
      </p:pic>
      <p:grpSp>
        <p:nvGrpSpPr>
          <p:cNvPr id="1021" name="Group 72"/>
          <p:cNvGrpSpPr/>
          <p:nvPr/>
        </p:nvGrpSpPr>
        <p:grpSpPr>
          <a:xfrm>
            <a:off x="4823640" y="2832120"/>
            <a:ext cx="3665880" cy="873360"/>
            <a:chOff x="4823640" y="2832120"/>
            <a:chExt cx="3665880" cy="873360"/>
          </a:xfrm>
        </p:grpSpPr>
        <p:sp>
          <p:nvSpPr>
            <p:cNvPr id="1022" name="Text Box 41"/>
            <p:cNvSpPr/>
            <p:nvPr/>
          </p:nvSpPr>
          <p:spPr>
            <a:xfrm>
              <a:off x="4823640" y="2979720"/>
              <a:ext cx="95364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D  (Y,Z)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23" name="Text Box 42"/>
            <p:cNvSpPr/>
            <p:nvPr/>
          </p:nvSpPr>
          <p:spPr>
            <a:xfrm>
              <a:off x="4964760" y="2851200"/>
              <a:ext cx="316800" cy="333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</a:rPr>
                <a:t>X</a:t>
              </a:r>
              <a:endParaRPr lang="de-DE" sz="1600" b="0" strike="noStrike" spc="-1">
                <a:latin typeface="Arial"/>
              </a:endParaRPr>
            </a:p>
          </p:txBody>
        </p:sp>
        <p:sp>
          <p:nvSpPr>
            <p:cNvPr id="1024" name="Text Box 43"/>
            <p:cNvSpPr/>
            <p:nvPr/>
          </p:nvSpPr>
          <p:spPr>
            <a:xfrm>
              <a:off x="5978160" y="2960640"/>
              <a:ext cx="251136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c(X,Z) + min  {D  (Y,w)}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25" name="Text Box 45"/>
            <p:cNvSpPr/>
            <p:nvPr/>
          </p:nvSpPr>
          <p:spPr>
            <a:xfrm>
              <a:off x="7192800" y="3098880"/>
              <a:ext cx="272520" cy="333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</a:rPr>
                <a:t>w</a:t>
              </a:r>
              <a:endParaRPr lang="de-DE" sz="1600" b="0" strike="noStrike" spc="-1">
                <a:latin typeface="Arial"/>
              </a:endParaRPr>
            </a:p>
          </p:txBody>
        </p:sp>
        <p:sp>
          <p:nvSpPr>
            <p:cNvPr id="1026" name="Text Box 46"/>
            <p:cNvSpPr/>
            <p:nvPr/>
          </p:nvSpPr>
          <p:spPr>
            <a:xfrm>
              <a:off x="5688720" y="2979720"/>
              <a:ext cx="31536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27" name="Text Box 47"/>
            <p:cNvSpPr/>
            <p:nvPr/>
          </p:nvSpPr>
          <p:spPr>
            <a:xfrm>
              <a:off x="5622120" y="3332160"/>
              <a:ext cx="31536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28" name="Text Box 48"/>
            <p:cNvSpPr/>
            <p:nvPr/>
          </p:nvSpPr>
          <p:spPr>
            <a:xfrm>
              <a:off x="5955480" y="3341520"/>
              <a:ext cx="95688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7+1 = 8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29" name="Text Box 71"/>
            <p:cNvSpPr/>
            <p:nvPr/>
          </p:nvSpPr>
          <p:spPr>
            <a:xfrm>
              <a:off x="7599240" y="2832120"/>
              <a:ext cx="304560" cy="333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</a:rPr>
                <a:t>Z</a:t>
              </a:r>
              <a:endParaRPr lang="de-DE" sz="1600" b="0" strike="noStrike" spc="-1">
                <a:latin typeface="Arial"/>
              </a:endParaRPr>
            </a:p>
          </p:txBody>
        </p:sp>
      </p:grpSp>
      <p:grpSp>
        <p:nvGrpSpPr>
          <p:cNvPr id="1030" name="Group 73"/>
          <p:cNvGrpSpPr/>
          <p:nvPr/>
        </p:nvGrpSpPr>
        <p:grpSpPr>
          <a:xfrm>
            <a:off x="4818600" y="3851280"/>
            <a:ext cx="3695040" cy="873720"/>
            <a:chOff x="4818600" y="3851280"/>
            <a:chExt cx="3695040" cy="873720"/>
          </a:xfrm>
        </p:grpSpPr>
        <p:sp>
          <p:nvSpPr>
            <p:cNvPr id="1031" name="Text Box 74"/>
            <p:cNvSpPr/>
            <p:nvPr/>
          </p:nvSpPr>
          <p:spPr>
            <a:xfrm>
              <a:off x="4818600" y="3998880"/>
              <a:ext cx="98280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D  (Z,Y)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32" name="Text Box 75"/>
            <p:cNvSpPr/>
            <p:nvPr/>
          </p:nvSpPr>
          <p:spPr>
            <a:xfrm>
              <a:off x="4974480" y="3870360"/>
              <a:ext cx="316800" cy="333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</a:rPr>
                <a:t>X</a:t>
              </a:r>
              <a:endParaRPr lang="de-DE" sz="1600" b="0" strike="noStrike" spc="-1">
                <a:latin typeface="Arial"/>
              </a:endParaRPr>
            </a:p>
          </p:txBody>
        </p:sp>
        <p:sp>
          <p:nvSpPr>
            <p:cNvPr id="1033" name="Text Box 76"/>
            <p:cNvSpPr/>
            <p:nvPr/>
          </p:nvSpPr>
          <p:spPr>
            <a:xfrm>
              <a:off x="5973840" y="3979800"/>
              <a:ext cx="253980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c(X,Y) + min  {D  (Z,w)}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34" name="Text Box 77"/>
            <p:cNvSpPr/>
            <p:nvPr/>
          </p:nvSpPr>
          <p:spPr>
            <a:xfrm>
              <a:off x="7202520" y="4118040"/>
              <a:ext cx="272520" cy="333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</a:rPr>
                <a:t>w</a:t>
              </a:r>
              <a:endParaRPr lang="de-DE" sz="1600" b="0" strike="noStrike" spc="-1">
                <a:latin typeface="Arial"/>
              </a:endParaRPr>
            </a:p>
          </p:txBody>
        </p:sp>
        <p:sp>
          <p:nvSpPr>
            <p:cNvPr id="1035" name="Text Box 78"/>
            <p:cNvSpPr/>
            <p:nvPr/>
          </p:nvSpPr>
          <p:spPr>
            <a:xfrm>
              <a:off x="5698080" y="3998880"/>
              <a:ext cx="31536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36" name="Text Box 79"/>
            <p:cNvSpPr/>
            <p:nvPr/>
          </p:nvSpPr>
          <p:spPr>
            <a:xfrm>
              <a:off x="5631480" y="4351320"/>
              <a:ext cx="31536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=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37" name="Text Box 80"/>
            <p:cNvSpPr/>
            <p:nvPr/>
          </p:nvSpPr>
          <p:spPr>
            <a:xfrm>
              <a:off x="5964840" y="4361040"/>
              <a:ext cx="956880" cy="36396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2+1 = 3</a:t>
              </a:r>
              <a:endParaRPr lang="de-DE" sz="1800" b="0" strike="noStrike" spc="-1">
                <a:latin typeface="Arial"/>
              </a:endParaRPr>
            </a:p>
          </p:txBody>
        </p:sp>
        <p:sp>
          <p:nvSpPr>
            <p:cNvPr id="1038" name="Text Box 81"/>
            <p:cNvSpPr/>
            <p:nvPr/>
          </p:nvSpPr>
          <p:spPr>
            <a:xfrm>
              <a:off x="7603200" y="3851280"/>
              <a:ext cx="316800" cy="333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</a:rPr>
                <a:t>Y</a:t>
              </a:r>
              <a:endParaRPr lang="de-DE" sz="16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ftr" idx="89"/>
          </p:nvPr>
        </p:nvSpPr>
        <p:spPr>
          <a:xfrm>
            <a:off x="5410080" y="6400800"/>
            <a:ext cx="289512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omic Sans MS"/>
              </a:rPr>
              <a:t>Internetschicht</a:t>
            </a:r>
            <a:endParaRPr lang="de-DE" sz="1400" b="0" strike="noStrike" spc="-1">
              <a:latin typeface="Times New Roman"/>
            </a:endParaRPr>
          </a:p>
        </p:txBody>
      </p:sp>
      <p:sp>
        <p:nvSpPr>
          <p:cNvPr id="1040" name="PlaceHolder 2"/>
          <p:cNvSpPr>
            <a:spLocks noGrp="1"/>
          </p:cNvSpPr>
          <p:nvPr>
            <p:ph type="sldNum" idx="90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omic Sans MS"/>
              </a:rPr>
              <a:t>4-</a:t>
            </a:r>
            <a:fld id="{D7D7D809-0FDD-42CA-B1B1-AC0146A779C3}" type="slidenum">
              <a:rPr lang="en-US" sz="1400" b="0" strike="noStrike" spc="-1">
                <a:solidFill>
                  <a:srgbClr val="000000"/>
                </a:solidFill>
                <a:latin typeface="Comic Sans MS"/>
              </a:rPr>
              <a:t>36</a:t>
            </a:fld>
            <a:endParaRPr lang="de-DE" sz="1400" b="0" strike="noStrike" spc="-1">
              <a:latin typeface="Times New Roman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808308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Distance Vector: </a:t>
            </a:r>
            <a:r>
              <a:rPr lang="en-US" sz="36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Beispiel</a:t>
            </a:r>
            <a:r>
              <a:rPr lang="en-US" sz="36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 (2)</a:t>
            </a:r>
            <a:endParaRPr lang="en-US" sz="36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pic>
        <p:nvPicPr>
          <p:cNvPr id="1042" name="Picture 70" descr="dvexampl"/>
          <p:cNvPicPr/>
          <p:nvPr/>
        </p:nvPicPr>
        <p:blipFill>
          <a:blip r:embed="rId2"/>
          <a:stretch/>
        </p:blipFill>
        <p:spPr>
          <a:xfrm>
            <a:off x="3067200" y="1552680"/>
            <a:ext cx="5547960" cy="4424040"/>
          </a:xfrm>
          <a:prstGeom prst="rect">
            <a:avLst/>
          </a:prstGeom>
          <a:ln w="9525">
            <a:noFill/>
          </a:ln>
        </p:spPr>
      </p:pic>
      <p:pic>
        <p:nvPicPr>
          <p:cNvPr id="1043" name="Grafik 39"/>
          <p:cNvPicPr/>
          <p:nvPr/>
        </p:nvPicPr>
        <p:blipFill>
          <a:blip r:embed="rId3"/>
          <a:stretch/>
        </p:blipFill>
        <p:spPr>
          <a:xfrm>
            <a:off x="57960" y="2343600"/>
            <a:ext cx="2360160" cy="1091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Picture 60" descr="dv_good"/>
          <p:cNvPicPr/>
          <p:nvPr/>
        </p:nvPicPr>
        <p:blipFill>
          <a:blip r:embed="rId2"/>
          <a:stretch/>
        </p:blipFill>
        <p:spPr>
          <a:xfrm>
            <a:off x="1753200" y="3824280"/>
            <a:ext cx="5559120" cy="2776320"/>
          </a:xfrm>
          <a:prstGeom prst="rect">
            <a:avLst/>
          </a:prstGeom>
          <a:ln w="9525">
            <a:noFill/>
          </a:ln>
        </p:spPr>
      </p:pic>
      <p:sp>
        <p:nvSpPr>
          <p:cNvPr id="1046" name="PlaceHolder 2"/>
          <p:cNvSpPr>
            <a:spLocks noGrp="1"/>
          </p:cNvSpPr>
          <p:nvPr>
            <p:ph type="sldNum" idx="92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94BFC0-FAB7-48A7-9B44-A29E0FE03538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37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1047" name="PlaceHolder 3"/>
          <p:cNvSpPr>
            <a:spLocks noGrp="1"/>
          </p:cNvSpPr>
          <p:nvPr>
            <p:ph type="title"/>
          </p:nvPr>
        </p:nvSpPr>
        <p:spPr>
          <a:xfrm>
            <a:off x="146160" y="228600"/>
            <a:ext cx="899748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Distance Vector: </a:t>
            </a:r>
            <a:r>
              <a:rPr lang="en-US" sz="30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Änderung</a:t>
            </a:r>
            <a:r>
              <a:rPr lang="en-US" sz="30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 von </a:t>
            </a:r>
            <a:r>
              <a:rPr lang="en-US" sz="30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Leitungskosten</a:t>
            </a:r>
            <a:r>
              <a:rPr lang="en-US" sz="30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 (1)</a:t>
            </a:r>
            <a:endParaRPr lang="en-US" sz="30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48" name="Rectangle 56"/>
          <p:cNvSpPr/>
          <p:nvPr/>
        </p:nvSpPr>
        <p:spPr>
          <a:xfrm>
            <a:off x="552600" y="1400040"/>
            <a:ext cx="5211360" cy="25236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FF0000"/>
                </a:solidFill>
                <a:latin typeface="Comic Sans MS"/>
              </a:rPr>
              <a:t>Änderung von Linkkosten:</a:t>
            </a:r>
            <a:endParaRPr lang="de-DE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Knoten erkennt Änderung der lokalen Leitungskosten </a:t>
            </a:r>
            <a:endParaRPr lang="de-DE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Update Distanz-Tabelle (Zeile 15)</a:t>
            </a:r>
            <a:endParaRPr lang="de-DE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omic Sans MS"/>
              </a:rPr>
              <a:t>Änderung der kostengünstigsten Pfade –&gt; Nachbarn informieren (Zeile 23,24)</a:t>
            </a:r>
            <a:endParaRPr lang="de-DE" sz="2000" b="0" strike="noStrike" spc="-1">
              <a:latin typeface="Arial"/>
            </a:endParaRPr>
          </a:p>
        </p:txBody>
      </p:sp>
      <p:sp>
        <p:nvSpPr>
          <p:cNvPr id="1049" name="Line 61"/>
          <p:cNvSpPr/>
          <p:nvPr/>
        </p:nvSpPr>
        <p:spPr>
          <a:xfrm>
            <a:off x="7411320" y="3750480"/>
            <a:ext cx="360" cy="274320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050" name="Text Box 62"/>
          <p:cNvSpPr/>
          <p:nvPr/>
        </p:nvSpPr>
        <p:spPr>
          <a:xfrm>
            <a:off x="7628040" y="3824280"/>
            <a:ext cx="1069560" cy="576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3333CC"/>
                </a:solidFill>
                <a:latin typeface="Comic Sans MS"/>
              </a:rPr>
              <a:t>Algorithmus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3333CC"/>
                </a:solidFill>
                <a:latin typeface="Comic Sans MS"/>
              </a:rPr>
              <a:t>terminiert</a:t>
            </a:r>
            <a:endParaRPr lang="de-DE" sz="1600" b="0" strike="noStrike" spc="-1">
              <a:latin typeface="Arial"/>
            </a:endParaRPr>
          </a:p>
        </p:txBody>
      </p:sp>
      <p:sp>
        <p:nvSpPr>
          <p:cNvPr id="1051" name="Text Box 63"/>
          <p:cNvSpPr/>
          <p:nvPr/>
        </p:nvSpPr>
        <p:spPr>
          <a:xfrm>
            <a:off x="167040" y="4233960"/>
            <a:ext cx="1285920" cy="13093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“Gute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Nachrichten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 verbreiten </a:t>
            </a:r>
            <a:endParaRPr lang="de-DE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3333CC"/>
                </a:solidFill>
                <a:latin typeface="Comic Sans MS"/>
              </a:rPr>
              <a:t>sich schnell”</a:t>
            </a:r>
            <a:endParaRPr lang="de-DE" sz="2000" b="0" strike="noStrike" spc="-1">
              <a:latin typeface="Arial"/>
            </a:endParaRPr>
          </a:p>
        </p:txBody>
      </p:sp>
      <p:pic>
        <p:nvPicPr>
          <p:cNvPr id="1052" name="Grafik 2"/>
          <p:cNvPicPr/>
          <p:nvPr/>
        </p:nvPicPr>
        <p:blipFill>
          <a:blip r:embed="rId3"/>
          <a:stretch/>
        </p:blipFill>
        <p:spPr>
          <a:xfrm>
            <a:off x="5844240" y="1459800"/>
            <a:ext cx="2746800" cy="1525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2"/>
          <p:cNvSpPr>
            <a:spLocks noGrp="1"/>
          </p:cNvSpPr>
          <p:nvPr>
            <p:ph type="sldNum" idx="94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81E4EA7-480B-485C-8572-50CB9EEAC828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38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title"/>
          </p:nvPr>
        </p:nvSpPr>
        <p:spPr>
          <a:xfrm>
            <a:off x="189000" y="228600"/>
            <a:ext cx="89546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Distance Vector: </a:t>
            </a:r>
            <a:r>
              <a:rPr lang="en-US" sz="30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Änderung</a:t>
            </a:r>
            <a:r>
              <a:rPr lang="en-US" sz="30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 von </a:t>
            </a:r>
            <a:r>
              <a:rPr lang="en-US" sz="30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Leitungskosten</a:t>
            </a:r>
            <a:r>
              <a:rPr lang="en-US" sz="30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 (2)</a:t>
            </a:r>
            <a:endParaRPr lang="en-US" sz="30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56" name="Rectangle 3"/>
          <p:cNvSpPr/>
          <p:nvPr/>
        </p:nvSpPr>
        <p:spPr>
          <a:xfrm>
            <a:off x="412920" y="1343160"/>
            <a:ext cx="5534280" cy="1485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Änderung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 der </a:t>
            </a: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Linkkosten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:</a:t>
            </a:r>
            <a:endParaRPr lang="de-DE" sz="24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Schnelle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Verbreitung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guter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Nachrichten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endParaRPr lang="de-DE" sz="20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Langsame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Verbreitung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schlechter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Nachrichten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- “count to infinity” Problem!</a:t>
            </a:r>
            <a:endParaRPr lang="de-DE" sz="2000" b="0" strike="noStrike" spc="-1" dirty="0">
              <a:latin typeface="Arial"/>
            </a:endParaRPr>
          </a:p>
        </p:txBody>
      </p:sp>
      <p:pic>
        <p:nvPicPr>
          <p:cNvPr id="1057" name="Picture 44" descr="dv_bad"/>
          <p:cNvPicPr/>
          <p:nvPr/>
        </p:nvPicPr>
        <p:blipFill>
          <a:blip r:embed="rId2"/>
          <a:stretch/>
        </p:blipFill>
        <p:spPr>
          <a:xfrm>
            <a:off x="561960" y="3414600"/>
            <a:ext cx="7292520" cy="3017520"/>
          </a:xfrm>
          <a:prstGeom prst="rect">
            <a:avLst/>
          </a:prstGeom>
          <a:ln w="9525">
            <a:noFill/>
          </a:ln>
        </p:spPr>
      </p:pic>
      <p:sp>
        <p:nvSpPr>
          <p:cNvPr id="1058" name="Text Box 42"/>
          <p:cNvSpPr/>
          <p:nvPr/>
        </p:nvSpPr>
        <p:spPr>
          <a:xfrm>
            <a:off x="7637400" y="3436920"/>
            <a:ext cx="1069560" cy="819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3333CC"/>
                </a:solidFill>
                <a:latin typeface="Comic Sans MS"/>
              </a:rPr>
              <a:t>Algorithmus</a:t>
            </a:r>
            <a:endParaRPr lang="de-DE" sz="16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3333CC"/>
                </a:solidFill>
                <a:latin typeface="Comic Sans MS"/>
              </a:rPr>
              <a:t>läuft</a:t>
            </a:r>
            <a:endParaRPr lang="de-DE" sz="16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3333CC"/>
                </a:solidFill>
                <a:latin typeface="Comic Sans MS"/>
              </a:rPr>
              <a:t>weiter!</a:t>
            </a:r>
            <a:endParaRPr lang="de-DE" sz="1600" b="0" strike="noStrike" spc="-1">
              <a:latin typeface="Arial"/>
            </a:endParaRPr>
          </a:p>
        </p:txBody>
      </p:sp>
      <p:pic>
        <p:nvPicPr>
          <p:cNvPr id="1059" name="Grafik 2"/>
          <p:cNvPicPr/>
          <p:nvPr/>
        </p:nvPicPr>
        <p:blipFill>
          <a:blip r:embed="rId3"/>
          <a:stretch/>
        </p:blipFill>
        <p:spPr>
          <a:xfrm>
            <a:off x="5947200" y="1145160"/>
            <a:ext cx="2891520" cy="1623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2"/>
          <p:cNvSpPr>
            <a:spLocks noGrp="1"/>
          </p:cNvSpPr>
          <p:nvPr>
            <p:ph type="sldNum" idx="96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6942A8-96F4-4FFA-9079-F5F5AA2F179D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39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title"/>
          </p:nvPr>
        </p:nvSpPr>
        <p:spPr>
          <a:xfrm>
            <a:off x="533520" y="228600"/>
            <a:ext cx="7036513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Distance Vector: Poisoned Reverse </a:t>
            </a:r>
            <a:r>
              <a:rPr lang="en-US" sz="32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Verfahren</a:t>
            </a:r>
            <a:endParaRPr lang="en-US" sz="32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63" name="Rectangle 3"/>
          <p:cNvSpPr/>
          <p:nvPr/>
        </p:nvSpPr>
        <p:spPr>
          <a:xfrm>
            <a:off x="533520" y="1324080"/>
            <a:ext cx="5416200" cy="1485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Wenn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Z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über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Y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zu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X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routet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:</a:t>
            </a:r>
            <a:endParaRPr lang="de-DE" sz="24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Z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teilt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Y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mit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dass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X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nicht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erreichen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kann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.  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Somit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routet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Y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nicht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über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X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zu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Z)</a:t>
            </a:r>
            <a:endParaRPr lang="de-DE" sz="20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FF0000"/>
                </a:solidFill>
                <a:latin typeface="Comic Sans MS"/>
              </a:rPr>
              <a:t>Ist</a:t>
            </a:r>
            <a:r>
              <a:rPr lang="en-US" sz="20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FF0000"/>
                </a:solidFill>
                <a:latin typeface="Comic Sans MS"/>
              </a:rPr>
              <a:t>hier</a:t>
            </a:r>
            <a:r>
              <a:rPr lang="en-US" sz="2000" b="0" strike="noStrike" spc="-1" dirty="0">
                <a:solidFill>
                  <a:srgbClr val="FF0000"/>
                </a:solidFill>
                <a:latin typeface="Comic Sans MS"/>
              </a:rPr>
              <a:t> das “count to infinity” Problem </a:t>
            </a:r>
            <a:r>
              <a:rPr lang="en-US" sz="2000" b="0" strike="noStrike" spc="-1" dirty="0" err="1">
                <a:solidFill>
                  <a:srgbClr val="FF0000"/>
                </a:solidFill>
                <a:latin typeface="Comic Sans MS"/>
              </a:rPr>
              <a:t>vollständig</a:t>
            </a:r>
            <a:r>
              <a:rPr lang="en-US" sz="20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FF0000"/>
                </a:solidFill>
                <a:latin typeface="Comic Sans MS"/>
              </a:rPr>
              <a:t>gelöst</a:t>
            </a:r>
            <a:r>
              <a:rPr lang="en-US" sz="2000" b="0" strike="noStrike" spc="-1" dirty="0">
                <a:solidFill>
                  <a:srgbClr val="FF0000"/>
                </a:solidFill>
                <a:latin typeface="Comic Sans MS"/>
              </a:rPr>
              <a:t> ? </a:t>
            </a:r>
            <a:endParaRPr lang="de-DE" sz="2000" b="0" strike="noStrike" spc="-1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 dirty="0">
              <a:latin typeface="Arial"/>
            </a:endParaRPr>
          </a:p>
        </p:txBody>
      </p:sp>
      <p:pic>
        <p:nvPicPr>
          <p:cNvPr id="1064" name="Picture 40" descr="dv_pois"/>
          <p:cNvPicPr/>
          <p:nvPr/>
        </p:nvPicPr>
        <p:blipFill>
          <a:blip r:embed="rId2"/>
          <a:stretch/>
        </p:blipFill>
        <p:spPr>
          <a:xfrm>
            <a:off x="1276200" y="3484440"/>
            <a:ext cx="6775200" cy="2806200"/>
          </a:xfrm>
          <a:prstGeom prst="rect">
            <a:avLst/>
          </a:prstGeom>
          <a:ln w="9525">
            <a:noFill/>
          </a:ln>
        </p:spPr>
      </p:pic>
      <p:sp>
        <p:nvSpPr>
          <p:cNvPr id="1065" name="Line 41"/>
          <p:cNvSpPr/>
          <p:nvPr/>
        </p:nvSpPr>
        <p:spPr>
          <a:xfrm>
            <a:off x="7772400" y="3267000"/>
            <a:ext cx="360" cy="2743200"/>
          </a:xfrm>
          <a:prstGeom prst="line">
            <a:avLst/>
          </a:prstGeom>
          <a:ln w="19050">
            <a:solidFill>
              <a:srgbClr val="3333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sp>
        <p:nvSpPr>
          <p:cNvPr id="1066" name="Text Box 42"/>
          <p:cNvSpPr/>
          <p:nvPr/>
        </p:nvSpPr>
        <p:spPr>
          <a:xfrm>
            <a:off x="7935840" y="3265560"/>
            <a:ext cx="1069560" cy="576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3333CC"/>
                </a:solidFill>
                <a:latin typeface="Comic Sans MS"/>
              </a:rPr>
              <a:t>Algorithmus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3333CC"/>
                </a:solidFill>
                <a:latin typeface="Comic Sans MS"/>
              </a:rPr>
              <a:t>terminiert</a:t>
            </a:r>
            <a:endParaRPr lang="de-DE" sz="1600" b="0" strike="noStrike" spc="-1">
              <a:latin typeface="Arial"/>
            </a:endParaRPr>
          </a:p>
        </p:txBody>
      </p:sp>
      <p:pic>
        <p:nvPicPr>
          <p:cNvPr id="1067" name="Grafik 43"/>
          <p:cNvPicPr/>
          <p:nvPr/>
        </p:nvPicPr>
        <p:blipFill>
          <a:blip r:embed="rId3"/>
          <a:stretch/>
        </p:blipFill>
        <p:spPr>
          <a:xfrm>
            <a:off x="5950080" y="1176120"/>
            <a:ext cx="2891520" cy="1623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2"/>
          <p:cNvSpPr>
            <a:spLocks noGrp="1"/>
          </p:cNvSpPr>
          <p:nvPr>
            <p:ph type="sldNum" idx="98"/>
          </p:nvPr>
        </p:nvSpPr>
        <p:spPr>
          <a:xfrm>
            <a:off x="8163000" y="6400800"/>
            <a:ext cx="6760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Comic Sans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A82B19-6DE0-4F6F-930C-5467FD5CEC70}" type="slidenum">
              <a:rPr lang="en-US" sz="1400" b="0" strike="noStrike" spc="-1" smtClean="0">
                <a:solidFill>
                  <a:srgbClr val="000000"/>
                </a:solidFill>
                <a:latin typeface="Comic Sans MS"/>
              </a:rPr>
              <a:t>40</a:t>
            </a:fld>
            <a:endParaRPr lang="de-DE" sz="1400" b="0" strike="noStrike" spc="-1" dirty="0">
              <a:latin typeface="Times New Roman"/>
            </a:endParaRPr>
          </a:p>
        </p:txBody>
      </p:sp>
      <p:sp>
        <p:nvSpPr>
          <p:cNvPr id="1070" name="PlaceHolder 3"/>
          <p:cNvSpPr>
            <a:spLocks noGrp="1"/>
          </p:cNvSpPr>
          <p:nvPr>
            <p:ph type="title"/>
          </p:nvPr>
        </p:nvSpPr>
        <p:spPr>
          <a:xfrm>
            <a:off x="290520" y="228600"/>
            <a:ext cx="854028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u="sng" strike="noStrike" spc="-1" dirty="0" err="1">
                <a:solidFill>
                  <a:srgbClr val="3333CC"/>
                </a:solidFill>
                <a:uFillTx/>
                <a:latin typeface="Comic Sans MS"/>
              </a:rPr>
              <a:t>Vergleich</a:t>
            </a:r>
            <a:r>
              <a:rPr lang="en-US" sz="28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 Link State (LS) vs. Distance Vector (DV)</a:t>
            </a:r>
            <a:endParaRPr lang="en-US" sz="2800" b="0" strike="noStrike" spc="-1" dirty="0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071" name="PlaceHolder 4"/>
          <p:cNvSpPr>
            <a:spLocks noGrp="1"/>
          </p:cNvSpPr>
          <p:nvPr>
            <p:ph/>
          </p:nvPr>
        </p:nvSpPr>
        <p:spPr>
          <a:xfrm>
            <a:off x="290520" y="1295280"/>
            <a:ext cx="4308120" cy="46479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Nachrichten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Komplexität</a:t>
            </a:r>
            <a:endParaRPr lang="en-US" sz="24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u="sng" strike="noStrike" spc="-1" dirty="0">
                <a:solidFill>
                  <a:srgbClr val="FF0000"/>
                </a:solidFill>
                <a:uFillTx/>
                <a:latin typeface="Comic Sans MS"/>
              </a:rPr>
              <a:t>LS: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, E Links, O(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)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Nachrichten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u="sng" strike="noStrike" spc="-1" dirty="0">
                <a:solidFill>
                  <a:srgbClr val="FF0000"/>
                </a:solidFill>
                <a:uFillTx/>
                <a:latin typeface="Comic Sans MS"/>
              </a:rPr>
              <a:t>DV: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Austausch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nur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zwischen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benachbarten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mic Sans MS"/>
              </a:rPr>
              <a:t>Zeit bis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mic Sans MS"/>
              </a:rPr>
              <a:t>Konvergenz</a:t>
            </a:r>
            <a:r>
              <a:rPr lang="en-US" sz="18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mic Sans MS"/>
              </a:rPr>
              <a:t>variiert</a:t>
            </a:r>
            <a:endParaRPr lang="en-US" sz="18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Konvergenz-Geschwindigkeit</a:t>
            </a:r>
            <a:endParaRPr lang="en-US" sz="24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u="sng" strike="noStrike" spc="-1" dirty="0">
                <a:solidFill>
                  <a:srgbClr val="FF0000"/>
                </a:solidFill>
                <a:uFillTx/>
                <a:latin typeface="Comic Sans MS"/>
              </a:rPr>
              <a:t>LS: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Algorithmus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in O(n</a:t>
            </a:r>
            <a:r>
              <a:rPr lang="en-US" sz="2000" b="1" strike="noStrike" spc="-1" baseline="30000" dirty="0">
                <a:solidFill>
                  <a:srgbClr val="000000"/>
                </a:solidFill>
                <a:latin typeface="Comic Sans MS"/>
              </a:rPr>
              <a:t>2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),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Anzahl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Nachrichten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in O(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nE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)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Oszillation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möglich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85000"/>
              <a:buFont typeface="ZapfDingbats" charset="2"/>
              <a:buChar char=""/>
              <a:tabLst>
                <a:tab pos="0" algn="l"/>
              </a:tabLst>
            </a:pPr>
            <a:r>
              <a:rPr lang="en-US" sz="2000" b="0" u="sng" strike="noStrike" spc="-1" dirty="0">
                <a:solidFill>
                  <a:srgbClr val="FF0000"/>
                </a:solidFill>
                <a:uFillTx/>
                <a:latin typeface="Comic Sans MS"/>
              </a:rPr>
              <a:t>DV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: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Konvergenz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-Zeit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variiert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Schleifen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möglich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Count-to-Infinity Problem</a:t>
            </a:r>
          </a:p>
        </p:txBody>
      </p:sp>
      <p:sp>
        <p:nvSpPr>
          <p:cNvPr id="1072" name="PlaceHolder 5"/>
          <p:cNvSpPr>
            <a:spLocks noGrp="1"/>
          </p:cNvSpPr>
          <p:nvPr>
            <p:ph/>
          </p:nvPr>
        </p:nvSpPr>
        <p:spPr>
          <a:xfrm>
            <a:off x="4721902" y="1295279"/>
            <a:ext cx="4245338" cy="4835697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 dirty="0" err="1">
                <a:solidFill>
                  <a:srgbClr val="FF0000"/>
                </a:solidFill>
                <a:latin typeface="Comic Sans MS"/>
              </a:rPr>
              <a:t>Robustheit</a:t>
            </a:r>
            <a:r>
              <a:rPr lang="en-US" sz="2400" b="0" strike="noStrike" spc="-1" dirty="0">
                <a:solidFill>
                  <a:srgbClr val="FF0000"/>
                </a:solidFill>
                <a:latin typeface="Comic Sans MS"/>
              </a:rPr>
              <a:t>: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Was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bei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Router 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Comic Sans MS"/>
              </a:rPr>
              <a:t>Fehlfunktionen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?</a:t>
            </a: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sng" strike="noStrike" spc="-1" dirty="0">
                <a:solidFill>
                  <a:srgbClr val="FF0000"/>
                </a:solidFill>
                <a:uFillTx/>
                <a:latin typeface="Comic Sans MS"/>
              </a:rPr>
              <a:t>LS:</a:t>
            </a:r>
            <a:r>
              <a:rPr lang="en-US" sz="24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verbreitet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falsche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Leitungskosten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Jeder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berechnet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eigene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Tabelle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sng" strike="noStrike" spc="-1" dirty="0">
                <a:solidFill>
                  <a:srgbClr val="FF0000"/>
                </a:solidFill>
                <a:uFillTx/>
                <a:latin typeface="Comic Sans MS"/>
              </a:rPr>
              <a:t>DV:</a:t>
            </a:r>
            <a:endParaRPr lang="en-US" sz="24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kann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falsche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i="1" strike="noStrike" spc="-1" dirty="0" err="1">
                <a:solidFill>
                  <a:srgbClr val="000000"/>
                </a:solidFill>
                <a:latin typeface="Comic Sans MS"/>
              </a:rPr>
              <a:t>Pfadkosten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verbreiten</a:t>
            </a:r>
            <a:endParaRPr lang="en-US" sz="2000" b="0" strike="noStrike" spc="-1" dirty="0">
              <a:solidFill>
                <a:srgbClr val="000000"/>
              </a:solidFill>
              <a:latin typeface="Comic Sans MS"/>
            </a:endParaRP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Font typeface="Wingdings" charset="2"/>
              <a:buChar char="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verwenden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Routing-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Tabellen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anderer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omic Sans MS"/>
              </a:rPr>
              <a:t>Knoten</a:t>
            </a:r>
            <a:r>
              <a:rPr lang="en-US" sz="20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800" b="0" strike="noStrike" spc="-1" dirty="0" err="1">
                <a:solidFill>
                  <a:srgbClr val="000000"/>
                </a:solidFill>
                <a:latin typeface="Comic Sans MS"/>
              </a:rPr>
              <a:t>Schnelle</a:t>
            </a:r>
            <a:r>
              <a:rPr lang="en-US" sz="1800" b="0" strike="noStrike" spc="-1" dirty="0">
                <a:solidFill>
                  <a:srgbClr val="000000"/>
                </a:solidFill>
                <a:latin typeface="Comic Sans MS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mic Sans MS"/>
              </a:rPr>
              <a:t>Verbreitung</a:t>
            </a:r>
            <a:r>
              <a:rPr lang="en-US" sz="1800" b="0" strike="noStrike" spc="-1" dirty="0">
                <a:solidFill>
                  <a:srgbClr val="000000"/>
                </a:solidFill>
                <a:latin typeface="Comic Sans MS"/>
              </a:rPr>
              <a:t> von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mic Sans MS"/>
              </a:rPr>
              <a:t>Fehlern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8192026" cy="918275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200" b="0" u="sng" strike="noStrike" spc="-1" dirty="0">
                <a:solidFill>
                  <a:srgbClr val="3333CC"/>
                </a:solidFill>
                <a:uFillTx/>
                <a:latin typeface="Comic Sans MS"/>
              </a:rPr>
              <a:t>Weiterführendes Lehrbuch zur Vorlesung</a:t>
            </a:r>
            <a:endParaRPr lang="de-DE" sz="3200" b="0" strike="noStrike" spc="-1" dirty="0"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595512" y="1251488"/>
            <a:ext cx="3976487" cy="2271201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0" lvl="1" indent="0">
              <a:lnSpc>
                <a:spcPct val="100000"/>
              </a:lnSpc>
              <a:spcBef>
                <a:spcPts val="400"/>
              </a:spcBef>
              <a:buClr>
                <a:srgbClr val="3333CC"/>
              </a:buClr>
              <a:buSzPct val="75000"/>
              <a:buNone/>
            </a:pPr>
            <a:r>
              <a:rPr lang="en-US" spc="-1" dirty="0">
                <a:solidFill>
                  <a:srgbClr val="000000"/>
                </a:solidFill>
              </a:rPr>
              <a:t>James Kurose, Keith Ross, Computer Networking: A Top-Down Approach, Global Edition, 8. </a:t>
            </a:r>
            <a:r>
              <a:rPr lang="en-US" spc="-1" dirty="0" err="1">
                <a:solidFill>
                  <a:srgbClr val="000000"/>
                </a:solidFill>
              </a:rPr>
              <a:t>Auflage</a:t>
            </a:r>
            <a:r>
              <a:rPr lang="en-US" spc="-1" dirty="0">
                <a:solidFill>
                  <a:srgbClr val="000000"/>
                </a:solidFill>
              </a:rPr>
              <a:t>, Pearson, 2021.</a:t>
            </a:r>
            <a:endParaRPr lang="de-DE" b="0" strike="noStrike" spc="-1" dirty="0"/>
          </a:p>
          <a:p>
            <a:pPr>
              <a:lnSpc>
                <a:spcPct val="100000"/>
              </a:lnSpc>
              <a:spcBef>
                <a:spcPts val="561"/>
              </a:spcBef>
              <a:buNone/>
            </a:pPr>
            <a:endParaRPr lang="de-DE" sz="2800" b="0" strike="noStrike" spc="-1" dirty="0">
              <a:latin typeface="Arial"/>
            </a:endParaRPr>
          </a:p>
        </p:txBody>
      </p:sp>
      <p:sp>
        <p:nvSpPr>
          <p:cNvPr id="413" name="Rectangle 6"/>
          <p:cNvSpPr/>
          <p:nvPr/>
        </p:nvSpPr>
        <p:spPr>
          <a:xfrm>
            <a:off x="8305920" y="6400800"/>
            <a:ext cx="624600" cy="4564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BB445DD-CD34-4A86-AB26-A3942F677839}" type="slidenum">
              <a:rPr lang="en-US" sz="14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41</a:t>
            </a:fld>
            <a:endParaRPr lang="de-DE" sz="1400" b="0" strike="noStrike" spc="-1">
              <a:latin typeface="Arial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B20B6E8-550B-4BC3-BDCD-D7CE604D0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050" y="1146875"/>
            <a:ext cx="3486156" cy="442741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EEE6318-BEA5-4E3D-A27C-7420AD4C3637}"/>
              </a:ext>
            </a:extLst>
          </p:cNvPr>
          <p:cNvSpPr txBox="1"/>
          <p:nvPr/>
        </p:nvSpPr>
        <p:spPr>
          <a:xfrm>
            <a:off x="397931" y="5606512"/>
            <a:ext cx="81353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i="1" strike="noStrike" spc="-1" dirty="0">
                <a:solidFill>
                  <a:schemeClr val="accent2"/>
                </a:solidFill>
                <a:latin typeface="Comic Sans MS"/>
              </a:rPr>
              <a:t>E-Book:</a:t>
            </a:r>
            <a:br>
              <a:rPr lang="en-US" sz="2400" b="0" i="1" strike="noStrike" spc="-1" dirty="0">
                <a:solidFill>
                  <a:schemeClr val="accent2"/>
                </a:solidFill>
                <a:latin typeface="Comic Sans MS"/>
              </a:rPr>
            </a:br>
            <a:r>
              <a:rPr lang="en-US" sz="2400" b="0" i="1" strike="noStrike" spc="-1" dirty="0">
                <a:solidFill>
                  <a:schemeClr val="accent2"/>
                </a:solidFill>
                <a:latin typeface="Comic Sans MS"/>
              </a:rPr>
              <a:t>https://katalog.ub.uni-leipzig.de/Record/0-1771738375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z="4800" u="sng" spc="-1" dirty="0">
                <a:solidFill>
                  <a:srgbClr val="3333CC"/>
                </a:solidFill>
                <a:latin typeface="Comic Sans MS"/>
              </a:rPr>
              <a:t>Selbststudium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2190" y="1600200"/>
            <a:ext cx="8251123" cy="4868056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de-DE" sz="3600" spc="-1" dirty="0">
                <a:solidFill>
                  <a:srgbClr val="000000"/>
                </a:solidFill>
                <a:latin typeface="Comic Sans MS"/>
              </a:rPr>
              <a:t>Zum Vertiefen der Inhalte dieser Vorlesung</a:t>
            </a:r>
          </a:p>
          <a:p>
            <a:pPr>
              <a:lnSpc>
                <a:spcPct val="80000"/>
              </a:lnSpc>
            </a:pPr>
            <a:endParaRPr lang="de-DE" dirty="0"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3600" spc="-1" dirty="0">
                <a:solidFill>
                  <a:srgbClr val="000000"/>
                </a:solidFill>
                <a:latin typeface="Comic Sans MS"/>
              </a:rPr>
              <a:t>Leseaufgabe zum Selbststudium bis 6.2.2026: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3600" spc="-1" dirty="0">
                <a:solidFill>
                  <a:srgbClr val="000000"/>
                </a:solidFill>
                <a:latin typeface="Comic Sans MS"/>
              </a:rPr>
              <a:t>James Kurose, Keith Ross, Computer Networking: A Top-Down Approach, Pearson, 2021. Chapter 5: The Network Layer: Control Plane, pp. 407-467.</a:t>
            </a:r>
          </a:p>
          <a:p>
            <a:pPr marL="0" indent="0">
              <a:lnSpc>
                <a:spcPct val="80000"/>
              </a:lnSpc>
              <a:buNone/>
            </a:pPr>
            <a:endParaRPr lang="de-DE" sz="3600" spc="-1" dirty="0">
              <a:solidFill>
                <a:srgbClr val="000000"/>
              </a:solidFill>
              <a:latin typeface="Comic Sans MS"/>
            </a:endParaRPr>
          </a:p>
          <a:p>
            <a:pPr marL="0" indent="0">
              <a:lnSpc>
                <a:spcPct val="80000"/>
              </a:lnSpc>
              <a:buNone/>
            </a:pP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36331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2452</Words>
  <Application>Microsoft Office PowerPoint</Application>
  <PresentationFormat>Bildschirmpräsentation (4:3)</PresentationFormat>
  <Paragraphs>753</Paragraphs>
  <Slides>42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13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42</vt:i4>
      </vt:variant>
    </vt:vector>
  </HeadingPairs>
  <TitlesOfParts>
    <vt:vector size="60" baseType="lpstr">
      <vt:lpstr>ＭＳ Ｐゴシック</vt:lpstr>
      <vt:lpstr>Arial</vt:lpstr>
      <vt:lpstr>Calibri</vt:lpstr>
      <vt:lpstr>Cambria Math</vt:lpstr>
      <vt:lpstr>Comic Sans MS</vt:lpstr>
      <vt:lpstr>Courier New</vt:lpstr>
      <vt:lpstr>DejaVu Sans</vt:lpstr>
      <vt:lpstr>StarSymbol</vt:lpstr>
      <vt:lpstr>Symbol</vt:lpstr>
      <vt:lpstr>Tahoma</vt:lpstr>
      <vt:lpstr>Times New Roman</vt:lpstr>
      <vt:lpstr>Wingdings</vt:lpstr>
      <vt:lpstr>ZapfDingbats</vt:lpstr>
      <vt:lpstr>Office Theme</vt:lpstr>
      <vt:lpstr>Office Theme</vt:lpstr>
      <vt:lpstr>Office Theme</vt:lpstr>
      <vt:lpstr>Office Theme</vt:lpstr>
      <vt:lpstr>Office Theme</vt:lpstr>
      <vt:lpstr>Routingverfahren  und Protokolle</vt:lpstr>
      <vt:lpstr>Zeitplan</vt:lpstr>
      <vt:lpstr>Überblick</vt:lpstr>
      <vt:lpstr>Dienste der Internetschicht</vt:lpstr>
      <vt:lpstr>Aufgaben der Internetschicht</vt:lpstr>
      <vt:lpstr>PowerPoint-Präsentation</vt:lpstr>
      <vt:lpstr>Dienstmodelle</vt:lpstr>
      <vt:lpstr>Dienstmodelle auf Internetschicht:</vt:lpstr>
      <vt:lpstr>Virtuelle Leitungen </vt:lpstr>
      <vt:lpstr>Virtuelle Leitungen (VCs)</vt:lpstr>
      <vt:lpstr>VC Implementierung</vt:lpstr>
      <vt:lpstr>VC Weiterleitungstabelle</vt:lpstr>
      <vt:lpstr>VC: Signalisierungsprotokolle</vt:lpstr>
      <vt:lpstr>Paketvermittelte Netze: das Netzmodell</vt:lpstr>
      <vt:lpstr>Forwarding Tabelle (1)</vt:lpstr>
      <vt:lpstr>Forwarding Tabelle (2)</vt:lpstr>
      <vt:lpstr>Longest Prefix Matching</vt:lpstr>
      <vt:lpstr>Paketvermittelt oder VC-Basis?</vt:lpstr>
      <vt:lpstr>Routing und Weiterleitung</vt:lpstr>
      <vt:lpstr>PowerPoint-Präsentation</vt:lpstr>
      <vt:lpstr>Netz als Graph</vt:lpstr>
      <vt:lpstr>Routing</vt:lpstr>
      <vt:lpstr>Routing Algorithmen: Klassifizierung</vt:lpstr>
      <vt:lpstr>Link State Verfahren</vt:lpstr>
      <vt:lpstr>Ein Link State Routing Algorithmus</vt:lpstr>
      <vt:lpstr>Dijkstra Algorithmus (Revisited)</vt:lpstr>
      <vt:lpstr>Dijkstra Algorithmus: Beispiel</vt:lpstr>
      <vt:lpstr>Dijkstra Algorithmus: Diskussion</vt:lpstr>
      <vt:lpstr>Distanzvektor Verfahren</vt:lpstr>
      <vt:lpstr>Distance Vector Routing (revisited)</vt:lpstr>
      <vt:lpstr>Beispiel: Distanz-Tabelle</vt:lpstr>
      <vt:lpstr>Distance Vector Routing: Überblick</vt:lpstr>
      <vt:lpstr>Distance Vector Algorithmus (1):</vt:lpstr>
      <vt:lpstr>Distance Vector Algorithmus (2):</vt:lpstr>
      <vt:lpstr>Distance Vector: Beispiel (1)</vt:lpstr>
      <vt:lpstr>Distance Vector: Beispiel (2)</vt:lpstr>
      <vt:lpstr>Distance Vector: Änderung von Leitungskosten (1)</vt:lpstr>
      <vt:lpstr>Distance Vector: Änderung von Leitungskosten (2)</vt:lpstr>
      <vt:lpstr>Distance Vector: Poisoned Reverse Verfahren</vt:lpstr>
      <vt:lpstr>Vergleich Link State (LS) vs. Distance Vector (DV)</vt:lpstr>
      <vt:lpstr>Weiterführendes Lehrbuch zur Vorlesung</vt:lpstr>
      <vt:lpstr>Selbststudium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Kap. 4: Internetschicht 1</dc:title>
  <dc:subject/>
  <dc:creator>Ch. Lindemann</dc:creator>
  <dc:description/>
  <cp:lastModifiedBy>Christoph Lindemann</cp:lastModifiedBy>
  <cp:revision>397</cp:revision>
  <cp:lastPrinted>2025-11-26T13:18:07Z</cp:lastPrinted>
  <dcterms:created xsi:type="dcterms:W3CDTF">1999-10-08T19:08:27Z</dcterms:created>
  <dcterms:modified xsi:type="dcterms:W3CDTF">2025-12-05T13:28:53Z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53</vt:i4>
  </property>
</Properties>
</file>